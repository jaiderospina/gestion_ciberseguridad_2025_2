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410" r:id="rId5"/>
    <p:sldId id="417" r:id="rId6"/>
    <p:sldId id="411" r:id="rId7"/>
    <p:sldId id="412" r:id="rId8"/>
    <p:sldId id="413" r:id="rId9"/>
    <p:sldId id="415" r:id="rId10"/>
    <p:sldId id="414" r:id="rId11"/>
    <p:sldId id="419" r:id="rId12"/>
    <p:sldId id="420" r:id="rId13"/>
    <p:sldId id="421" r:id="rId14"/>
    <p:sldId id="422" r:id="rId15"/>
    <p:sldId id="423" r:id="rId16"/>
    <p:sldId id="418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229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24/01/2026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24/01/2026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D7F84-A2C2-B9AC-8448-48A80599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7E7E22-4D04-C324-6DF1-A12435485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08A6AD-F5D2-30A7-B44D-C4FBD832E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5C2C17-9C82-FF32-12B8-F6BD1E667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256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93B6-5A47-1D58-E7C9-80558A31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F4526B-8D4E-8258-C498-DAA890343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ED4084-8E16-8202-E8AB-11FC071A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B3B2CD-69B6-BA74-27C7-CF0A9CC5F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8335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F52E-80E0-B5CD-5CFD-FDA8CF7A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5FBE69-D3AC-CFCA-DA43-8B38D8255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B4CA6CA-B403-2D99-303F-D7A3634B5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98689D-2790-B6BB-2F82-791FCC9CD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002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203C-FDC0-E7E8-B087-2F2A7560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818F42-7D09-D5B6-08D4-83DF92934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DC73B9-CBE7-1C74-C574-30ABE6777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15E59F-6C27-12CA-6965-5E5C44B04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7083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330E-9592-51D6-D1CB-7F2B8FEB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7C7A34-7B73-3803-FCD6-03804DF53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59654C-0CD6-D50A-E650-7B66F7CE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56365C-BA32-414B-8CBA-6D40C1844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6816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8CC6-6651-5113-FE3D-8605AEF0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B71713-0450-D2D7-0421-767D81BC9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B152E03-7846-468E-252C-F1C5CF810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1A16D8-0128-6E77-627C-114965E5B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9943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AFEA-E9CF-53EF-C1F6-FBE4D2E9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28B33C-5F79-A64C-B6F8-CE6979CBF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B78708-CB65-1E1A-7CF6-F84D3A5F1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40D3B9-E8D6-FB29-4D62-30CB9A7DC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2924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2AA5-9CDB-BB11-FC08-B1FFEE1D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7969B4-C904-01E6-A1E2-41AA51EBB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0AB3DA-273A-628B-65F2-9BCD25E6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E73FAC-EB9D-E2B8-C99B-80A683F82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1389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E846-3C4A-7A15-8567-1128BF8F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2A62649-7896-F377-76DC-31D9CD67E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8B06A2-DCEC-21E1-C5E1-C4DFF8A01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A5C69C-7A4E-5C88-604F-434182F39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137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25CC-1BE7-FBC9-2D9B-612F75C1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E99788-1379-29F3-6A88-4C526AD3B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FEAD39-BABB-4F3A-3871-56A943D7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79687C-1922-A6A9-2A9E-2CC5D3D6F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6424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3116" y="1028700"/>
            <a:ext cx="9228364" cy="1965960"/>
          </a:xfrm>
        </p:spPr>
        <p:txBody>
          <a:bodyPr rtlCol="0"/>
          <a:lstStyle>
            <a:defPPr>
              <a:defRPr lang="es-ES"/>
            </a:defPPr>
          </a:lstStyle>
          <a:p>
            <a:pPr algn="just"/>
            <a:r>
              <a:rPr lang="es-MX" sz="3600" dirty="0"/>
              <a:t>LABORATORIO COLABORATIVO DE TÉCNICAS DE EVALUACIÓN DEL RIESGO APLICADAS A ESCENARIOS DE CIBERSEGURIDAD Y CIBERDEFENSA</a:t>
            </a:r>
            <a:endParaRPr lang="es-ES" sz="3600" dirty="0"/>
          </a:p>
        </p:txBody>
      </p:sp>
      <p:sp>
        <p:nvSpPr>
          <p:cNvPr id="3" name="CuadroTexto 2"/>
          <p:cNvSpPr txBox="1"/>
          <p:nvPr/>
        </p:nvSpPr>
        <p:spPr>
          <a:xfrm>
            <a:off x="6188765" y="4280452"/>
            <a:ext cx="55526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INTEGRANTES: </a:t>
            </a:r>
            <a:r>
              <a:rPr lang="es-MX" dirty="0">
                <a:solidFill>
                  <a:schemeClr val="bg1"/>
                </a:solidFill>
              </a:rPr>
              <a:t>Carolina Salinas – Laura Gutiérrez – Johan Tamara – Natalia Forero – </a:t>
            </a:r>
            <a:r>
              <a:rPr lang="es-MX" dirty="0" err="1">
                <a:solidFill>
                  <a:schemeClr val="bg1"/>
                </a:solidFill>
              </a:rPr>
              <a:t>Ayda</a:t>
            </a:r>
            <a:r>
              <a:rPr lang="es-MX" dirty="0">
                <a:solidFill>
                  <a:schemeClr val="bg1"/>
                </a:solidFill>
              </a:rPr>
              <a:t> Castro.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pPr algn="ctr"/>
            <a:r>
              <a:rPr lang="es-MX" dirty="0">
                <a:solidFill>
                  <a:schemeClr val="bg1"/>
                </a:solidFill>
              </a:rPr>
              <a:t>Escuela Superior de Guerra “General Rafael Reyes Prieto”</a:t>
            </a:r>
          </a:p>
          <a:p>
            <a:pPr algn="ctr"/>
            <a:endParaRPr lang="es-MX" dirty="0">
              <a:solidFill>
                <a:schemeClr val="bg1"/>
              </a:solidFill>
            </a:endParaRPr>
          </a:p>
          <a:p>
            <a:pPr algn="ctr"/>
            <a:r>
              <a:rPr lang="es-MX" dirty="0">
                <a:solidFill>
                  <a:schemeClr val="bg1"/>
                </a:solidFill>
              </a:rPr>
              <a:t>MAECI / GESTIÓN DE RIESGOS CIBERNÉTICOS</a:t>
            </a:r>
          </a:p>
          <a:p>
            <a:pPr algn="ctr"/>
            <a:r>
              <a:rPr lang="es-MX" dirty="0">
                <a:solidFill>
                  <a:schemeClr val="bg1"/>
                </a:solidFill>
              </a:rPr>
              <a:t>Enero, 2026.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176979" y="235974"/>
            <a:ext cx="11533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</a:rPr>
              <a:t>LABORATORIO COLABORATIVO DE TÉCNICAS DE EVALUACIÓN DEL RIESGO APLICADAS A ESCENARIOS DE CIBERSEGURIDAD Y CIBERDEFENSA</a:t>
            </a:r>
            <a:endParaRPr lang="es-CO" sz="2800" b="1" dirty="0">
              <a:solidFill>
                <a:schemeClr val="bg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397910" y="2713703"/>
            <a:ext cx="4896464" cy="17993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79" y="1190081"/>
            <a:ext cx="11749548" cy="491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7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9689-D151-E9F5-1328-4D9290E5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4415359-4AAB-A58D-BD1F-7A6410F0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</a:t>
            </a:r>
            <a:r>
              <a:rPr lang="es-ES" dirty="0" err="1"/>
              <a:t>Bow-Tie</a:t>
            </a:r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0B2BE78-452D-7E6A-D9D7-EC4D07318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853A786D-1BA0-76F0-6FDA-F6606F28F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07D994CA-2C90-73FF-D1F3-95F934FD4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42A6ADBB-BE88-DBB1-09B7-7093EB0C7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E4B31D0-06EC-B845-F9B0-D676880BAC29}"/>
              </a:ext>
            </a:extLst>
          </p:cNvPr>
          <p:cNvSpPr txBox="1"/>
          <p:nvPr/>
        </p:nvSpPr>
        <p:spPr>
          <a:xfrm>
            <a:off x="484177" y="1333318"/>
            <a:ext cx="10757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>
                <a:solidFill>
                  <a:schemeClr val="bg1"/>
                </a:solidFill>
              </a:rPr>
              <a:t>Compromiso de sistemas críticos que soportan la operación esencial de la infraestructura</a:t>
            </a:r>
            <a:r>
              <a:rPr lang="es-CO" dirty="0">
                <a:solidFill>
                  <a:schemeClr val="bg1"/>
                </a:solidFill>
              </a:rPr>
              <a:t>, generando indisponibilidad del servicio y pérdida de control operacional.</a:t>
            </a:r>
          </a:p>
          <a:p>
            <a:endParaRPr lang="es-CO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866F4FDE-D403-BB5D-84CD-D3664E7AAEF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6325998"/>
              </p:ext>
            </p:extLst>
          </p:nvPr>
        </p:nvGraphicFramePr>
        <p:xfrm>
          <a:off x="3101009" y="2056389"/>
          <a:ext cx="8804413" cy="468470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688570">
                  <a:extLst>
                    <a:ext uri="{9D8B030D-6E8A-4147-A177-3AD203B41FA5}">
                      <a16:colId xmlns:a16="http://schemas.microsoft.com/office/drawing/2014/main" val="375350024"/>
                    </a:ext>
                  </a:extLst>
                </a:gridCol>
                <a:gridCol w="5115843">
                  <a:extLst>
                    <a:ext uri="{9D8B030D-6E8A-4147-A177-3AD203B41FA5}">
                      <a16:colId xmlns:a16="http://schemas.microsoft.com/office/drawing/2014/main" val="3039101627"/>
                    </a:ext>
                  </a:extLst>
                </a:gridCol>
              </a:tblGrid>
              <a:tr h="10349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kern="100" dirty="0">
                          <a:effectLst/>
                        </a:rPr>
                        <a:t>Impacto legal / regulatorio</a:t>
                      </a:r>
                      <a:endParaRPr lang="es-CO" sz="14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b="0" kern="100" dirty="0">
                          <a:solidFill>
                            <a:schemeClr val="bg1"/>
                          </a:solidFill>
                          <a:effectLst/>
                        </a:rPr>
                        <a:t>- Incumplimiento de normas sectoriales (continuidad, seguridad de la información)</a:t>
                      </a:r>
                      <a:br>
                        <a:rPr lang="es-CO" sz="1400" b="0" kern="1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s-CO" sz="1400" b="0" kern="100" dirty="0">
                          <a:solidFill>
                            <a:schemeClr val="bg1"/>
                          </a:solidFill>
                          <a:effectLst/>
                        </a:rPr>
                        <a:t>- Investigaciones por entes reguladores</a:t>
                      </a:r>
                      <a:br>
                        <a:rPr lang="es-CO" sz="1400" b="0" kern="1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s-CO" sz="1400" b="0" kern="100" dirty="0">
                          <a:solidFill>
                            <a:schemeClr val="bg1"/>
                          </a:solidFill>
                          <a:effectLst/>
                        </a:rPr>
                        <a:t>- Sanciones administrativas</a:t>
                      </a:r>
                      <a:br>
                        <a:rPr lang="es-CO" sz="1400" b="0" kern="1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s-CO" sz="1400" b="0" kern="100" dirty="0">
                          <a:solidFill>
                            <a:schemeClr val="bg1"/>
                          </a:solidFill>
                          <a:effectLst/>
                        </a:rPr>
                        <a:t>- Demandas de clientes o terceros</a:t>
                      </a:r>
                      <a:endParaRPr lang="es-CO" sz="14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>
                    <a:solidFill>
                      <a:srgbClr val="F1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824958"/>
                  </a:ext>
                </a:extLst>
              </a:tr>
              <a:tr h="8296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kern="100" dirty="0">
                          <a:effectLst/>
                        </a:rPr>
                        <a:t>Impacto </a:t>
                      </a:r>
                      <a:r>
                        <a:rPr lang="es-CO" sz="1400" kern="100" dirty="0" err="1">
                          <a:effectLst/>
                        </a:rPr>
                        <a:t>reputacional</a:t>
                      </a:r>
                      <a:endParaRPr lang="es-CO" sz="14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kern="100" dirty="0">
                          <a:effectLst/>
                        </a:rPr>
                        <a:t>- Pérdida de confianza de clientes y aliados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Cobertura negativa en medios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Deterioro de la imagen corporativa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Afectación al valor de marca y percepción de resiliencia</a:t>
                      </a:r>
                      <a:endParaRPr lang="es-CO" sz="14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/>
                </a:tc>
                <a:extLst>
                  <a:ext uri="{0D108BD9-81ED-4DB2-BD59-A6C34878D82A}">
                    <a16:rowId xmlns:a16="http://schemas.microsoft.com/office/drawing/2014/main" val="4220779616"/>
                  </a:ext>
                </a:extLst>
              </a:tr>
              <a:tr h="10349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kern="100" dirty="0">
                          <a:effectLst/>
                        </a:rPr>
                        <a:t>Controles preventivos (antes del evento)</a:t>
                      </a:r>
                      <a:endParaRPr lang="es-CO" sz="14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kern="100" dirty="0">
                          <a:effectLst/>
                        </a:rPr>
                        <a:t>- Autenticación </a:t>
                      </a:r>
                      <a:r>
                        <a:rPr lang="es-CO" sz="1400" kern="100" dirty="0" err="1">
                          <a:effectLst/>
                        </a:rPr>
                        <a:t>multifactor</a:t>
                      </a:r>
                      <a:r>
                        <a:rPr lang="es-CO" sz="1400" kern="100" dirty="0">
                          <a:effectLst/>
                        </a:rPr>
                        <a:t> (MFA) obligatoria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Segmentación estricta de redes IT/OT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Gestión de vulnerabilidades continua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Concienciación avanzada contra </a:t>
                      </a:r>
                      <a:r>
                        <a:rPr lang="es-CO" sz="1400" kern="100" dirty="0" err="1">
                          <a:effectLst/>
                        </a:rPr>
                        <a:t>phishing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</a:t>
                      </a:r>
                      <a:r>
                        <a:rPr lang="es-CO" sz="1400" kern="100" dirty="0" err="1">
                          <a:effectLst/>
                        </a:rPr>
                        <a:t>Hardening</a:t>
                      </a:r>
                      <a:r>
                        <a:rPr lang="es-CO" sz="1400" kern="100" dirty="0">
                          <a:effectLst/>
                        </a:rPr>
                        <a:t> y control de accesos privilegiados</a:t>
                      </a:r>
                      <a:endParaRPr lang="es-CO" sz="14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>
                    <a:solidFill>
                      <a:srgbClr val="F1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24826"/>
                  </a:ext>
                </a:extLst>
              </a:tr>
              <a:tr h="10349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kern="100" dirty="0">
                          <a:effectLst/>
                        </a:rPr>
                        <a:t>Controles mitigantes (después del evento)</a:t>
                      </a:r>
                      <a:endParaRPr lang="es-CO" sz="14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400" kern="100" dirty="0">
                          <a:effectLst/>
                        </a:rPr>
                        <a:t>- Plan de respuesta a incidentes (CSIRT/SOC)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</a:t>
                      </a:r>
                      <a:r>
                        <a:rPr lang="es-CO" sz="1400" kern="100" dirty="0" err="1">
                          <a:effectLst/>
                        </a:rPr>
                        <a:t>Backups</a:t>
                      </a:r>
                      <a:r>
                        <a:rPr lang="es-CO" sz="1400" kern="100" dirty="0">
                          <a:effectLst/>
                        </a:rPr>
                        <a:t> inmutables y pruebas de restauración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Aislamiento rápido de sistemas comprometidos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Plan de Continuidad del Negocio (PCN)</a:t>
                      </a:r>
                      <a:br>
                        <a:rPr lang="es-CO" sz="1400" kern="100" dirty="0">
                          <a:effectLst/>
                        </a:rPr>
                      </a:br>
                      <a:r>
                        <a:rPr lang="es-CO" sz="1400" kern="100" dirty="0">
                          <a:effectLst/>
                        </a:rPr>
                        <a:t>- Gestión de crisis y comunicación externa</a:t>
                      </a:r>
                      <a:endParaRPr lang="es-CO" sz="14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66" marR="7166" marT="7166" marB="7166" anchor="ctr"/>
                </a:tc>
                <a:extLst>
                  <a:ext uri="{0D108BD9-81ED-4DB2-BD59-A6C34878D82A}">
                    <a16:rowId xmlns:a16="http://schemas.microsoft.com/office/drawing/2014/main" val="3915766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26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82FE-2BED-69D5-D82F-DCF5DE0A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1B4458A-0980-703A-3267-EE429A66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</a:t>
            </a:r>
            <a:r>
              <a:rPr lang="es-ES" dirty="0" err="1"/>
              <a:t>Bow-Tie</a:t>
            </a:r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8BF2B19-21A8-E436-E2E7-30D4A6459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3597BE54-B6BB-1819-FF18-0DFC3A6C7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B136CC07-946C-968F-7970-652AFF241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40919E7A-BF63-05DB-CA0D-8490A1CF7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8BBD1FAC-E1D5-7291-ACBE-ADDDF7BB872A}"/>
              </a:ext>
            </a:extLst>
          </p:cNvPr>
          <p:cNvSpPr txBox="1"/>
          <p:nvPr/>
        </p:nvSpPr>
        <p:spPr>
          <a:xfrm>
            <a:off x="968354" y="3703937"/>
            <a:ext cx="27467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Aspectos clave</a:t>
            </a:r>
            <a:endParaRPr lang="es-CO" sz="2800" dirty="0">
              <a:solidFill>
                <a:schemeClr val="bg1"/>
              </a:solidFill>
            </a:endParaRPr>
          </a:p>
          <a:p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D10E1B0-A41F-A108-D2EE-C8F0B5C6076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s-CO" b="1" dirty="0"/>
              <a:t>Visualizar claramente cómo un ciberataque escala</a:t>
            </a:r>
            <a:r>
              <a:rPr lang="es-CO" dirty="0"/>
              <a:t> desde amenazas técnicas hasta impactos de negocio.</a:t>
            </a:r>
          </a:p>
          <a:p>
            <a:pPr lvl="0" algn="just"/>
            <a:r>
              <a:rPr lang="es-CO" dirty="0"/>
              <a:t>Evidenciar que </a:t>
            </a:r>
            <a:r>
              <a:rPr lang="es-CO" b="1" dirty="0"/>
              <a:t>los mayores daños no siempre provienen del ataque inicial</a:t>
            </a:r>
            <a:r>
              <a:rPr lang="es-CO" dirty="0"/>
              <a:t>, sino de </a:t>
            </a:r>
            <a:r>
              <a:rPr lang="es-CO" b="1" dirty="0"/>
              <a:t>fallas en controles preventivos y tiempos de reacción</a:t>
            </a:r>
            <a:r>
              <a:rPr lang="es-CO" dirty="0"/>
              <a:t>.</a:t>
            </a:r>
          </a:p>
          <a:p>
            <a:pPr lvl="0" algn="just"/>
            <a:r>
              <a:rPr lang="es-CO" dirty="0"/>
              <a:t>Demostrar que la </a:t>
            </a:r>
            <a:r>
              <a:rPr lang="es-CO" b="1" dirty="0"/>
              <a:t>resiliencia organizacional</a:t>
            </a:r>
            <a:r>
              <a:rPr lang="es-CO" dirty="0"/>
              <a:t> depende del equilibrio entre:</a:t>
            </a:r>
          </a:p>
          <a:p>
            <a:pPr lvl="1" algn="just"/>
            <a:r>
              <a:rPr lang="es-CO" dirty="0"/>
              <a:t>Controles </a:t>
            </a:r>
            <a:r>
              <a:rPr lang="es-CO" b="1" dirty="0"/>
              <a:t>preventivos</a:t>
            </a:r>
            <a:r>
              <a:rPr lang="es-CO" dirty="0"/>
              <a:t> (evitar que ocurra)</a:t>
            </a:r>
          </a:p>
          <a:p>
            <a:pPr lvl="1" algn="just"/>
            <a:r>
              <a:rPr lang="es-CO" dirty="0"/>
              <a:t>Controles </a:t>
            </a:r>
            <a:r>
              <a:rPr lang="es-CO" b="1" dirty="0"/>
              <a:t>mitigantes</a:t>
            </a:r>
            <a:r>
              <a:rPr lang="es-CO" dirty="0"/>
              <a:t> (reducir el daño cuando ocurre)</a:t>
            </a:r>
          </a:p>
          <a:p>
            <a:pPr algn="just"/>
            <a:r>
              <a:rPr lang="es-CO" dirty="0"/>
              <a:t>En infraestructura crítica, este enfoque es clave para </a:t>
            </a:r>
            <a:r>
              <a:rPr lang="es-CO" b="1" dirty="0"/>
              <a:t>justificar inversiones en ciberseguridad</a:t>
            </a:r>
            <a:r>
              <a:rPr lang="es-CO" dirty="0"/>
              <a:t>, fortalecer la </a:t>
            </a:r>
            <a:r>
              <a:rPr lang="es-CO" b="1" dirty="0"/>
              <a:t>defensa en profundidad</a:t>
            </a:r>
            <a:r>
              <a:rPr lang="es-CO" dirty="0"/>
              <a:t> y mejorar la </a:t>
            </a:r>
            <a:r>
              <a:rPr lang="es-CO" b="1" dirty="0"/>
              <a:t>capacidad de respuesta estratégica</a:t>
            </a:r>
            <a:r>
              <a:rPr lang="es-CO" dirty="0"/>
              <a:t>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2298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8C06C-F284-51B1-0985-F66EEB1D4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761B7E6-0BBE-6317-D566-527BED8B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</a:t>
            </a:r>
            <a:r>
              <a:rPr lang="es-ES" dirty="0" err="1"/>
              <a:t>Bow-Tie</a:t>
            </a:r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6CDDA3F-6A2B-E0AE-317A-C1C424429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E5645CC8-58F5-E281-FD10-D71C1D532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FC823581-22EE-19C1-BCFF-1D8390882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885608EA-3E3A-C193-D227-4490584FC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E1B279E-1049-5394-7F4D-5381FD5693BB}"/>
              </a:ext>
            </a:extLst>
          </p:cNvPr>
          <p:cNvSpPr txBox="1"/>
          <p:nvPr/>
        </p:nvSpPr>
        <p:spPr>
          <a:xfrm>
            <a:off x="940875" y="3099913"/>
            <a:ext cx="27467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Conclusión</a:t>
            </a:r>
            <a:endParaRPr lang="es-CO" sz="2800" dirty="0">
              <a:solidFill>
                <a:schemeClr val="bg1"/>
              </a:solidFill>
            </a:endParaRPr>
          </a:p>
          <a:p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69428C8-DFF2-A672-3C92-C518A89173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es-CO" dirty="0"/>
              <a:t>La aplicación de la técnica de </a:t>
            </a:r>
            <a:r>
              <a:rPr lang="es-CO" b="1" dirty="0"/>
              <a:t>Corbatín</a:t>
            </a:r>
            <a:r>
              <a:rPr lang="es-CO" dirty="0"/>
              <a:t> a un escenario realista de ciberataque evidencia que los riesgos tecnológicos se transforman rápidamente en </a:t>
            </a:r>
            <a:r>
              <a:rPr lang="es-CO" b="1" dirty="0"/>
              <a:t>riesgos económicos, legales y reputacionales</a:t>
            </a:r>
            <a:r>
              <a:rPr lang="es-CO" dirty="0"/>
              <a:t>.</a:t>
            </a:r>
            <a:br>
              <a:rPr lang="es-CO" dirty="0"/>
            </a:br>
            <a:r>
              <a:rPr lang="es-CO" dirty="0"/>
              <a:t>Su valor principal está en </a:t>
            </a:r>
            <a:r>
              <a:rPr lang="es-CO" b="1" dirty="0"/>
              <a:t>conectar la ciberseguridad con el impacto real en el negocio</a:t>
            </a:r>
            <a:r>
              <a:rPr lang="es-CO" dirty="0"/>
              <a:t>, facilitando decisiones informadas a nivel de </a:t>
            </a:r>
            <a:r>
              <a:rPr lang="es-CO" b="1" dirty="0"/>
              <a:t>alta dirección, comités de riesgo y autoridades regulatorias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349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E53A-9F71-1443-BAA3-4327619D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3E109C1-4568-561E-E9CD-B09B41DF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</a:t>
            </a:r>
            <a:r>
              <a:rPr lang="es-ES" dirty="0" err="1"/>
              <a:t>Bow-Tie</a:t>
            </a:r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90168E6-2A76-9964-CFE9-776FAF561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839F5DEB-E43A-38AF-132E-0CBA14748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4B097716-7E55-89B9-8777-1016FF05B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E83AC8F2-1A94-30FF-2EC3-6650FAD40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54029A9-6085-9C31-21A2-C0484FBDEB0A}"/>
              </a:ext>
            </a:extLst>
          </p:cNvPr>
          <p:cNvSpPr txBox="1"/>
          <p:nvPr/>
        </p:nvSpPr>
        <p:spPr>
          <a:xfrm>
            <a:off x="940875" y="3099913"/>
            <a:ext cx="27467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Diagrama</a:t>
            </a:r>
            <a:endParaRPr lang="es-CO" sz="2800" dirty="0">
              <a:solidFill>
                <a:schemeClr val="bg1"/>
              </a:solidFill>
            </a:endParaRPr>
          </a:p>
          <a:p>
            <a:endParaRPr lang="es-CO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C172B554-9BEA-0093-7A66-51AD9C781EA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612" y="1784823"/>
            <a:ext cx="8361143" cy="45902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470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1095-9FB4-2F32-968C-B1FA6BF57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6F90D65-320B-DC77-94CF-F7689AAF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Curvas 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8222976-C8C8-CE10-F176-D99C32619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901312F-85E3-F20D-8AB8-341A8470B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D097DA5A-5137-4135-82C2-45F01DE79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D372F2-70E6-0FE1-D90A-CE0B91081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F5D2476-F798-3B6B-0577-B10F29D381DA}"/>
              </a:ext>
            </a:extLst>
          </p:cNvPr>
          <p:cNvSpPr txBox="1"/>
          <p:nvPr/>
        </p:nvSpPr>
        <p:spPr>
          <a:xfrm>
            <a:off x="484177" y="1333318"/>
            <a:ext cx="10757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>
                <a:solidFill>
                  <a:schemeClr val="bg1"/>
                </a:solidFill>
              </a:rPr>
              <a:t>En este escenario se analiza un </a:t>
            </a:r>
            <a:r>
              <a:rPr lang="es-CO" b="1" dirty="0">
                <a:solidFill>
                  <a:schemeClr val="bg1"/>
                </a:solidFill>
              </a:rPr>
              <a:t>ataque </a:t>
            </a:r>
            <a:r>
              <a:rPr lang="es-CO" b="1" dirty="0" err="1">
                <a:solidFill>
                  <a:schemeClr val="bg1"/>
                </a:solidFill>
              </a:rPr>
              <a:t>DDoS</a:t>
            </a:r>
            <a:r>
              <a:rPr lang="es-CO" dirty="0">
                <a:solidFill>
                  <a:schemeClr val="bg1"/>
                </a:solidFill>
              </a:rPr>
              <a:t> dirigido contra la </a:t>
            </a:r>
            <a:r>
              <a:rPr lang="es-CO" b="1" dirty="0">
                <a:solidFill>
                  <a:schemeClr val="bg1"/>
                </a:solidFill>
              </a:rPr>
              <a:t>red transaccional de una entidad bancaria</a:t>
            </a:r>
            <a:r>
              <a:rPr lang="es-CO" dirty="0">
                <a:solidFill>
                  <a:schemeClr val="bg1"/>
                </a:solidFill>
              </a:rPr>
              <a:t>, cuyo objetivo principal es </a:t>
            </a:r>
            <a:r>
              <a:rPr lang="es-CO" b="1" dirty="0">
                <a:solidFill>
                  <a:schemeClr val="bg1"/>
                </a:solidFill>
              </a:rPr>
              <a:t>interrumpir la disponibilidad de los servicios financieros</a:t>
            </a:r>
            <a:r>
              <a:rPr lang="es-CO" dirty="0">
                <a:solidFill>
                  <a:schemeClr val="bg1"/>
                </a:solidFill>
              </a:rPr>
              <a:t> ofrecidos a los clientes.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FDD9B3D-8AAD-D5CA-66FD-12A21CF4C59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7164009"/>
              </p:ext>
            </p:extLst>
          </p:nvPr>
        </p:nvGraphicFramePr>
        <p:xfrm>
          <a:off x="3220278" y="2226366"/>
          <a:ext cx="7482556" cy="4510842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741278">
                  <a:extLst>
                    <a:ext uri="{9D8B030D-6E8A-4147-A177-3AD203B41FA5}">
                      <a16:colId xmlns:a16="http://schemas.microsoft.com/office/drawing/2014/main" val="636983530"/>
                    </a:ext>
                  </a:extLst>
                </a:gridCol>
                <a:gridCol w="3741278">
                  <a:extLst>
                    <a:ext uri="{9D8B030D-6E8A-4147-A177-3AD203B41FA5}">
                      <a16:colId xmlns:a16="http://schemas.microsoft.com/office/drawing/2014/main" val="2998012258"/>
                    </a:ext>
                  </a:extLst>
                </a:gridCol>
              </a:tblGrid>
              <a:tr h="322203">
                <a:tc>
                  <a:txBody>
                    <a:bodyPr/>
                    <a:lstStyle/>
                    <a:p>
                      <a:pPr algn="ctr"/>
                      <a:r>
                        <a:rPr lang="es-CO" sz="1500" dirty="0"/>
                        <a:t>Supuesto Base del Ataque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500" dirty="0"/>
                        <a:t>Consecuencias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567180"/>
                  </a:ext>
                </a:extLst>
              </a:tr>
              <a:tr h="2163363">
                <a:tc>
                  <a:txBody>
                    <a:bodyPr/>
                    <a:lstStyle/>
                    <a:p>
                      <a:pPr algn="just"/>
                      <a:r>
                        <a:rPr lang="es-CO" sz="1500" kern="1200" dirty="0">
                          <a:effectLst/>
                        </a:rPr>
                        <a:t>Se asume un ataque de tipo </a:t>
                      </a:r>
                      <a:r>
                        <a:rPr lang="es-CO" sz="1500" kern="1200" dirty="0" err="1">
                          <a:effectLst/>
                        </a:rPr>
                        <a:t>DDoS</a:t>
                      </a:r>
                      <a:r>
                        <a:rPr lang="es-CO" sz="1500" kern="1200" dirty="0">
                          <a:effectLst/>
                        </a:rPr>
                        <a:t> mixto, combinando:</a:t>
                      </a:r>
                    </a:p>
                    <a:p>
                      <a:pPr lvl="0" algn="just"/>
                      <a:r>
                        <a:rPr lang="es-CO" sz="1500" kern="1200" dirty="0">
                          <a:effectLst/>
                        </a:rPr>
                        <a:t>Ataques volumétricos, orientados a saturar el ancho de banda.</a:t>
                      </a:r>
                    </a:p>
                    <a:p>
                      <a:pPr lvl="0" algn="just"/>
                      <a:r>
                        <a:rPr lang="es-CO" sz="1500" kern="1200" dirty="0">
                          <a:effectLst/>
                        </a:rPr>
                        <a:t>Ataques a nivel de aplicación, dirigidos a los servicios críticos del banco.</a:t>
                      </a:r>
                    </a:p>
                    <a:p>
                      <a:pPr algn="just"/>
                      <a:endParaRPr lang="es-CO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500" kern="1200" dirty="0">
                          <a:effectLst/>
                        </a:rPr>
                        <a:t>Como consecuencia, se produce una indisponibilidad total de los canales de atención y operación.</a:t>
                      </a:r>
                    </a:p>
                    <a:p>
                      <a:pPr algn="just"/>
                      <a:r>
                        <a:rPr lang="es-CO" sz="1500" kern="1200" dirty="0">
                          <a:effectLst/>
                        </a:rPr>
                        <a:t>Es importante resaltar que no existe exfiltración de información; el impacto del evento es estrictamente operativo, no asociado a la pérdida de confidencialidad de los datos.</a:t>
                      </a:r>
                    </a:p>
                    <a:p>
                      <a:pPr algn="just"/>
                      <a:endParaRPr lang="es-CO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712689"/>
                  </a:ext>
                </a:extLst>
              </a:tr>
              <a:tr h="322203">
                <a:tc gridSpan="2">
                  <a:txBody>
                    <a:bodyPr/>
                    <a:lstStyle/>
                    <a:p>
                      <a:pPr algn="ctr"/>
                      <a:r>
                        <a:rPr lang="es-CO" sz="1500" b="1" dirty="0"/>
                        <a:t>Base del Ataque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240109"/>
                  </a:ext>
                </a:extLst>
              </a:tr>
              <a:tr h="1703073">
                <a:tc gridSpan="2">
                  <a:txBody>
                    <a:bodyPr/>
                    <a:lstStyle/>
                    <a:p>
                      <a:pPr lvl="0" algn="ctr"/>
                      <a:r>
                        <a:rPr lang="es-CO" sz="1500" kern="1200" dirty="0">
                          <a:effectLst/>
                        </a:rPr>
                        <a:t>Tipo de ataque: </a:t>
                      </a:r>
                      <a:r>
                        <a:rPr lang="es-CO" sz="1500" kern="1200" dirty="0" err="1">
                          <a:effectLst/>
                        </a:rPr>
                        <a:t>DDoS</a:t>
                      </a:r>
                      <a:r>
                        <a:rPr lang="es-CO" sz="1500" kern="1200" dirty="0">
                          <a:effectLst/>
                        </a:rPr>
                        <a:t> volumétrico + aplicación</a:t>
                      </a:r>
                    </a:p>
                    <a:p>
                      <a:pPr lvl="0" algn="ctr"/>
                      <a:r>
                        <a:rPr lang="es-CO" sz="1500" kern="1200" dirty="0">
                          <a:effectLst/>
                        </a:rPr>
                        <a:t>Impacto: Indisponibilidad total de canales</a:t>
                      </a:r>
                    </a:p>
                    <a:p>
                      <a:pPr lvl="1" algn="ctr"/>
                      <a:r>
                        <a:rPr lang="es-CO" sz="1500" kern="1200" dirty="0">
                          <a:effectLst/>
                        </a:rPr>
                        <a:t>Core bancario</a:t>
                      </a:r>
                    </a:p>
                    <a:p>
                      <a:pPr lvl="1" algn="ctr"/>
                      <a:r>
                        <a:rPr lang="es-CO" sz="1500" kern="1200" dirty="0">
                          <a:effectLst/>
                        </a:rPr>
                        <a:t>Canales digitales (app, web)</a:t>
                      </a:r>
                    </a:p>
                    <a:p>
                      <a:pPr lvl="1" algn="ctr"/>
                      <a:r>
                        <a:rPr lang="es-CO" sz="1500" kern="1200" dirty="0">
                          <a:effectLst/>
                        </a:rPr>
                        <a:t>Cajeros automáticos</a:t>
                      </a:r>
                    </a:p>
                    <a:p>
                      <a:pPr lvl="1" algn="ctr"/>
                      <a:r>
                        <a:rPr lang="es-CO" sz="1500" kern="1200" dirty="0">
                          <a:effectLst/>
                        </a:rPr>
                        <a:t>Pagos y transferencias</a:t>
                      </a:r>
                    </a:p>
                    <a:p>
                      <a:endParaRPr lang="es-CO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12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72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A821-9BE3-2F3F-5DC9-BDBC08AB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C6AABC7-4E07-CDB4-F1DD-CF8740FA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Curvas 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692BF94-2A41-428C-6059-ACB209470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E5B7413E-5BBF-AAFC-67F9-327A54B39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23B301EB-3C2A-FC90-90A7-3DF2E9EBC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74E71195-BEA8-7EDD-2C9A-372493DA6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26EB2854-5DDF-4AC4-2064-5D4697F8C6F5}"/>
              </a:ext>
            </a:extLst>
          </p:cNvPr>
          <p:cNvSpPr txBox="1"/>
          <p:nvPr/>
        </p:nvSpPr>
        <p:spPr>
          <a:xfrm>
            <a:off x="484177" y="1333318"/>
            <a:ext cx="10757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>
                <a:solidFill>
                  <a:schemeClr val="bg1"/>
                </a:solidFill>
              </a:rPr>
              <a:t>En este escenario se analiza un </a:t>
            </a:r>
            <a:r>
              <a:rPr lang="es-CO" b="1" dirty="0">
                <a:solidFill>
                  <a:schemeClr val="bg1"/>
                </a:solidFill>
              </a:rPr>
              <a:t>ataque </a:t>
            </a:r>
            <a:r>
              <a:rPr lang="es-CO" b="1" dirty="0" err="1">
                <a:solidFill>
                  <a:schemeClr val="bg1"/>
                </a:solidFill>
              </a:rPr>
              <a:t>DDoS</a:t>
            </a:r>
            <a:r>
              <a:rPr lang="es-CO" dirty="0">
                <a:solidFill>
                  <a:schemeClr val="bg1"/>
                </a:solidFill>
              </a:rPr>
              <a:t> dirigido contra la </a:t>
            </a:r>
            <a:r>
              <a:rPr lang="es-CO" b="1" dirty="0">
                <a:solidFill>
                  <a:schemeClr val="bg1"/>
                </a:solidFill>
              </a:rPr>
              <a:t>red transaccional de una entidad bancaria</a:t>
            </a:r>
            <a:r>
              <a:rPr lang="es-CO" dirty="0">
                <a:solidFill>
                  <a:schemeClr val="bg1"/>
                </a:solidFill>
              </a:rPr>
              <a:t>, cuyo objetivo principal es </a:t>
            </a:r>
            <a:r>
              <a:rPr lang="es-CO" b="1" dirty="0">
                <a:solidFill>
                  <a:schemeClr val="bg1"/>
                </a:solidFill>
              </a:rPr>
              <a:t>interrumpir la disponibilidad de los servicios financieros</a:t>
            </a:r>
            <a:r>
              <a:rPr lang="es-CO" dirty="0">
                <a:solidFill>
                  <a:schemeClr val="bg1"/>
                </a:solidFill>
              </a:rPr>
              <a:t> ofrecidos a los clientes.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F03B02C2-DE76-E85B-56C1-02E876FCAD9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05681338"/>
              </p:ext>
            </p:extLst>
          </p:nvPr>
        </p:nvGraphicFramePr>
        <p:xfrm>
          <a:off x="2305879" y="2352200"/>
          <a:ext cx="9476438" cy="353853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187609">
                  <a:extLst>
                    <a:ext uri="{9D8B030D-6E8A-4147-A177-3AD203B41FA5}">
                      <a16:colId xmlns:a16="http://schemas.microsoft.com/office/drawing/2014/main" val="1734017220"/>
                    </a:ext>
                  </a:extLst>
                </a:gridCol>
                <a:gridCol w="3130016">
                  <a:extLst>
                    <a:ext uri="{9D8B030D-6E8A-4147-A177-3AD203B41FA5}">
                      <a16:colId xmlns:a16="http://schemas.microsoft.com/office/drawing/2014/main" val="1544851765"/>
                    </a:ext>
                  </a:extLst>
                </a:gridCol>
                <a:gridCol w="3158813">
                  <a:extLst>
                    <a:ext uri="{9D8B030D-6E8A-4147-A177-3AD203B41FA5}">
                      <a16:colId xmlns:a16="http://schemas.microsoft.com/office/drawing/2014/main" val="1781272372"/>
                    </a:ext>
                  </a:extLst>
                </a:gridCol>
              </a:tblGrid>
              <a:tr h="377099">
                <a:tc gridSpan="3">
                  <a:txBody>
                    <a:bodyPr/>
                    <a:lstStyle/>
                    <a:p>
                      <a:pPr algn="ctr"/>
                      <a:r>
                        <a:rPr lang="es-CO" dirty="0"/>
                        <a:t>ESCENARIOS CRISIS FINANCIERA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29085"/>
                  </a:ext>
                </a:extLst>
              </a:tr>
              <a:tr h="316143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1 – CRISIS BAJA</a:t>
                      </a:r>
                    </a:p>
                    <a:p>
                      <a:pPr algn="just"/>
                      <a:r>
                        <a:rPr lang="es-CO" sz="1800" kern="1200" dirty="0">
                          <a:effectLst/>
                        </a:rPr>
                        <a:t>Duración del ataque - 2 a 7 horas</a:t>
                      </a:r>
                    </a:p>
                    <a:p>
                      <a:pPr algn="just"/>
                      <a:r>
                        <a:rPr lang="es-CO" sz="1800" kern="1200" dirty="0">
                          <a:effectLst/>
                        </a:rPr>
                        <a:t>Impacto operativo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Ventana corta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Pico de congestión en horas laborales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Recuperación el mismo día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2 – CRISIS MEDIA</a:t>
                      </a:r>
                    </a:p>
                    <a:p>
                      <a:pPr algn="just"/>
                      <a:r>
                        <a:rPr lang="es-CO" sz="1800" kern="1200" dirty="0">
                          <a:effectLst/>
                        </a:rPr>
                        <a:t>Duración del ataque - 7 a 24 horas</a:t>
                      </a:r>
                    </a:p>
                    <a:p>
                      <a:pPr algn="just"/>
                      <a:r>
                        <a:rPr lang="es-CO" sz="1800" kern="1200" dirty="0">
                          <a:effectLst/>
                        </a:rPr>
                        <a:t>Impacto operativo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Día completo sin operación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Caída en comercios y pagos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Clientes corporativos afectados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Interrupción de pagos críticos (nómina, proveedores)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3 – CRISIS ALTA</a:t>
                      </a:r>
                    </a:p>
                    <a:p>
                      <a:pPr algn="just"/>
                      <a:r>
                        <a:rPr lang="es-CO" sz="1800" kern="1200" dirty="0">
                          <a:effectLst/>
                        </a:rPr>
                        <a:t>Duración del ataque - 24 – 72 horas o más</a:t>
                      </a:r>
                    </a:p>
                    <a:p>
                      <a:pPr algn="just"/>
                      <a:r>
                        <a:rPr lang="es-CO" sz="1800" kern="1200" dirty="0">
                          <a:effectLst/>
                        </a:rPr>
                        <a:t>Impacto operativo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Paralización total del banco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Incumplimiento de SLA críticos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Riesgo sistémico (interbancario)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Activación de planes de continuidad externos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87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403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78066-60ED-E139-E8BB-99F1524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06E65AA-F6BC-3250-EB11-D4BD75DD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Curvas 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3CBC612-9872-C1EC-917A-6D0FCE6D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F485B998-F8C1-EA4E-EB47-7D656CE62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75E9833D-B584-2805-7A20-2CEBB870C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8474A9AB-A247-FB60-FD6C-FFA8A9315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B54B1E56-0701-803D-7AAE-3AB6757385A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44739576"/>
              </p:ext>
            </p:extLst>
          </p:nvPr>
        </p:nvGraphicFramePr>
        <p:xfrm>
          <a:off x="1362986" y="2259921"/>
          <a:ext cx="10626786" cy="35454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71131">
                  <a:extLst>
                    <a:ext uri="{9D8B030D-6E8A-4147-A177-3AD203B41FA5}">
                      <a16:colId xmlns:a16="http://schemas.microsoft.com/office/drawing/2014/main" val="3720585950"/>
                    </a:ext>
                  </a:extLst>
                </a:gridCol>
                <a:gridCol w="1771131">
                  <a:extLst>
                    <a:ext uri="{9D8B030D-6E8A-4147-A177-3AD203B41FA5}">
                      <a16:colId xmlns:a16="http://schemas.microsoft.com/office/drawing/2014/main" val="1272412741"/>
                    </a:ext>
                  </a:extLst>
                </a:gridCol>
                <a:gridCol w="1771131">
                  <a:extLst>
                    <a:ext uri="{9D8B030D-6E8A-4147-A177-3AD203B41FA5}">
                      <a16:colId xmlns:a16="http://schemas.microsoft.com/office/drawing/2014/main" val="597272672"/>
                    </a:ext>
                  </a:extLst>
                </a:gridCol>
                <a:gridCol w="1771131">
                  <a:extLst>
                    <a:ext uri="{9D8B030D-6E8A-4147-A177-3AD203B41FA5}">
                      <a16:colId xmlns:a16="http://schemas.microsoft.com/office/drawing/2014/main" val="3058557829"/>
                    </a:ext>
                  </a:extLst>
                </a:gridCol>
                <a:gridCol w="1771131">
                  <a:extLst>
                    <a:ext uri="{9D8B030D-6E8A-4147-A177-3AD203B41FA5}">
                      <a16:colId xmlns:a16="http://schemas.microsoft.com/office/drawing/2014/main" val="3463330441"/>
                    </a:ext>
                  </a:extLst>
                </a:gridCol>
                <a:gridCol w="1771131">
                  <a:extLst>
                    <a:ext uri="{9D8B030D-6E8A-4147-A177-3AD203B41FA5}">
                      <a16:colId xmlns:a16="http://schemas.microsoft.com/office/drawing/2014/main" val="132179825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1 – CRISIS BAJA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2 – CRISIS MEDIA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3 – CRISIS ALTA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968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b="1" kern="100" dirty="0">
                          <a:effectLst/>
                        </a:rPr>
                        <a:t>Concepto</a:t>
                      </a:r>
                      <a:endParaRPr lang="es-CO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b="1" kern="100">
                          <a:effectLst/>
                        </a:rPr>
                        <a:t>Estimación</a:t>
                      </a:r>
                      <a:endParaRPr lang="es-CO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b="1" kern="100" dirty="0">
                          <a:effectLst/>
                        </a:rPr>
                        <a:t>Concepto</a:t>
                      </a:r>
                      <a:endParaRPr lang="es-CO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b="1" kern="100">
                          <a:effectLst/>
                        </a:rPr>
                        <a:t>Estimación</a:t>
                      </a:r>
                      <a:endParaRPr lang="es-CO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b="1" kern="100" dirty="0">
                          <a:effectLst/>
                        </a:rPr>
                        <a:t>Concepto</a:t>
                      </a:r>
                      <a:endParaRPr lang="es-CO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b="1" kern="100" dirty="0">
                          <a:effectLst/>
                        </a:rPr>
                        <a:t>Estimación</a:t>
                      </a:r>
                      <a:endParaRPr lang="es-CO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762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Transacciones no realizadas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 dirty="0">
                          <a:effectLst/>
                        </a:rPr>
                        <a:t>USD 400 – 700 millones</a:t>
                      </a: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604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Transacciones no realizadas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150 – 250 millones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Ingresos por comisiones perdidos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1.5 – 2.5 millones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6871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Transacciones no realizadas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20 – 35 millones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Ingresos por comisiones perdidos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600.000 – 1.4 millones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Demandas colectivas y conciliaciones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 dirty="0">
                          <a:effectLst/>
                        </a:rPr>
                        <a:t>USD 2.5 – 6 millones</a:t>
                      </a: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506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Ingresos por comisiones perdidos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120.000 – 1.4 millones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Penalizaciones contractuales (empresas)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900.000 – 1.1 millones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Multas regulatorias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 dirty="0">
                          <a:effectLst/>
                        </a:rPr>
                        <a:t>USD 1 – 2 millones</a:t>
                      </a: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2839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Costos de mitigación (CDN, scrubbing, SOC)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50.000 – 300.000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Costos técnicos y refuerzo infraestructura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USD 250.000 – 400.000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Costos de reputación (campañas, compensaciones)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 dirty="0">
                          <a:effectLst/>
                        </a:rPr>
                        <a:t>USD 1.5 – 2.8 millones</a:t>
                      </a: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8237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Pérdida financiera directa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 dirty="0">
                          <a:effectLst/>
                        </a:rPr>
                        <a:t>USD 250.000 – 1.8 millones</a:t>
                      </a: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Pérdida financiera directa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 dirty="0">
                          <a:effectLst/>
                        </a:rPr>
                        <a:t>USD 1,8 – 2,8 millones</a:t>
                      </a: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>
                          <a:effectLst/>
                        </a:rPr>
                        <a:t>Pérdida financiera total estimada</a:t>
                      </a:r>
                      <a:endParaRPr lang="es-C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200" kern="100" dirty="0">
                          <a:effectLst/>
                        </a:rPr>
                        <a:t>USD 2.9 – 3.5+ millones</a:t>
                      </a:r>
                      <a:endParaRPr lang="es-C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6644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29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8354B-6294-9AFC-A2FD-941D987E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7D93C-EE28-64E3-66C9-B07DE988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Curvas 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0F2172F-C44F-007B-CF1C-FBED87180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A075BA29-E4F1-BC7D-E539-71E10B6EA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B6D0EADA-F7E6-ED96-E4F7-9CA24728C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156FB5D1-2995-EA6F-9BAF-4B70FE4A8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E19E5BED-A534-C614-515B-754CD65A4B7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19349221"/>
              </p:ext>
            </p:extLst>
          </p:nvPr>
        </p:nvGraphicFramePr>
        <p:xfrm>
          <a:off x="968354" y="1517612"/>
          <a:ext cx="10983923" cy="47650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694685">
                  <a:extLst>
                    <a:ext uri="{9D8B030D-6E8A-4147-A177-3AD203B41FA5}">
                      <a16:colId xmlns:a16="http://schemas.microsoft.com/office/drawing/2014/main" val="1734017220"/>
                    </a:ext>
                  </a:extLst>
                </a:gridCol>
                <a:gridCol w="3627930">
                  <a:extLst>
                    <a:ext uri="{9D8B030D-6E8A-4147-A177-3AD203B41FA5}">
                      <a16:colId xmlns:a16="http://schemas.microsoft.com/office/drawing/2014/main" val="1544851765"/>
                    </a:ext>
                  </a:extLst>
                </a:gridCol>
                <a:gridCol w="3661308">
                  <a:extLst>
                    <a:ext uri="{9D8B030D-6E8A-4147-A177-3AD203B41FA5}">
                      <a16:colId xmlns:a16="http://schemas.microsoft.com/office/drawing/2014/main" val="178127237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ESCENARIOS CRISIS FINANCIERA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2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kern="1200" dirty="0">
                          <a:effectLst/>
                        </a:rPr>
                        <a:t>ESCENARIO 1 – CRISIS BAJA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kern="1200" dirty="0">
                          <a:effectLst/>
                        </a:rPr>
                        <a:t>ESCENARIO 2 – CRISIS MEDIA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kern="1200" dirty="0">
                          <a:effectLst/>
                        </a:rPr>
                        <a:t>ESCENARIO 3 – CRISIS ALTA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7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Impacto reputacional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Bajo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Reclamos en redes sociales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Comunicaciones de contingencia suficientes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Impacto reputacional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Medio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Medios de comunicación nacionales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Caída temporal de confianza</a:t>
                      </a:r>
                    </a:p>
                    <a:p>
                      <a:pPr lvl="0" algn="just"/>
                      <a:r>
                        <a:rPr lang="es-CO" sz="1800" kern="1200" dirty="0" err="1">
                          <a:effectLst/>
                        </a:rPr>
                        <a:t>Downtime</a:t>
                      </a:r>
                      <a:r>
                        <a:rPr lang="es-CO" sz="1800" kern="1200" dirty="0">
                          <a:effectLst/>
                        </a:rPr>
                        <a:t> reportado públicamente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Impacto reputacional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Severo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Riesgo de “</a:t>
                      </a:r>
                      <a:r>
                        <a:rPr lang="es-CO" sz="1800" kern="1200" dirty="0" err="1">
                          <a:effectLst/>
                        </a:rPr>
                        <a:t>bank</a:t>
                      </a:r>
                      <a:r>
                        <a:rPr lang="es-CO" sz="1800" kern="1200" dirty="0">
                          <a:effectLst/>
                        </a:rPr>
                        <a:t> run” digital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Pérdida de calificación de confianza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Impacto en valor de marca y acciones (si aplica)</a:t>
                      </a:r>
                      <a:endParaRPr lang="es-C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8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Pérdida de clientes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&lt; 0,1% (clientes altamente sensibles)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Principalmente clientes digitales jóvenes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Pérdida de clientes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0,5% – 1%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Migración a </a:t>
                      </a:r>
                      <a:r>
                        <a:rPr lang="es-CO" sz="1800" kern="1200" dirty="0" err="1">
                          <a:effectLst/>
                        </a:rPr>
                        <a:t>fintechs</a:t>
                      </a:r>
                      <a:r>
                        <a:rPr lang="es-CO" sz="1800" kern="1200" dirty="0">
                          <a:effectLst/>
                        </a:rPr>
                        <a:t> y bancos digitales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Riesgo alto en clientes empresariales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Pérdida de clientes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3% – 7%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Alta fuga de clientes premium y corporativos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Reducción sostenida de ingresos futuros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41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39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C9B4-A7AA-5A16-B147-46923A9E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6A83214-F5A5-1201-455A-D49B0566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Curvas 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8C4A683-861C-0822-4643-E390FD527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EB5836EC-A46C-CCFF-4A45-F7C5FB1F7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A31A0A1-4FD6-3214-AAC1-CF1673112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BB41743-36AD-9E90-A2A2-595E7611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35061DA1-D66E-96B8-1CB1-189864F7C4B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05065884"/>
              </p:ext>
            </p:extLst>
          </p:nvPr>
        </p:nvGraphicFramePr>
        <p:xfrm>
          <a:off x="484176" y="1678768"/>
          <a:ext cx="10983923" cy="394208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694685">
                  <a:extLst>
                    <a:ext uri="{9D8B030D-6E8A-4147-A177-3AD203B41FA5}">
                      <a16:colId xmlns:a16="http://schemas.microsoft.com/office/drawing/2014/main" val="1734017220"/>
                    </a:ext>
                  </a:extLst>
                </a:gridCol>
                <a:gridCol w="3627930">
                  <a:extLst>
                    <a:ext uri="{9D8B030D-6E8A-4147-A177-3AD203B41FA5}">
                      <a16:colId xmlns:a16="http://schemas.microsoft.com/office/drawing/2014/main" val="1544851765"/>
                    </a:ext>
                  </a:extLst>
                </a:gridCol>
                <a:gridCol w="3661308">
                  <a:extLst>
                    <a:ext uri="{9D8B030D-6E8A-4147-A177-3AD203B41FA5}">
                      <a16:colId xmlns:a16="http://schemas.microsoft.com/office/drawing/2014/main" val="178127237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CO" dirty="0"/>
                        <a:t>ESCENARIOS CRISIS FINANCIERA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2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kern="1200" dirty="0">
                          <a:effectLst/>
                        </a:rPr>
                        <a:t>ESCENARIO 1 – CRISIS BAJA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kern="1200" dirty="0">
                          <a:effectLst/>
                        </a:rPr>
                        <a:t>ESCENARIO 2 – CRISIS MEDIA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kern="1200" dirty="0">
                          <a:effectLst/>
                        </a:rPr>
                        <a:t>ESCENARIO 3 – CRISIS ALTA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7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Riesgo legal / regulatorio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No hay sanción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Reporte informativo al regulador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Sin demandas colectivas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Riesgo legal / regulatorio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Investigación del regulador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Posibles multas leves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Exigencia de plan de mejora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Demandas individuales (cuantía moderada)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Riesgo legal / regulatorio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Sanción grave del regulador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Auditoría forense obligatoria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Riesgo de intervención o vigilancia especial</a:t>
                      </a:r>
                    </a:p>
                    <a:p>
                      <a:pPr lvl="0" algn="just"/>
                      <a:r>
                        <a:rPr lang="es-CO" sz="1800" kern="1200" dirty="0">
                          <a:effectLst/>
                        </a:rPr>
                        <a:t>Demandas colectivas de alto valor</a:t>
                      </a:r>
                      <a:endParaRPr lang="es-C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8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Conclusión financiera: Evento absorbible por provisiones operativas.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Conclusión financiera: Impacto material en resultados trimestrales.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800" kern="1200" dirty="0">
                          <a:effectLst/>
                        </a:rPr>
                        <a:t>Conclusión financiera: Evento potencialmente existencial, afecta solvencia y proyección del negocio.</a:t>
                      </a:r>
                    </a:p>
                    <a:p>
                      <a:pPr algn="just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41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99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477C8-8ADD-3CC1-C5F9-70B3284F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54FD96F-3F7B-76DA-B611-5C98573D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0712"/>
            <a:ext cx="10873740" cy="7734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 Curvas 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49AC171B-54CE-28C4-FE90-28705DAAD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9BEDC1E2-9A65-D23A-8DAB-F5947135D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190105C5-4034-FC98-E18C-61291CDD5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75E2B152-0F95-CEA8-CD63-0EEEEE4F8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A3BCB899-E103-3E2A-381E-8A163A25F01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172774"/>
              </p:ext>
            </p:extLst>
          </p:nvPr>
        </p:nvGraphicFramePr>
        <p:xfrm>
          <a:off x="428060" y="2343111"/>
          <a:ext cx="5062331" cy="3114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062331">
                  <a:extLst>
                    <a:ext uri="{9D8B030D-6E8A-4147-A177-3AD203B41FA5}">
                      <a16:colId xmlns:a16="http://schemas.microsoft.com/office/drawing/2014/main" val="1734017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ESCENARIOS CRISIS FINANCIERA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2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1 – CRISIS BAJA</a:t>
                      </a:r>
                      <a:br>
                        <a:rPr lang="es-CO" sz="1800" kern="1200" dirty="0">
                          <a:effectLst/>
                        </a:rPr>
                      </a:br>
                      <a:r>
                        <a:rPr lang="es-CO" sz="1800" kern="100" dirty="0">
                          <a:effectLst/>
                        </a:rPr>
                        <a:t>2 - 7 h / USD 0,25 – 1,8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00" dirty="0">
                          <a:effectLst/>
                        </a:rPr>
                        <a:t>Probabilidad = 99% - 45%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7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2 – CRISIS MEDIA</a:t>
                      </a:r>
                      <a:br>
                        <a:rPr lang="es-CO" sz="1800" kern="1200" dirty="0">
                          <a:effectLst/>
                        </a:rPr>
                      </a:br>
                      <a:r>
                        <a:rPr lang="es-CO" sz="1800" kern="100" dirty="0">
                          <a:effectLst/>
                        </a:rPr>
                        <a:t>7 – 24 h / USD 1,8 M – 2,8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00" dirty="0">
                          <a:effectLst/>
                        </a:rPr>
                        <a:t>Probabilidad = 44% - 8%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8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200" dirty="0">
                          <a:effectLst/>
                        </a:rPr>
                        <a:t>ESCENARIO 3 – CRISIS ALTA</a:t>
                      </a:r>
                      <a:br>
                        <a:rPr lang="es-CO" sz="1800" kern="1200" dirty="0">
                          <a:effectLst/>
                        </a:rPr>
                      </a:br>
                      <a:r>
                        <a:rPr lang="es-CO" sz="1800" kern="100" dirty="0">
                          <a:effectLst/>
                        </a:rPr>
                        <a:t>25 – 72 h / USD 2,9 M – 3,5+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kern="100" dirty="0">
                          <a:effectLst/>
                        </a:rPr>
                        <a:t>Probabilidad = 7% - 1%</a:t>
                      </a:r>
                      <a:endParaRPr lang="es-CO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410587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EB616966-43EA-8E58-7C66-7232D9311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576" y="1507881"/>
            <a:ext cx="5937523" cy="471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60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LECCIONES APRENDIDAS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76279"/>
              </p:ext>
            </p:extLst>
          </p:nvPr>
        </p:nvGraphicFramePr>
        <p:xfrm>
          <a:off x="957938" y="2340203"/>
          <a:ext cx="11088918" cy="4517796"/>
        </p:xfrm>
        <a:graphic>
          <a:graphicData uri="http://schemas.openxmlformats.org/drawingml/2006/table">
            <a:tbl>
              <a:tblPr firstRow="1" firstCol="1" bandRow="1">
                <a:tableStyleId>{2A488322-F2BA-4B5B-9748-0D474271808F}</a:tableStyleId>
              </a:tblPr>
              <a:tblGrid>
                <a:gridCol w="2699662">
                  <a:extLst>
                    <a:ext uri="{9D8B030D-6E8A-4147-A177-3AD203B41FA5}">
                      <a16:colId xmlns:a16="http://schemas.microsoft.com/office/drawing/2014/main" val="974178101"/>
                    </a:ext>
                  </a:extLst>
                </a:gridCol>
                <a:gridCol w="8389256">
                  <a:extLst>
                    <a:ext uri="{9D8B030D-6E8A-4147-A177-3AD203B41FA5}">
                      <a16:colId xmlns:a16="http://schemas.microsoft.com/office/drawing/2014/main" val="1405790023"/>
                    </a:ext>
                  </a:extLst>
                </a:gridCol>
              </a:tblGrid>
              <a:tr h="3392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solidFill>
                            <a:schemeClr val="bg1"/>
                          </a:solidFill>
                          <a:effectLst/>
                        </a:rPr>
                        <a:t>Dimensión</a:t>
                      </a:r>
                      <a:endParaRPr lang="es-CO" sz="1800" kern="100" dirty="0">
                        <a:solidFill>
                          <a:schemeClr val="bg1"/>
                        </a:solidFill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solidFill>
                            <a:schemeClr val="bg1"/>
                          </a:solidFill>
                          <a:effectLst/>
                        </a:rPr>
                        <a:t>Síntesis para presentación académica</a:t>
                      </a:r>
                      <a:endParaRPr lang="es-CO" sz="1800" kern="100" dirty="0">
                        <a:solidFill>
                          <a:schemeClr val="bg1"/>
                        </a:solidFill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extLst>
                  <a:ext uri="{0D108BD9-81ED-4DB2-BD59-A6C34878D82A}">
                    <a16:rowId xmlns:a16="http://schemas.microsoft.com/office/drawing/2014/main" val="1394951096"/>
                  </a:ext>
                </a:extLst>
              </a:tr>
              <a:tr h="976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solidFill>
                            <a:schemeClr val="bg1"/>
                          </a:solidFill>
                          <a:effectLst/>
                        </a:rPr>
                        <a:t>¿Qué funcionó?</a:t>
                      </a:r>
                      <a:endParaRPr lang="es-CO" sz="1800" kern="100" dirty="0">
                        <a:solidFill>
                          <a:schemeClr val="bg1"/>
                        </a:solidFill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effectLst/>
                        </a:rPr>
                        <a:t>Permitió visualizar claramente la relación causa–evento–consecuencia, evidenciar el rol de los controles preventivos y mitigantes, y traducir riesgos técnicos a impactos de negocio comprensibles para tomadores de decisión.</a:t>
                      </a:r>
                      <a:endParaRPr lang="es-CO" sz="1800" kern="1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extLst>
                  <a:ext uri="{0D108BD9-81ED-4DB2-BD59-A6C34878D82A}">
                    <a16:rowId xmlns:a16="http://schemas.microsoft.com/office/drawing/2014/main" val="3236216001"/>
                  </a:ext>
                </a:extLst>
              </a:tr>
              <a:tr h="7841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>
                          <a:solidFill>
                            <a:schemeClr val="bg1"/>
                          </a:solidFill>
                          <a:effectLst/>
                        </a:rPr>
                        <a:t>¿Qué no funcionó?</a:t>
                      </a:r>
                      <a:endParaRPr lang="es-CO" sz="1800" kern="100">
                        <a:solidFill>
                          <a:schemeClr val="bg1"/>
                        </a:solidFill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effectLst/>
                        </a:rPr>
                        <a:t>No cuantifica el riesgo por sí sola, depende del conocimiento del equipo y puede simplificar en exceso escenarios complejos si no se complementa con otras técnicas.</a:t>
                      </a:r>
                      <a:endParaRPr lang="es-CO" sz="1800" kern="1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extLst>
                  <a:ext uri="{0D108BD9-81ED-4DB2-BD59-A6C34878D82A}">
                    <a16:rowId xmlns:a16="http://schemas.microsoft.com/office/drawing/2014/main" val="3336196346"/>
                  </a:ext>
                </a:extLst>
              </a:tr>
              <a:tr h="6577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>
                          <a:solidFill>
                            <a:schemeClr val="bg1"/>
                          </a:solidFill>
                          <a:effectLst/>
                        </a:rPr>
                        <a:t>¿Cuándo no usarla?</a:t>
                      </a:r>
                      <a:endParaRPr lang="es-CO" sz="1800" kern="100">
                        <a:solidFill>
                          <a:schemeClr val="bg1"/>
                        </a:solidFill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effectLst/>
                        </a:rPr>
                        <a:t>No es adecuada como técnica principal cuando se requiere análisis cuantitativo, escenarios altamente dinámicos o análisis técnico profundo de fallas.</a:t>
                      </a:r>
                      <a:endParaRPr lang="es-CO" sz="1800" kern="1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extLst>
                  <a:ext uri="{0D108BD9-81ED-4DB2-BD59-A6C34878D82A}">
                    <a16:rowId xmlns:a16="http://schemas.microsoft.com/office/drawing/2014/main" val="219195877"/>
                  </a:ext>
                </a:extLst>
              </a:tr>
              <a:tr h="976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>
                          <a:solidFill>
                            <a:schemeClr val="bg1"/>
                          </a:solidFill>
                          <a:effectLst/>
                        </a:rPr>
                        <a:t>Recomendaciones prácticas</a:t>
                      </a:r>
                      <a:endParaRPr lang="es-CO" sz="1800" kern="100">
                        <a:solidFill>
                          <a:schemeClr val="bg1"/>
                        </a:solidFill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effectLst/>
                        </a:rPr>
                        <a:t>Usarla como herramienta de comunicación estratégica, construirla desde eventos de negocio, validar controles con evidencia, complementarla con otras técnicas ISO 31010 y actualizarla tras incidentes reales.</a:t>
                      </a:r>
                      <a:endParaRPr lang="es-CO" sz="1800" kern="1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extLst>
                  <a:ext uri="{0D108BD9-81ED-4DB2-BD59-A6C34878D82A}">
                    <a16:rowId xmlns:a16="http://schemas.microsoft.com/office/drawing/2014/main" val="4106786860"/>
                  </a:ext>
                </a:extLst>
              </a:tr>
              <a:tr h="7841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solidFill>
                            <a:schemeClr val="bg1"/>
                          </a:solidFill>
                          <a:effectLst/>
                        </a:rPr>
                        <a:t>Valor académico y profesional</a:t>
                      </a:r>
                      <a:endParaRPr lang="es-CO" sz="1800" kern="100" dirty="0">
                        <a:solidFill>
                          <a:schemeClr val="bg1"/>
                        </a:solidFill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800" kern="100" dirty="0">
                          <a:effectLst/>
                        </a:rPr>
                        <a:t>Facilita el entendimiento integral del riesgo, fortalece la resiliencia organizacional y conecta la ciberseguridad con impactos económicos, legales y </a:t>
                      </a:r>
                      <a:r>
                        <a:rPr lang="es-CO" sz="1800" kern="100" dirty="0" err="1">
                          <a:effectLst/>
                        </a:rPr>
                        <a:t>reputacionales</a:t>
                      </a:r>
                      <a:r>
                        <a:rPr lang="es-CO" sz="1800" kern="100" dirty="0">
                          <a:effectLst/>
                        </a:rPr>
                        <a:t>.</a:t>
                      </a:r>
                      <a:endParaRPr lang="es-CO" sz="1800" kern="1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9148" marR="9148" marT="9148" marB="9148" anchor="ctr"/>
                </a:tc>
                <a:extLst>
                  <a:ext uri="{0D108BD9-81ED-4DB2-BD59-A6C34878D82A}">
                    <a16:rowId xmlns:a16="http://schemas.microsoft.com/office/drawing/2014/main" val="344957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96537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{6818784A-3B1A-493B-B491-DA03BFC7C46F}TFd3b75063-ff25-434d-b12c-efeaf07d16c3e7f35a69_win32-0d75b5563924</Template>
  <TotalTime>187</TotalTime>
  <Words>1362</Words>
  <Application>Microsoft Office PowerPoint</Application>
  <PresentationFormat>Widescreen</PresentationFormat>
  <Paragraphs>194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Franklin Gothic Book</vt:lpstr>
      <vt:lpstr>Franklin Gothic Demi</vt:lpstr>
      <vt:lpstr>Personalizar</vt:lpstr>
      <vt:lpstr>LABORATORIO COLABORATIVO DE TÉCNICAS DE EVALUACIÓN DEL RIESGO APLICADAS A ESCENARIOS DE CIBERSEGURIDAD Y CIBERDEFENSA</vt:lpstr>
      <vt:lpstr>PowerPoint Presentation</vt:lpstr>
      <vt:lpstr>Análisis Bow-Tie</vt:lpstr>
      <vt:lpstr>Análisis Bow-Tie</vt:lpstr>
      <vt:lpstr>Análisis Bow-Tie</vt:lpstr>
      <vt:lpstr>Análisis Bow-Tie</vt:lpstr>
      <vt:lpstr>Análisis Curvas S</vt:lpstr>
      <vt:lpstr>Análisis Curvas S</vt:lpstr>
      <vt:lpstr>Análisis Curvas S</vt:lpstr>
      <vt:lpstr>Análisis Curvas S</vt:lpstr>
      <vt:lpstr>Análisis Curvas S</vt:lpstr>
      <vt:lpstr>Análisis Curvas S</vt:lpstr>
      <vt:lpstr>LECCIONES APRENDIDAS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COLABORATIVO DE TÉCNICAS DE EVALUACIÓN DEL RIESGO APLICADAS A ESCENARIOS DE CIBERSEGURIDAD Y CIBERDEFENSA</dc:title>
  <dc:creator>Johan Camilo Tamara Rodriguez</dc:creator>
  <cp:lastModifiedBy>Ayda Graciela Castro Suárez</cp:lastModifiedBy>
  <cp:revision>12</cp:revision>
  <dcterms:created xsi:type="dcterms:W3CDTF">2026-01-23T23:23:42Z</dcterms:created>
  <dcterms:modified xsi:type="dcterms:W3CDTF">2026-01-24T13:28:23Z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