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009BD11-9F94-274E-3AC5-E679E70372A1}">
          <p14:sldIdLst>
            <p14:sldId id="256"/>
          </p14:sldIdLst>
        </p14:section>
        <p14:section name="Escena y mandato" id="{75C96CD3-0BEE-A4F0-FE3A-411F74979C31}">
          <p14:sldIdLst>
            <p14:sldId id="257"/>
          </p14:sldIdLst>
        </p14:section>
        <p14:section name="Decisiones técnicas" id="{8EFDF337-C543-F5F2-1EF5-F6521F53441A}">
          <p14:sldIdLst>
            <p14:sldId id="258"/>
            <p14:sldId id="259"/>
          </p14:sldIdLst>
        </p14:section>
        <p14:section name="Preservación" id="{5BA8673F-6965-E463-106E-2CE02D5440A9}">
          <p14:sldIdLst>
            <p14:sldId id="260"/>
          </p14:sldIdLst>
        </p14:section>
        <p14:section name="Evidencias" id="{B5869E70-C97B-4C7B-4632-10CA1B9081DC}">
          <p14:sldIdLst>
            <p14:sldId id="261"/>
          </p14:sldIdLst>
        </p14:section>
        <p14:section name="Defensa" id="{B9E83587-CF20-5033-C6B7-8A4051A2333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7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506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DEFR (líder): Presento al equipo y los roles normativos según el numeral 6.3 y el Anexo A de ISO/IEC 27037. El caso OPE-DEF-2026-088 corresponde a la intervención de una estación encendida con volumen cifrado montado en la oficina del Director de Proyectos Especiales. Tiempo: 30 segundos.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DEFR: Al arribo la estación estaba encendida, desbloqueada por un jiggler, con V:\ montado, PowerShell y mensajería activos y tráfico intenso por túnel DNS. Decisión central: adquisición en vivo y luego recolección física. Delimitamos el mandato: solo fijamos lo visible en la mensajería; la clave del post-it solo se usará en laboratorio, sobre copias y con ampliación de la orden. Tiempo: 1 minuto 15 segundos.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DES: Árbol de decisión. Figura 1: el equipo está encendido. Figura 4: hay datos volátiles críticos y un contenedor cifrado montado, así que se adquiere en vivo. Antes aislamos la red aguas arriba para bloquear una posible orden de borrado. Orden: RAM, red y procesos, V:\ en claro y artefactos de C:\. Solo después pasamos a la recolección física según la Figura 2. La rama de recolección directa no aplica porque destruiría las claves. Tiempo: 1 minuto 30 segundos.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DES: Antes de apagar verificamos que la imagen de V:\ y la de RAM tengan hash. Documentamos el RAID 0 y el cifrado de C:\, retiramos el jiggler y cortamos la energía en el chasis, porque la UPS mantiene encendido el equipo si se desconecta la pared. Si V:\ no se hubiera asegurado, seguiríamos adquiriendo. Luego vienen el embalaje, el transporte con cadena de custodia y, en laboratorio, la imagen física de los NVMe con bloqueador de escritura según la Figura 5. Tiempo: 1 minuto 30 segundos.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Oficial de Registro: A la izquierda, el orden de volatilidad con las horas de la bitácora (Formato 1). A la derecha, la contención de riesgos según el numeral 6.2. Clave de la pregunta 2: no desconectamos el RJ-45. Aislamos en el switch, así el enlace sigue activo y se conservan la tabla ARP y las conexiones TCP. Clave de la pregunta 3: herramientas estáticas confiables, huella mínima, pagefile adquirido y hash SHA-256/MD5 inmediato. Tiempo: 1 minuto 30 segundos.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Oficial de Registro: Consolidado del Formato 2. Los elementos físicos van en empaque adecuado: rígido y antiestático para la torre y el dongle, y sobre de papel para el post-it, para preservar huellas y escritura. Las imágenes D01 a D06 tienen doble hash, SHA-256 y MD5, calculado en </a:t>
            </a:r>
            <a:r>
              <a:rPr lang="en-US" dirty="0" err="1"/>
              <a:t>escena</a:t>
            </a:r>
            <a:r>
              <a:rPr lang="en-US" dirty="0"/>
              <a:t> y verificado con una segunda herramienta. Cada transferencia queda registrada con nombre, cargo, hora y firma. Tiempo: 1 minuto 15 segundos.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Auditor de Calidad: Anticipamos las objeciones de la contraparte. Ante la acusación de expoliación, todo cambio inevitable está identificado, minimizado y justificado. Ante la de sesgo, el briefing apuntaba al Director, pero investigamos hipótesis alternativas como el compromiso de sus credenciales por una APT o un tercero con acceso físico, y buscamos evidencia exculpatoria. Cierre: se cumplen los cuatro pilares del numeral 5.3. Quedamos atentos al contrainterrogatorio. Tiempo: 1 minuto 30 segundos.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buNone/>
              <a:defRPr lang="en-US" sz="3000" b="1" dirty="0">
                <a:solidFill>
                  <a:schemeClr val="tx2"/>
                </a:solidFill>
              </a:defRPr>
            </a:lvl1pPr>
          </a:lstStyle>
          <a:p>
            <a:pPr marL="0" indent="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Caso OPE-DEF-2026-088  ·  Grupo 1  ·  ISO/IEC 27037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rgbClr val="14273E"/>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10058400" cy="365760"/>
          </a:xfrm>
          <a:prstGeom prst="rect">
            <a:avLst/>
          </a:prstGeom>
          <a:noFill/>
          <a:ln/>
        </p:spPr>
        <p:txBody>
          <a:bodyPr wrap="square" lIns="635" tIns="635" rIns="635" bIns="635" rtlCol="0" anchor="t"/>
          <a:lstStyle/>
          <a:p>
            <a:pPr marL="0" indent="0">
              <a:buNone/>
            </a:pPr>
            <a:r>
              <a:rPr lang="en-US" sz="1300" b="1" kern="0" spc="200" dirty="0">
                <a:solidFill>
                  <a:schemeClr val="accent6"/>
                </a:solidFill>
              </a:rPr>
              <a:t>MAESTRÍA EN CIBERSEGURIDAD Y CIBERDEFENSA · INFORMÁTICA FORENSE</a:t>
            </a:r>
            <a:endParaRPr lang="en-US" sz="1300" dirty="0"/>
          </a:p>
        </p:txBody>
      </p:sp>
      <p:sp>
        <p:nvSpPr>
          <p:cNvPr id="3" name="Text 1"/>
          <p:cNvSpPr txBox="1"/>
          <p:nvPr/>
        </p:nvSpPr>
        <p:spPr>
          <a:xfrm>
            <a:off x="640080" y="1188720"/>
            <a:ext cx="6858000" cy="822960"/>
          </a:xfrm>
          <a:prstGeom prst="rect">
            <a:avLst/>
          </a:prstGeom>
          <a:noFill/>
          <a:ln/>
        </p:spPr>
        <p:txBody>
          <a:bodyPr wrap="square" lIns="635" tIns="635" rIns="635" bIns="635" rtlCol="0" anchor="t"/>
          <a:lstStyle/>
          <a:p>
            <a:pPr marL="0" indent="0">
              <a:buNone/>
            </a:pPr>
            <a:r>
              <a:rPr lang="en-US" sz="4400" b="1" dirty="0">
                <a:solidFill>
                  <a:schemeClr val="bg1"/>
                </a:solidFill>
                <a:latin typeface="Cambria" pitchFamily="34" charset="0"/>
                <a:ea typeface="Cambria" pitchFamily="34" charset="-122"/>
                <a:cs typeface="Cambria" pitchFamily="34" charset="-120"/>
              </a:rPr>
              <a:t>Sustentación pericial</a:t>
            </a:r>
            <a:endParaRPr lang="en-US" sz="4400" dirty="0"/>
          </a:p>
        </p:txBody>
      </p:sp>
      <p:sp>
        <p:nvSpPr>
          <p:cNvPr id="4" name="Text 2"/>
          <p:cNvSpPr txBox="1"/>
          <p:nvPr/>
        </p:nvSpPr>
        <p:spPr>
          <a:xfrm>
            <a:off x="640080" y="2011680"/>
            <a:ext cx="6583680" cy="822960"/>
          </a:xfrm>
          <a:prstGeom prst="rect">
            <a:avLst/>
          </a:prstGeom>
          <a:noFill/>
          <a:ln/>
        </p:spPr>
        <p:txBody>
          <a:bodyPr wrap="square" lIns="635" tIns="635" rIns="635" bIns="635" rtlCol="0" anchor="t"/>
          <a:lstStyle/>
          <a:p>
            <a:pPr marL="0" indent="0">
              <a:buNone/>
            </a:pPr>
            <a:r>
              <a:rPr lang="en-US" sz="2000" dirty="0">
                <a:solidFill>
                  <a:schemeClr val="bg1"/>
                </a:solidFill>
              </a:rPr>
              <a:t>Estación de operaciones crítica encendida con volúmenes cifrados</a:t>
            </a:r>
            <a:endParaRPr lang="en-US" sz="2000" dirty="0"/>
          </a:p>
        </p:txBody>
      </p:sp>
      <p:sp>
        <p:nvSpPr>
          <p:cNvPr id="5" name="caso"/>
          <p:cNvSpPr/>
          <p:nvPr/>
        </p:nvSpPr>
        <p:spPr>
          <a:xfrm>
            <a:off x="640080" y="3063240"/>
            <a:ext cx="3566160" cy="502920"/>
          </a:xfrm>
          <a:prstGeom prst="roundRect">
            <a:avLst>
              <a:gd name="adj" fmla="val 14545"/>
            </a:avLst>
          </a:prstGeom>
          <a:solidFill>
            <a:srgbClr val="F2A900"/>
          </a:solidFill>
          <a:ln w="12700">
            <a:solidFill>
              <a:srgbClr val="F2A900"/>
            </a:solidFill>
            <a:prstDash val="solid"/>
          </a:ln>
        </p:spPr>
        <p:txBody>
          <a:bodyPr/>
          <a:lstStyle/>
          <a:p>
            <a:endParaRPr lang="es-CO"/>
          </a:p>
        </p:txBody>
      </p:sp>
      <p:sp>
        <p:nvSpPr>
          <p:cNvPr id="6" name="Text 4"/>
          <p:cNvSpPr txBox="1"/>
          <p:nvPr/>
        </p:nvSpPr>
        <p:spPr>
          <a:xfrm>
            <a:off x="640080" y="3063240"/>
            <a:ext cx="3566160" cy="502920"/>
          </a:xfrm>
          <a:prstGeom prst="rect">
            <a:avLst/>
          </a:prstGeom>
          <a:noFill/>
          <a:ln/>
        </p:spPr>
        <p:txBody>
          <a:bodyPr wrap="square" lIns="635" tIns="635" rIns="635" bIns="635" rtlCol="0" anchor="ctr"/>
          <a:lstStyle/>
          <a:p>
            <a:pPr marL="0" indent="0" algn="ctr">
              <a:buNone/>
            </a:pPr>
            <a:r>
              <a:rPr lang="en-US" sz="1800" b="1" dirty="0">
                <a:solidFill>
                  <a:schemeClr val="tx2"/>
                </a:solidFill>
              </a:rPr>
              <a:t>Caso OPE-DEF-2026-088</a:t>
            </a:r>
            <a:endParaRPr lang="en-US" sz="1800" dirty="0"/>
          </a:p>
        </p:txBody>
      </p:sp>
      <p:sp>
        <p:nvSpPr>
          <p:cNvPr id="7" name="Text 5"/>
          <p:cNvSpPr txBox="1"/>
          <p:nvPr/>
        </p:nvSpPr>
        <p:spPr>
          <a:xfrm>
            <a:off x="640080" y="3840480"/>
            <a:ext cx="6583680" cy="1280160"/>
          </a:xfrm>
          <a:prstGeom prst="rect">
            <a:avLst/>
          </a:prstGeom>
          <a:noFill/>
          <a:ln/>
        </p:spPr>
        <p:txBody>
          <a:bodyPr wrap="square" lIns="635" tIns="635" rIns="635" bIns="635" rtlCol="0" anchor="t"/>
          <a:lstStyle/>
          <a:p>
            <a:pPr marL="0" indent="0">
              <a:buNone/>
            </a:pPr>
            <a:r>
              <a:rPr lang="en-US" sz="1300" dirty="0">
                <a:solidFill>
                  <a:schemeClr val="accent6"/>
                </a:solidFill>
              </a:rPr>
              <a:t>Intervención: 15/10/2026 – 09:15 h</a:t>
            </a:r>
            <a:endParaRPr lang="en-US" sz="1300" dirty="0"/>
          </a:p>
          <a:p>
            <a:pPr marL="0" indent="0">
              <a:buNone/>
            </a:pPr>
            <a:r>
              <a:rPr lang="en-US" sz="1300" dirty="0">
                <a:solidFill>
                  <a:schemeClr val="accent6"/>
                </a:solidFill>
              </a:rPr>
              <a:t>Oficina del Director de Proyectos Especiales – Comando Conjunto de Ciberdefensa</a:t>
            </a:r>
            <a:endParaRPr lang="en-US" sz="1300" dirty="0"/>
          </a:p>
          <a:p>
            <a:pPr marL="0" indent="0">
              <a:buNone/>
            </a:pPr>
            <a:r>
              <a:rPr lang="en-US" sz="1300" dirty="0">
                <a:solidFill>
                  <a:schemeClr val="accent6"/>
                </a:solidFill>
              </a:rPr>
              <a:t>Mandato: orden judicial de registro y recolección de EMP/EF digital (Ley 906 de 2004)</a:t>
            </a:r>
            <a:endParaRPr lang="en-US" sz="1300" dirty="0"/>
          </a:p>
        </p:txBody>
      </p:sp>
      <p:sp>
        <p:nvSpPr>
          <p:cNvPr id="8" name="roles"/>
          <p:cNvSpPr/>
          <p:nvPr/>
        </p:nvSpPr>
        <p:spPr>
          <a:xfrm>
            <a:off x="7772400" y="1188720"/>
            <a:ext cx="3840480" cy="4754880"/>
          </a:xfrm>
          <a:prstGeom prst="roundRect">
            <a:avLst>
              <a:gd name="adj" fmla="val 1905"/>
            </a:avLst>
          </a:prstGeom>
          <a:solidFill>
            <a:srgbClr val="1F3A5F"/>
          </a:solidFill>
          <a:ln w="12700">
            <a:solidFill>
              <a:srgbClr val="1F3A5F"/>
            </a:solidFill>
            <a:prstDash val="solid"/>
          </a:ln>
        </p:spPr>
        <p:txBody>
          <a:bodyPr/>
          <a:lstStyle/>
          <a:p>
            <a:endParaRPr lang="es-CO"/>
          </a:p>
        </p:txBody>
      </p:sp>
      <p:sp>
        <p:nvSpPr>
          <p:cNvPr id="9" name="Text 7"/>
          <p:cNvSpPr txBox="1"/>
          <p:nvPr/>
        </p:nvSpPr>
        <p:spPr>
          <a:xfrm>
            <a:off x="8001000" y="1325880"/>
            <a:ext cx="3474720" cy="411480"/>
          </a:xfrm>
          <a:prstGeom prst="rect">
            <a:avLst/>
          </a:prstGeom>
          <a:noFill/>
          <a:ln/>
        </p:spPr>
        <p:txBody>
          <a:bodyPr wrap="square" lIns="635" tIns="635" rIns="635" bIns="635" rtlCol="0" anchor="t"/>
          <a:lstStyle/>
          <a:p>
            <a:pPr marL="0" indent="0">
              <a:buNone/>
            </a:pPr>
            <a:r>
              <a:rPr lang="en-US" sz="1600" b="1" dirty="0">
                <a:solidFill>
                  <a:schemeClr val="accent2"/>
                </a:solidFill>
              </a:rPr>
              <a:t>Equipo pericial · Grupo 2</a:t>
            </a:r>
            <a:endParaRPr lang="en-US" sz="1600" dirty="0"/>
          </a:p>
        </p:txBody>
      </p:sp>
      <p:sp>
        <p:nvSpPr>
          <p:cNvPr id="10" name="Shape 8"/>
          <p:cNvSpPr/>
          <p:nvPr/>
        </p:nvSpPr>
        <p:spPr>
          <a:xfrm>
            <a:off x="8001000" y="1947672"/>
            <a:ext cx="457200" cy="457200"/>
          </a:xfrm>
          <a:prstGeom prst="ellipse">
            <a:avLst/>
          </a:prstGeom>
          <a:solidFill>
            <a:srgbClr val="F2A900"/>
          </a:solidFill>
          <a:ln w="12700">
            <a:solidFill>
              <a:srgbClr val="F2A900"/>
            </a:solidFill>
            <a:prstDash val="solid"/>
          </a:ln>
        </p:spPr>
        <p:txBody>
          <a:bodyPr/>
          <a:lstStyle/>
          <a:p>
            <a:endParaRPr lang="es-CO"/>
          </a:p>
        </p:txBody>
      </p:sp>
      <p:sp>
        <p:nvSpPr>
          <p:cNvPr id="11" name="Text 9"/>
          <p:cNvSpPr txBox="1"/>
          <p:nvPr/>
        </p:nvSpPr>
        <p:spPr>
          <a:xfrm>
            <a:off x="8001000" y="1947672"/>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12" name="Text 10"/>
          <p:cNvSpPr txBox="1"/>
          <p:nvPr/>
        </p:nvSpPr>
        <p:spPr>
          <a:xfrm>
            <a:off x="8595360" y="1874520"/>
            <a:ext cx="2926080" cy="822960"/>
          </a:xfrm>
          <a:prstGeom prst="rect">
            <a:avLst/>
          </a:prstGeom>
          <a:noFill/>
          <a:ln/>
        </p:spPr>
        <p:txBody>
          <a:bodyPr wrap="square" lIns="635" tIns="635" rIns="635" bIns="635" rtlCol="0" anchor="t"/>
          <a:lstStyle/>
          <a:p>
            <a:pPr marL="0" indent="0">
              <a:buNone/>
            </a:pPr>
            <a:r>
              <a:rPr lang="en-US" sz="1500" b="1" dirty="0">
                <a:solidFill>
                  <a:srgbClr val="FFFFFF"/>
                </a:solidFill>
              </a:rPr>
              <a:t>Johan Camilo Tamara</a:t>
            </a:r>
            <a:endParaRPr lang="en-US" sz="1400" dirty="0"/>
          </a:p>
          <a:p>
            <a:pPr marL="0" indent="0">
              <a:buNone/>
            </a:pPr>
            <a:r>
              <a:rPr lang="en-US" sz="1200" dirty="0">
                <a:solidFill>
                  <a:srgbClr val="CADCFC"/>
                </a:solidFill>
              </a:rPr>
              <a:t>DEFR Líder de Escena</a:t>
            </a:r>
            <a:endParaRPr lang="en-US" sz="1400" dirty="0"/>
          </a:p>
        </p:txBody>
      </p:sp>
      <p:sp>
        <p:nvSpPr>
          <p:cNvPr id="13" name="Shape 11"/>
          <p:cNvSpPr/>
          <p:nvPr/>
        </p:nvSpPr>
        <p:spPr>
          <a:xfrm>
            <a:off x="8001000" y="2935224"/>
            <a:ext cx="457200" cy="457200"/>
          </a:xfrm>
          <a:prstGeom prst="ellipse">
            <a:avLst/>
          </a:prstGeom>
          <a:solidFill>
            <a:srgbClr val="F2A900"/>
          </a:solidFill>
          <a:ln w="12700">
            <a:solidFill>
              <a:srgbClr val="F2A900"/>
            </a:solidFill>
            <a:prstDash val="solid"/>
          </a:ln>
        </p:spPr>
        <p:txBody>
          <a:bodyPr/>
          <a:lstStyle/>
          <a:p>
            <a:endParaRPr lang="es-CO"/>
          </a:p>
        </p:txBody>
      </p:sp>
      <p:sp>
        <p:nvSpPr>
          <p:cNvPr id="14" name="Text 12"/>
          <p:cNvSpPr txBox="1"/>
          <p:nvPr/>
        </p:nvSpPr>
        <p:spPr>
          <a:xfrm>
            <a:off x="8001000" y="2935224"/>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15" name="Text 13"/>
          <p:cNvSpPr txBox="1"/>
          <p:nvPr/>
        </p:nvSpPr>
        <p:spPr>
          <a:xfrm>
            <a:off x="8595360" y="2862072"/>
            <a:ext cx="2926080" cy="822960"/>
          </a:xfrm>
          <a:prstGeom prst="rect">
            <a:avLst/>
          </a:prstGeom>
          <a:noFill/>
          <a:ln/>
        </p:spPr>
        <p:txBody>
          <a:bodyPr wrap="square" lIns="635" tIns="635" rIns="635" bIns="635" rtlCol="0" anchor="t"/>
          <a:lstStyle/>
          <a:p>
            <a:pPr marL="0" indent="0">
              <a:buNone/>
            </a:pPr>
            <a:r>
              <a:rPr lang="en-US" sz="1500" b="1" dirty="0">
                <a:solidFill>
                  <a:srgbClr val="FFFFFF"/>
                </a:solidFill>
              </a:rPr>
              <a:t>Natalia Forero Lozano</a:t>
            </a:r>
          </a:p>
          <a:p>
            <a:pPr marL="0" indent="0">
              <a:buNone/>
            </a:pPr>
            <a:r>
              <a:rPr lang="en-US" sz="1200" dirty="0" err="1">
                <a:solidFill>
                  <a:srgbClr val="CADCFC"/>
                </a:solidFill>
              </a:rPr>
              <a:t>Especialista</a:t>
            </a:r>
            <a:r>
              <a:rPr lang="en-US" sz="1200" dirty="0">
                <a:solidFill>
                  <a:srgbClr val="CADCFC"/>
                </a:solidFill>
              </a:rPr>
              <a:t> en </a:t>
            </a:r>
            <a:r>
              <a:rPr lang="en-US" sz="1200" dirty="0" err="1">
                <a:solidFill>
                  <a:srgbClr val="CADCFC"/>
                </a:solidFill>
              </a:rPr>
              <a:t>Evidencia</a:t>
            </a:r>
            <a:r>
              <a:rPr lang="en-US" sz="1200" dirty="0">
                <a:solidFill>
                  <a:srgbClr val="CADCFC"/>
                </a:solidFill>
              </a:rPr>
              <a:t> Digital (DES)</a:t>
            </a:r>
            <a:endParaRPr lang="en-US" sz="1400" dirty="0"/>
          </a:p>
        </p:txBody>
      </p:sp>
      <p:sp>
        <p:nvSpPr>
          <p:cNvPr id="16" name="Shape 14"/>
          <p:cNvSpPr/>
          <p:nvPr/>
        </p:nvSpPr>
        <p:spPr>
          <a:xfrm>
            <a:off x="8001000" y="3922776"/>
            <a:ext cx="457200" cy="457200"/>
          </a:xfrm>
          <a:prstGeom prst="ellipse">
            <a:avLst/>
          </a:prstGeom>
          <a:solidFill>
            <a:srgbClr val="F2A900"/>
          </a:solidFill>
          <a:ln w="12700">
            <a:solidFill>
              <a:srgbClr val="F2A900"/>
            </a:solidFill>
            <a:prstDash val="solid"/>
          </a:ln>
        </p:spPr>
        <p:txBody>
          <a:bodyPr/>
          <a:lstStyle/>
          <a:p>
            <a:endParaRPr lang="es-CO"/>
          </a:p>
        </p:txBody>
      </p:sp>
      <p:sp>
        <p:nvSpPr>
          <p:cNvPr id="17" name="Text 15"/>
          <p:cNvSpPr txBox="1"/>
          <p:nvPr/>
        </p:nvSpPr>
        <p:spPr>
          <a:xfrm>
            <a:off x="8001000" y="3922776"/>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18" name="Text 16"/>
          <p:cNvSpPr txBox="1"/>
          <p:nvPr/>
        </p:nvSpPr>
        <p:spPr>
          <a:xfrm>
            <a:off x="8595360" y="3849624"/>
            <a:ext cx="2926080" cy="822960"/>
          </a:xfrm>
          <a:prstGeom prst="rect">
            <a:avLst/>
          </a:prstGeom>
          <a:noFill/>
          <a:ln/>
        </p:spPr>
        <p:txBody>
          <a:bodyPr wrap="square" lIns="635" tIns="635" rIns="635" bIns="635" rtlCol="0" anchor="t"/>
          <a:lstStyle/>
          <a:p>
            <a:pPr marL="0" indent="0">
              <a:buNone/>
            </a:pPr>
            <a:r>
              <a:rPr lang="en-US" sz="1500" b="1" dirty="0">
                <a:solidFill>
                  <a:srgbClr val="FFFFFF"/>
                </a:solidFill>
              </a:rPr>
              <a:t>Laura Angélica Gutierrez</a:t>
            </a:r>
            <a:endParaRPr lang="en-US" sz="1400" dirty="0"/>
          </a:p>
          <a:p>
            <a:pPr marL="0" indent="0">
              <a:buNone/>
            </a:pPr>
            <a:r>
              <a:rPr lang="en-US" sz="1200" dirty="0">
                <a:solidFill>
                  <a:srgbClr val="CADCFC"/>
                </a:solidFill>
              </a:rPr>
              <a:t>Oficial de Registro y Cadena de Custodia</a:t>
            </a:r>
            <a:endParaRPr lang="en-US" sz="1400" dirty="0"/>
          </a:p>
        </p:txBody>
      </p:sp>
      <p:sp>
        <p:nvSpPr>
          <p:cNvPr id="19" name="Shape 17"/>
          <p:cNvSpPr/>
          <p:nvPr/>
        </p:nvSpPr>
        <p:spPr>
          <a:xfrm>
            <a:off x="8001000" y="4910328"/>
            <a:ext cx="457200" cy="457200"/>
          </a:xfrm>
          <a:prstGeom prst="ellipse">
            <a:avLst/>
          </a:prstGeom>
          <a:solidFill>
            <a:srgbClr val="F2A900"/>
          </a:solidFill>
          <a:ln w="12700">
            <a:solidFill>
              <a:srgbClr val="F2A900"/>
            </a:solidFill>
            <a:prstDash val="solid"/>
          </a:ln>
        </p:spPr>
        <p:txBody>
          <a:bodyPr/>
          <a:lstStyle/>
          <a:p>
            <a:endParaRPr lang="es-CO"/>
          </a:p>
        </p:txBody>
      </p:sp>
      <p:sp>
        <p:nvSpPr>
          <p:cNvPr id="20" name="Text 18"/>
          <p:cNvSpPr txBox="1"/>
          <p:nvPr/>
        </p:nvSpPr>
        <p:spPr>
          <a:xfrm>
            <a:off x="8001000" y="4910328"/>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4</a:t>
            </a:r>
            <a:endParaRPr lang="en-US" sz="1600" dirty="0"/>
          </a:p>
        </p:txBody>
      </p:sp>
      <p:sp>
        <p:nvSpPr>
          <p:cNvPr id="21" name="Text 19"/>
          <p:cNvSpPr txBox="1"/>
          <p:nvPr/>
        </p:nvSpPr>
        <p:spPr>
          <a:xfrm>
            <a:off x="8595360" y="4837176"/>
            <a:ext cx="2926080" cy="822960"/>
          </a:xfrm>
          <a:prstGeom prst="rect">
            <a:avLst/>
          </a:prstGeom>
          <a:noFill/>
          <a:ln/>
        </p:spPr>
        <p:txBody>
          <a:bodyPr wrap="square" lIns="635" tIns="635" rIns="635" bIns="635" rtlCol="0" anchor="t"/>
          <a:lstStyle/>
          <a:p>
            <a:pPr marL="0" indent="0">
              <a:buNone/>
            </a:pPr>
            <a:r>
              <a:rPr lang="en-US" sz="1500" b="1" dirty="0">
                <a:solidFill>
                  <a:srgbClr val="FFFFFF"/>
                </a:solidFill>
              </a:rPr>
              <a:t>Ayda Castro Suárez</a:t>
            </a:r>
            <a:endParaRPr lang="en-US" sz="1400" dirty="0"/>
          </a:p>
          <a:p>
            <a:pPr marL="0" indent="0">
              <a:buNone/>
            </a:pPr>
            <a:r>
              <a:rPr lang="en-US" sz="1200" dirty="0">
                <a:solidFill>
                  <a:srgbClr val="CADCFC"/>
                </a:solidFill>
              </a:rPr>
              <a:t>Auditor de Calidad y Cumplimiento Normativo</a:t>
            </a:r>
            <a:endParaRPr lang="en-US" sz="1400" dirty="0"/>
          </a:p>
        </p:txBody>
      </p:sp>
      <p:sp>
        <p:nvSpPr>
          <p:cNvPr id="22" name="Text 20"/>
          <p:cNvSpPr txBox="1"/>
          <p:nvPr/>
        </p:nvSpPr>
        <p:spPr>
          <a:xfrm>
            <a:off x="640080" y="6217920"/>
            <a:ext cx="6400800" cy="274320"/>
          </a:xfrm>
          <a:prstGeom prst="rect">
            <a:avLst/>
          </a:prstGeom>
          <a:noFill/>
          <a:ln/>
        </p:spPr>
        <p:txBody>
          <a:bodyPr wrap="square" lIns="635" tIns="635" rIns="635" bIns="635" rtlCol="0" anchor="t"/>
          <a:lstStyle/>
          <a:p>
            <a:pPr marL="0" indent="0">
              <a:buNone/>
            </a:pPr>
            <a:r>
              <a:rPr lang="en-US" sz="1000" i="1" dirty="0">
                <a:solidFill>
                  <a:schemeClr val="accent5"/>
                </a:solidFill>
              </a:rPr>
              <a:t>Valores técnicos simulados con fines académicos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Escena intervenida y alcance del mandato</a:t>
            </a:r>
            <a:endParaRPr lang="en-US" sz="3000" dirty="0"/>
          </a:p>
        </p:txBody>
      </p:sp>
      <p:sp>
        <p:nvSpPr>
          <p:cNvPr id="3" name="Text 1"/>
          <p:cNvSpPr txBox="1"/>
          <p:nvPr/>
        </p:nvSpPr>
        <p:spPr>
          <a:xfrm>
            <a:off x="548640" y="1234440"/>
            <a:ext cx="5486400" cy="365760"/>
          </a:xfrm>
          <a:prstGeom prst="rect">
            <a:avLst/>
          </a:prstGeom>
          <a:noFill/>
          <a:ln/>
        </p:spPr>
        <p:txBody>
          <a:bodyPr wrap="square" lIns="635" tIns="635" rIns="635" bIns="635" rtlCol="0" anchor="t"/>
          <a:lstStyle/>
          <a:p>
            <a:pPr marL="0" indent="0">
              <a:buNone/>
            </a:pPr>
            <a:r>
              <a:rPr lang="en-US" sz="1800" b="1" dirty="0">
                <a:solidFill>
                  <a:schemeClr val="accent1"/>
                </a:solidFill>
              </a:rPr>
              <a:t>Situación al arribo – 09:15 h</a:t>
            </a:r>
            <a:endParaRPr lang="en-US" sz="1800" dirty="0"/>
          </a:p>
        </p:txBody>
      </p:sp>
      <p:sp>
        <p:nvSpPr>
          <p:cNvPr id="4" name="tag0"/>
          <p:cNvSpPr/>
          <p:nvPr/>
        </p:nvSpPr>
        <p:spPr>
          <a:xfrm>
            <a:off x="548640" y="1737360"/>
            <a:ext cx="1051560" cy="512064"/>
          </a:xfrm>
          <a:prstGeom prst="roundRect">
            <a:avLst>
              <a:gd name="adj" fmla="val 14286"/>
            </a:avLst>
          </a:prstGeom>
          <a:solidFill>
            <a:srgbClr val="F2A900"/>
          </a:solidFill>
          <a:ln w="12700">
            <a:solidFill>
              <a:srgbClr val="F2A900"/>
            </a:solidFill>
            <a:prstDash val="solid"/>
          </a:ln>
        </p:spPr>
        <p:txBody>
          <a:bodyPr/>
          <a:lstStyle/>
          <a:p>
            <a:endParaRPr lang="es-CO"/>
          </a:p>
        </p:txBody>
      </p:sp>
      <p:sp>
        <p:nvSpPr>
          <p:cNvPr id="5" name="Text 3"/>
          <p:cNvSpPr txBox="1"/>
          <p:nvPr/>
        </p:nvSpPr>
        <p:spPr>
          <a:xfrm>
            <a:off x="548640" y="1737360"/>
            <a:ext cx="1051560" cy="512064"/>
          </a:xfrm>
          <a:prstGeom prst="rect">
            <a:avLst/>
          </a:prstGeom>
          <a:noFill/>
          <a:ln/>
        </p:spPr>
        <p:txBody>
          <a:bodyPr wrap="square" lIns="0" tIns="0" rIns="0" bIns="0" rtlCol="0" anchor="ctr"/>
          <a:lstStyle/>
          <a:p>
            <a:pPr marL="0" indent="0" algn="ctr">
              <a:buNone/>
            </a:pPr>
            <a:r>
              <a:rPr lang="en-US" sz="1300" b="1" dirty="0">
                <a:solidFill>
                  <a:schemeClr val="tx2"/>
                </a:solidFill>
              </a:rPr>
              <a:t>G1-E01</a:t>
            </a:r>
            <a:endParaRPr lang="en-US" sz="1300" dirty="0"/>
          </a:p>
        </p:txBody>
      </p:sp>
      <p:sp>
        <p:nvSpPr>
          <p:cNvPr id="6" name="Text 4"/>
          <p:cNvSpPr txBox="1"/>
          <p:nvPr/>
        </p:nvSpPr>
        <p:spPr>
          <a:xfrm>
            <a:off x="1737360" y="1737360"/>
            <a:ext cx="4480560" cy="512064"/>
          </a:xfrm>
          <a:prstGeom prst="rect">
            <a:avLst/>
          </a:prstGeom>
          <a:noFill/>
          <a:ln/>
        </p:spPr>
        <p:txBody>
          <a:bodyPr wrap="square" lIns="635" tIns="635" rIns="635" bIns="635" rtlCol="0" anchor="ctr"/>
          <a:lstStyle/>
          <a:p>
            <a:pPr marL="0" indent="0">
              <a:buNone/>
            </a:pPr>
            <a:r>
              <a:rPr lang="en-US" sz="1400" dirty="0">
                <a:solidFill>
                  <a:schemeClr val="tx1"/>
                </a:solidFill>
              </a:rPr>
              <a:t>Torre Dell 5820 encendida · 64 GB RAM · 2× NVMe RAID 0 · red activa</a:t>
            </a:r>
            <a:endParaRPr lang="en-US" sz="1400" dirty="0"/>
          </a:p>
        </p:txBody>
      </p:sp>
      <p:sp>
        <p:nvSpPr>
          <p:cNvPr id="7" name="tag1"/>
          <p:cNvSpPr/>
          <p:nvPr/>
        </p:nvSpPr>
        <p:spPr>
          <a:xfrm>
            <a:off x="548640" y="2395728"/>
            <a:ext cx="1051560" cy="512064"/>
          </a:xfrm>
          <a:prstGeom prst="roundRect">
            <a:avLst>
              <a:gd name="adj" fmla="val 14286"/>
            </a:avLst>
          </a:prstGeom>
          <a:solidFill>
            <a:srgbClr val="F2A900"/>
          </a:solidFill>
          <a:ln w="12700">
            <a:solidFill>
              <a:srgbClr val="F2A900"/>
            </a:solidFill>
            <a:prstDash val="solid"/>
          </a:ln>
        </p:spPr>
        <p:txBody>
          <a:bodyPr/>
          <a:lstStyle/>
          <a:p>
            <a:endParaRPr lang="es-CO"/>
          </a:p>
        </p:txBody>
      </p:sp>
      <p:sp>
        <p:nvSpPr>
          <p:cNvPr id="8" name="Text 6"/>
          <p:cNvSpPr txBox="1"/>
          <p:nvPr/>
        </p:nvSpPr>
        <p:spPr>
          <a:xfrm>
            <a:off x="548640" y="2395728"/>
            <a:ext cx="1051560" cy="512064"/>
          </a:xfrm>
          <a:prstGeom prst="rect">
            <a:avLst/>
          </a:prstGeom>
          <a:noFill/>
          <a:ln/>
        </p:spPr>
        <p:txBody>
          <a:bodyPr wrap="square" lIns="0" tIns="0" rIns="0" bIns="0" rtlCol="0" anchor="ctr"/>
          <a:lstStyle/>
          <a:p>
            <a:pPr marL="0" indent="0" algn="ctr">
              <a:buNone/>
            </a:pPr>
            <a:r>
              <a:rPr lang="en-US" sz="1300" b="1" dirty="0">
                <a:solidFill>
                  <a:schemeClr val="tx2"/>
                </a:solidFill>
              </a:rPr>
              <a:t>V:\</a:t>
            </a:r>
            <a:endParaRPr lang="en-US" sz="1300" dirty="0"/>
          </a:p>
        </p:txBody>
      </p:sp>
      <p:sp>
        <p:nvSpPr>
          <p:cNvPr id="9" name="Text 7"/>
          <p:cNvSpPr txBox="1"/>
          <p:nvPr/>
        </p:nvSpPr>
        <p:spPr>
          <a:xfrm>
            <a:off x="1737360" y="2395728"/>
            <a:ext cx="4480560" cy="512064"/>
          </a:xfrm>
          <a:prstGeom prst="rect">
            <a:avLst/>
          </a:prstGeom>
          <a:noFill/>
          <a:ln/>
        </p:spPr>
        <p:txBody>
          <a:bodyPr wrap="square" lIns="635" tIns="635" rIns="635" bIns="635" rtlCol="0" anchor="ctr"/>
          <a:lstStyle/>
          <a:p>
            <a:pPr marL="0" indent="0">
              <a:buNone/>
            </a:pPr>
            <a:r>
              <a:rPr lang="en-US" sz="1400" dirty="0">
                <a:solidFill>
                  <a:schemeClr val="tx1"/>
                </a:solidFill>
              </a:rPr>
              <a:t>Volumen seguro cifrado MONTADO y legible</a:t>
            </a:r>
            <a:endParaRPr lang="en-US" sz="1400" dirty="0"/>
          </a:p>
        </p:txBody>
      </p:sp>
      <p:sp>
        <p:nvSpPr>
          <p:cNvPr id="10" name="tag2"/>
          <p:cNvSpPr/>
          <p:nvPr/>
        </p:nvSpPr>
        <p:spPr>
          <a:xfrm>
            <a:off x="548640" y="3054096"/>
            <a:ext cx="1051560" cy="512064"/>
          </a:xfrm>
          <a:prstGeom prst="roundRect">
            <a:avLst>
              <a:gd name="adj" fmla="val 14286"/>
            </a:avLst>
          </a:prstGeom>
          <a:solidFill>
            <a:srgbClr val="F2A900"/>
          </a:solidFill>
          <a:ln w="12700">
            <a:solidFill>
              <a:srgbClr val="F2A900"/>
            </a:solidFill>
            <a:prstDash val="solid"/>
          </a:ln>
        </p:spPr>
        <p:txBody>
          <a:bodyPr/>
          <a:lstStyle/>
          <a:p>
            <a:endParaRPr lang="es-CO"/>
          </a:p>
        </p:txBody>
      </p:sp>
      <p:sp>
        <p:nvSpPr>
          <p:cNvPr id="11" name="Text 9"/>
          <p:cNvSpPr txBox="1"/>
          <p:nvPr/>
        </p:nvSpPr>
        <p:spPr>
          <a:xfrm>
            <a:off x="548640" y="3054096"/>
            <a:ext cx="1051560" cy="512064"/>
          </a:xfrm>
          <a:prstGeom prst="rect">
            <a:avLst/>
          </a:prstGeom>
          <a:noFill/>
          <a:ln/>
        </p:spPr>
        <p:txBody>
          <a:bodyPr wrap="square" lIns="0" tIns="0" rIns="0" bIns="0" rtlCol="0" anchor="ctr"/>
          <a:lstStyle/>
          <a:p>
            <a:pPr marL="0" indent="0" algn="ctr">
              <a:buNone/>
            </a:pPr>
            <a:r>
              <a:rPr lang="en-US" sz="1300" b="1" dirty="0">
                <a:solidFill>
                  <a:schemeClr val="tx2"/>
                </a:solidFill>
              </a:rPr>
              <a:t>PS</a:t>
            </a:r>
            <a:endParaRPr lang="en-US" sz="1300" dirty="0"/>
          </a:p>
        </p:txBody>
      </p:sp>
      <p:sp>
        <p:nvSpPr>
          <p:cNvPr id="12" name="Text 10"/>
          <p:cNvSpPr txBox="1"/>
          <p:nvPr/>
        </p:nvSpPr>
        <p:spPr>
          <a:xfrm>
            <a:off x="1737360" y="3054096"/>
            <a:ext cx="4480560" cy="512064"/>
          </a:xfrm>
          <a:prstGeom prst="rect">
            <a:avLst/>
          </a:prstGeom>
          <a:noFill/>
          <a:ln/>
        </p:spPr>
        <p:txBody>
          <a:bodyPr wrap="square" lIns="635" tIns="635" rIns="635" bIns="635" rtlCol="0" anchor="ctr"/>
          <a:lstStyle/>
          <a:p>
            <a:pPr marL="0" indent="0">
              <a:buNone/>
            </a:pPr>
            <a:r>
              <a:rPr lang="en-US" sz="1400" dirty="0">
                <a:solidFill>
                  <a:schemeClr val="tx1"/>
                </a:solidFill>
              </a:rPr>
              <a:t>2 consolas PowerShell + mensajería cifrada activa</a:t>
            </a:r>
            <a:endParaRPr lang="en-US" sz="1400" dirty="0"/>
          </a:p>
        </p:txBody>
      </p:sp>
      <p:sp>
        <p:nvSpPr>
          <p:cNvPr id="13" name="tag3"/>
          <p:cNvSpPr/>
          <p:nvPr/>
        </p:nvSpPr>
        <p:spPr>
          <a:xfrm>
            <a:off x="548640" y="3712464"/>
            <a:ext cx="1051560" cy="512064"/>
          </a:xfrm>
          <a:prstGeom prst="roundRect">
            <a:avLst>
              <a:gd name="adj" fmla="val 14286"/>
            </a:avLst>
          </a:prstGeom>
          <a:solidFill>
            <a:srgbClr val="EEF2F7"/>
          </a:solidFill>
          <a:ln w="12700">
            <a:solidFill>
              <a:srgbClr val="EEF2F7"/>
            </a:solidFill>
            <a:prstDash val="solid"/>
          </a:ln>
        </p:spPr>
        <p:txBody>
          <a:bodyPr/>
          <a:lstStyle/>
          <a:p>
            <a:endParaRPr lang="es-CO"/>
          </a:p>
        </p:txBody>
      </p:sp>
      <p:sp>
        <p:nvSpPr>
          <p:cNvPr id="14" name="Text 12"/>
          <p:cNvSpPr txBox="1"/>
          <p:nvPr/>
        </p:nvSpPr>
        <p:spPr>
          <a:xfrm>
            <a:off x="548640" y="3712464"/>
            <a:ext cx="1051560" cy="512064"/>
          </a:xfrm>
          <a:prstGeom prst="rect">
            <a:avLst/>
          </a:prstGeom>
          <a:noFill/>
          <a:ln/>
        </p:spPr>
        <p:txBody>
          <a:bodyPr wrap="square" lIns="0" tIns="0" rIns="0" bIns="0" rtlCol="0" anchor="ctr"/>
          <a:lstStyle/>
          <a:p>
            <a:pPr marL="0" indent="0" algn="ctr">
              <a:buNone/>
            </a:pPr>
            <a:r>
              <a:rPr lang="en-US" sz="1300" b="1" dirty="0">
                <a:solidFill>
                  <a:schemeClr val="tx2"/>
                </a:solidFill>
              </a:rPr>
              <a:t>G1-E03</a:t>
            </a:r>
            <a:endParaRPr lang="en-US" sz="1300" dirty="0"/>
          </a:p>
        </p:txBody>
      </p:sp>
      <p:sp>
        <p:nvSpPr>
          <p:cNvPr id="15" name="Text 13"/>
          <p:cNvSpPr txBox="1"/>
          <p:nvPr/>
        </p:nvSpPr>
        <p:spPr>
          <a:xfrm>
            <a:off x="1737360" y="3712464"/>
            <a:ext cx="4480560" cy="512064"/>
          </a:xfrm>
          <a:prstGeom prst="rect">
            <a:avLst/>
          </a:prstGeom>
          <a:noFill/>
          <a:ln/>
        </p:spPr>
        <p:txBody>
          <a:bodyPr wrap="square" lIns="635" tIns="635" rIns="635" bIns="635" rtlCol="0" anchor="ctr"/>
          <a:lstStyle/>
          <a:p>
            <a:pPr marL="0" indent="0">
              <a:buNone/>
            </a:pPr>
            <a:r>
              <a:rPr lang="en-US" sz="1400" dirty="0">
                <a:solidFill>
                  <a:schemeClr val="tx1"/>
                </a:solidFill>
              </a:rPr>
              <a:t>Mouse jiggler mantiene la sesión desbloqueada</a:t>
            </a:r>
            <a:endParaRPr lang="en-US" sz="1400" dirty="0"/>
          </a:p>
        </p:txBody>
      </p:sp>
      <p:sp>
        <p:nvSpPr>
          <p:cNvPr id="16" name="tag4"/>
          <p:cNvSpPr/>
          <p:nvPr/>
        </p:nvSpPr>
        <p:spPr>
          <a:xfrm>
            <a:off x="548640" y="4370832"/>
            <a:ext cx="1051560" cy="512064"/>
          </a:xfrm>
          <a:prstGeom prst="roundRect">
            <a:avLst>
              <a:gd name="adj" fmla="val 14286"/>
            </a:avLst>
          </a:prstGeom>
          <a:solidFill>
            <a:srgbClr val="EEF2F7"/>
          </a:solidFill>
          <a:ln w="12700">
            <a:solidFill>
              <a:srgbClr val="EEF2F7"/>
            </a:solidFill>
            <a:prstDash val="solid"/>
          </a:ln>
        </p:spPr>
        <p:txBody>
          <a:bodyPr/>
          <a:lstStyle/>
          <a:p>
            <a:endParaRPr lang="es-CO"/>
          </a:p>
        </p:txBody>
      </p:sp>
      <p:sp>
        <p:nvSpPr>
          <p:cNvPr id="17" name="Text 15"/>
          <p:cNvSpPr txBox="1"/>
          <p:nvPr/>
        </p:nvSpPr>
        <p:spPr>
          <a:xfrm>
            <a:off x="548640" y="4370832"/>
            <a:ext cx="1051560" cy="512064"/>
          </a:xfrm>
          <a:prstGeom prst="rect">
            <a:avLst/>
          </a:prstGeom>
          <a:noFill/>
          <a:ln/>
        </p:spPr>
        <p:txBody>
          <a:bodyPr wrap="square" lIns="0" tIns="0" rIns="0" bIns="0" rtlCol="0" anchor="ctr"/>
          <a:lstStyle/>
          <a:p>
            <a:pPr marL="0" indent="0" algn="ctr">
              <a:buNone/>
            </a:pPr>
            <a:r>
              <a:rPr lang="en-US" sz="1300" b="1" dirty="0">
                <a:solidFill>
                  <a:schemeClr val="tx2"/>
                </a:solidFill>
              </a:rPr>
              <a:t>G1-E04</a:t>
            </a:r>
            <a:endParaRPr lang="en-US" sz="1300" dirty="0"/>
          </a:p>
        </p:txBody>
      </p:sp>
      <p:sp>
        <p:nvSpPr>
          <p:cNvPr id="18" name="Text 16"/>
          <p:cNvSpPr txBox="1"/>
          <p:nvPr/>
        </p:nvSpPr>
        <p:spPr>
          <a:xfrm>
            <a:off x="1737360" y="4370832"/>
            <a:ext cx="4480560" cy="512064"/>
          </a:xfrm>
          <a:prstGeom prst="rect">
            <a:avLst/>
          </a:prstGeom>
          <a:noFill/>
          <a:ln/>
        </p:spPr>
        <p:txBody>
          <a:bodyPr wrap="square" lIns="635" tIns="635" rIns="635" bIns="635" rtlCol="0" anchor="ctr"/>
          <a:lstStyle/>
          <a:p>
            <a:pPr marL="0" indent="0">
              <a:buNone/>
            </a:pPr>
            <a:r>
              <a:rPr lang="en-US" sz="1400" dirty="0">
                <a:solidFill>
                  <a:schemeClr val="tx1"/>
                </a:solidFill>
              </a:rPr>
              <a:t>Post-it: «AES-K … // VPN: C2-Ext»</a:t>
            </a:r>
            <a:endParaRPr lang="en-US" sz="1400" dirty="0"/>
          </a:p>
        </p:txBody>
      </p:sp>
      <p:sp>
        <p:nvSpPr>
          <p:cNvPr id="19" name="tag5"/>
          <p:cNvSpPr/>
          <p:nvPr/>
        </p:nvSpPr>
        <p:spPr>
          <a:xfrm>
            <a:off x="548640" y="5029200"/>
            <a:ext cx="1051560" cy="512064"/>
          </a:xfrm>
          <a:prstGeom prst="roundRect">
            <a:avLst>
              <a:gd name="adj" fmla="val 14286"/>
            </a:avLst>
          </a:prstGeom>
          <a:solidFill>
            <a:srgbClr val="EEF2F7"/>
          </a:solidFill>
          <a:ln w="12700">
            <a:solidFill>
              <a:srgbClr val="EEF2F7"/>
            </a:solidFill>
            <a:prstDash val="solid"/>
          </a:ln>
        </p:spPr>
        <p:txBody>
          <a:bodyPr/>
          <a:lstStyle/>
          <a:p>
            <a:endParaRPr lang="es-CO"/>
          </a:p>
        </p:txBody>
      </p:sp>
      <p:sp>
        <p:nvSpPr>
          <p:cNvPr id="20" name="Text 18"/>
          <p:cNvSpPr txBox="1"/>
          <p:nvPr/>
        </p:nvSpPr>
        <p:spPr>
          <a:xfrm>
            <a:off x="548640" y="5029200"/>
            <a:ext cx="1051560" cy="512064"/>
          </a:xfrm>
          <a:prstGeom prst="rect">
            <a:avLst/>
          </a:prstGeom>
          <a:noFill/>
          <a:ln/>
        </p:spPr>
        <p:txBody>
          <a:bodyPr wrap="square" lIns="0" tIns="0" rIns="0" bIns="0" rtlCol="0" anchor="ctr"/>
          <a:lstStyle/>
          <a:p>
            <a:pPr marL="0" indent="0" algn="ctr">
              <a:buNone/>
            </a:pPr>
            <a:r>
              <a:rPr lang="en-US" sz="1300" b="1" dirty="0">
                <a:solidFill>
                  <a:schemeClr val="tx2"/>
                </a:solidFill>
              </a:rPr>
              <a:t>G1-E05</a:t>
            </a:r>
            <a:endParaRPr lang="en-US" sz="1300" dirty="0"/>
          </a:p>
        </p:txBody>
      </p:sp>
      <p:sp>
        <p:nvSpPr>
          <p:cNvPr id="21" name="Text 19"/>
          <p:cNvSpPr txBox="1"/>
          <p:nvPr/>
        </p:nvSpPr>
        <p:spPr>
          <a:xfrm>
            <a:off x="1737360" y="5029200"/>
            <a:ext cx="4480560" cy="512064"/>
          </a:xfrm>
          <a:prstGeom prst="rect">
            <a:avLst/>
          </a:prstGeom>
          <a:noFill/>
          <a:ln/>
        </p:spPr>
        <p:txBody>
          <a:bodyPr wrap="square" lIns="635" tIns="635" rIns="635" bIns="635" rtlCol="0" anchor="ctr"/>
          <a:lstStyle/>
          <a:p>
            <a:pPr marL="0" indent="0">
              <a:buNone/>
            </a:pPr>
            <a:r>
              <a:rPr lang="en-US" sz="1400" dirty="0">
                <a:solidFill>
                  <a:schemeClr val="tx1"/>
                </a:solidFill>
              </a:rPr>
              <a:t>UPS 1500VA: desconectar la pared NO apaga</a:t>
            </a:r>
            <a:endParaRPr lang="en-US" sz="1400" dirty="0"/>
          </a:p>
        </p:txBody>
      </p:sp>
      <p:sp>
        <p:nvSpPr>
          <p:cNvPr id="22" name="dentro"/>
          <p:cNvSpPr/>
          <p:nvPr/>
        </p:nvSpPr>
        <p:spPr>
          <a:xfrm>
            <a:off x="6583680" y="1234440"/>
            <a:ext cx="5029200" cy="2240280"/>
          </a:xfrm>
          <a:prstGeom prst="roundRect">
            <a:avLst>
              <a:gd name="adj" fmla="val 3265"/>
            </a:avLst>
          </a:prstGeom>
          <a:solidFill>
            <a:srgbClr val="E3F2E6"/>
          </a:solidFill>
          <a:ln w="12700">
            <a:solidFill>
              <a:srgbClr val="E3F2E6"/>
            </a:solidFill>
            <a:prstDash val="solid"/>
          </a:ln>
        </p:spPr>
        <p:txBody>
          <a:bodyPr/>
          <a:lstStyle/>
          <a:p>
            <a:endParaRPr lang="es-CO"/>
          </a:p>
        </p:txBody>
      </p:sp>
      <p:sp>
        <p:nvSpPr>
          <p:cNvPr id="23" name="Text 21"/>
          <p:cNvSpPr txBox="1"/>
          <p:nvPr/>
        </p:nvSpPr>
        <p:spPr>
          <a:xfrm>
            <a:off x="6766560" y="1325880"/>
            <a:ext cx="4663440" cy="2103120"/>
          </a:xfrm>
          <a:prstGeom prst="rect">
            <a:avLst/>
          </a:prstGeom>
          <a:noFill/>
          <a:ln/>
        </p:spPr>
        <p:txBody>
          <a:bodyPr wrap="square" lIns="635" tIns="635" rIns="635" bIns="635" rtlCol="0" anchor="t"/>
          <a:lstStyle/>
          <a:p>
            <a:pPr marL="0" indent="0">
              <a:spcAft>
                <a:spcPts val="400"/>
              </a:spcAft>
              <a:buNone/>
            </a:pPr>
            <a:r>
              <a:rPr lang="en-US" sz="1600" b="1" dirty="0">
                <a:solidFill>
                  <a:srgbClr val="2E7D6B"/>
                </a:solidFill>
              </a:rPr>
              <a:t>Dentro del alcance</a:t>
            </a:r>
            <a:endParaRPr lang="en-US" sz="1400" dirty="0"/>
          </a:p>
          <a:p>
            <a:pPr marL="342900" indent="-342900">
              <a:spcAft>
                <a:spcPts val="400"/>
              </a:spcAft>
              <a:buSzPct val="100000"/>
              <a:buChar char="•"/>
            </a:pPr>
            <a:r>
              <a:rPr lang="en-US" sz="1400" dirty="0">
                <a:solidFill>
                  <a:schemeClr val="tx1"/>
                </a:solidFill>
              </a:rPr>
              <a:t>Estación G1-E01 y periféricos: RAM, estado de red, C:\, V:\, RAID</a:t>
            </a:r>
            <a:endParaRPr lang="en-US" sz="1400" dirty="0"/>
          </a:p>
          <a:p>
            <a:pPr marL="342900" indent="-342900">
              <a:spcAft>
                <a:spcPts val="400"/>
              </a:spcAft>
              <a:buSzPct val="100000"/>
              <a:buChar char="•"/>
            </a:pPr>
            <a:r>
              <a:rPr lang="en-US" sz="1400" dirty="0">
                <a:solidFill>
                  <a:schemeClr val="tx1"/>
                </a:solidFill>
              </a:rPr>
              <a:t>Elementos físicos asociados (G1-E03, G1-E04)</a:t>
            </a:r>
            <a:endParaRPr lang="en-US" sz="1400" dirty="0"/>
          </a:p>
          <a:p>
            <a:pPr marL="342900" indent="-342900">
              <a:spcAft>
                <a:spcPts val="400"/>
              </a:spcAft>
              <a:buSzPct val="100000"/>
              <a:buChar char="•"/>
            </a:pPr>
            <a:r>
              <a:rPr lang="en-US" sz="1400" dirty="0">
                <a:solidFill>
                  <a:schemeClr val="tx1"/>
                </a:solidFill>
              </a:rPr>
              <a:t>Registros del SOC del host (SPAN, firewall, DNS)</a:t>
            </a:r>
            <a:endParaRPr lang="en-US" sz="1400" dirty="0"/>
          </a:p>
        </p:txBody>
      </p:sp>
      <p:sp>
        <p:nvSpPr>
          <p:cNvPr id="24" name="fuera"/>
          <p:cNvSpPr/>
          <p:nvPr/>
        </p:nvSpPr>
        <p:spPr>
          <a:xfrm>
            <a:off x="6583680" y="3657600"/>
            <a:ext cx="5029200" cy="2377440"/>
          </a:xfrm>
          <a:prstGeom prst="roundRect">
            <a:avLst>
              <a:gd name="adj" fmla="val 3077"/>
            </a:avLst>
          </a:prstGeom>
          <a:solidFill>
            <a:srgbClr val="FBE3E1"/>
          </a:solidFill>
          <a:ln w="12700">
            <a:solidFill>
              <a:srgbClr val="FBE3E1"/>
            </a:solidFill>
            <a:prstDash val="solid"/>
          </a:ln>
        </p:spPr>
        <p:txBody>
          <a:bodyPr/>
          <a:lstStyle/>
          <a:p>
            <a:endParaRPr lang="es-CO"/>
          </a:p>
        </p:txBody>
      </p:sp>
      <p:sp>
        <p:nvSpPr>
          <p:cNvPr id="25" name="Text 23"/>
          <p:cNvSpPr txBox="1"/>
          <p:nvPr/>
        </p:nvSpPr>
        <p:spPr>
          <a:xfrm>
            <a:off x="6766560" y="3749040"/>
            <a:ext cx="4663440" cy="2194560"/>
          </a:xfrm>
          <a:prstGeom prst="rect">
            <a:avLst/>
          </a:prstGeom>
          <a:noFill/>
          <a:ln/>
        </p:spPr>
        <p:txBody>
          <a:bodyPr wrap="square" lIns="635" tIns="635" rIns="635" bIns="635" rtlCol="0" anchor="t"/>
          <a:lstStyle/>
          <a:p>
            <a:pPr marL="0" indent="0">
              <a:spcAft>
                <a:spcPts val="400"/>
              </a:spcAft>
              <a:buNone/>
            </a:pPr>
            <a:r>
              <a:rPr lang="en-US" sz="1600" b="1" dirty="0">
                <a:solidFill>
                  <a:srgbClr val="B23A3A"/>
                </a:solidFill>
              </a:rPr>
              <a:t>Fuera del alcance</a:t>
            </a:r>
            <a:endParaRPr lang="en-US" sz="1400" dirty="0"/>
          </a:p>
          <a:p>
            <a:pPr marL="342900" indent="-342900">
              <a:spcAft>
                <a:spcPts val="400"/>
              </a:spcAft>
              <a:buSzPct val="100000"/>
              <a:buChar char="•"/>
            </a:pPr>
            <a:r>
              <a:rPr lang="en-US" sz="1400" dirty="0">
                <a:solidFill>
                  <a:schemeClr val="tx1"/>
                </a:solidFill>
              </a:rPr>
              <a:t>Leer la mensajería en curso (interceptación, art. 235 Ley 906)</a:t>
            </a:r>
            <a:endParaRPr lang="en-US" sz="1400" dirty="0"/>
          </a:p>
          <a:p>
            <a:pPr marL="342900" indent="-342900">
              <a:spcAft>
                <a:spcPts val="400"/>
              </a:spcAft>
              <a:buSzPct val="100000"/>
              <a:buChar char="•"/>
            </a:pPr>
            <a:r>
              <a:rPr lang="en-US" sz="1400" dirty="0">
                <a:solidFill>
                  <a:schemeClr val="tx1"/>
                </a:solidFill>
              </a:rPr>
              <a:t>Usar la clave del post-it en sistemas o en la «VPN C2-Ext»</a:t>
            </a:r>
            <a:endParaRPr lang="en-US" sz="1400" dirty="0"/>
          </a:p>
          <a:p>
            <a:pPr marL="342900" indent="-342900">
              <a:spcAft>
                <a:spcPts val="400"/>
              </a:spcAft>
              <a:buSzPct val="100000"/>
              <a:buChar char="•"/>
            </a:pPr>
            <a:r>
              <a:rPr lang="en-US" sz="1400" dirty="0">
                <a:solidFill>
                  <a:schemeClr val="tx1"/>
                </a:solidFill>
              </a:rPr>
              <a:t>Otras oficinas o dispositivos personales no presentes</a:t>
            </a:r>
            <a:endParaRPr lang="en-US" sz="14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
        <p:nvSpPr>
          <p:cNvPr id="32" name="TextBox 31">
            <a:extLst>
              <a:ext uri="{FF2B5EF4-FFF2-40B4-BE49-F238E27FC236}">
                <a16:creationId xmlns:a16="http://schemas.microsoft.com/office/drawing/2014/main" id="{589389F0-5193-60FE-EB0E-3412BB00D5B6}"/>
              </a:ext>
            </a:extLst>
          </p:cNvPr>
          <p:cNvSpPr txBox="1"/>
          <p:nvPr/>
        </p:nvSpPr>
        <p:spPr>
          <a:xfrm>
            <a:off x="412596" y="6403698"/>
            <a:ext cx="5114692" cy="246221"/>
          </a:xfrm>
          <a:prstGeom prst="rect">
            <a:avLst/>
          </a:prstGeom>
          <a:solidFill>
            <a:schemeClr val="bg1"/>
          </a:solidFill>
        </p:spPr>
        <p:txBody>
          <a:bodyPr wrap="square" rtlCol="0">
            <a:spAutoFit/>
          </a:bodyPr>
          <a:lstStyle/>
          <a:p>
            <a:r>
              <a:rPr lang="es-MX" sz="1000" dirty="0"/>
              <a:t>Caso OPE-DEF-2026-088  -  Grupo 2  -  ISO/IEC 27037</a:t>
            </a:r>
            <a:endParaRPr lang="es-CO"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Decisión en </a:t>
            </a:r>
            <a:r>
              <a:rPr lang="en-US" sz="3000" b="1" dirty="0" err="1">
                <a:solidFill>
                  <a:schemeClr val="tx2"/>
                </a:solidFill>
              </a:rPr>
              <a:t>escena</a:t>
            </a:r>
            <a:r>
              <a:rPr lang="en-US" sz="3000" b="1" dirty="0">
                <a:solidFill>
                  <a:schemeClr val="tx2"/>
                </a:solidFill>
              </a:rPr>
              <a:t>: adquisición en vivo (Fig. 1 y 4)</a:t>
            </a:r>
            <a:endParaRPr lang="en-US" sz="3000" dirty="0"/>
          </a:p>
        </p:txBody>
      </p:sp>
      <p:sp>
        <p:nvSpPr>
          <p:cNvPr id="3" name="Shape 1"/>
          <p:cNvSpPr/>
          <p:nvPr/>
        </p:nvSpPr>
        <p:spPr>
          <a:xfrm>
            <a:off x="457200" y="1920240"/>
            <a:ext cx="1645920" cy="914400"/>
          </a:xfrm>
          <a:prstGeom prst="roundRect">
            <a:avLst>
              <a:gd name="adj" fmla="val 8000"/>
            </a:avLst>
          </a:prstGeom>
          <a:solidFill>
            <a:srgbClr val="1F3A5F"/>
          </a:solidFill>
          <a:ln w="12700">
            <a:solidFill>
              <a:srgbClr val="1F3A5F"/>
            </a:solidFill>
            <a:prstDash val="solid"/>
          </a:ln>
        </p:spPr>
        <p:txBody>
          <a:bodyPr/>
          <a:lstStyle/>
          <a:p>
            <a:endParaRPr lang="es-CO"/>
          </a:p>
        </p:txBody>
      </p:sp>
      <p:sp>
        <p:nvSpPr>
          <p:cNvPr id="4" name="Text 2"/>
          <p:cNvSpPr txBox="1"/>
          <p:nvPr/>
        </p:nvSpPr>
        <p:spPr>
          <a:xfrm>
            <a:off x="502920" y="1920240"/>
            <a:ext cx="1554480" cy="914400"/>
          </a:xfrm>
          <a:prstGeom prst="rect">
            <a:avLst/>
          </a:prstGeom>
          <a:noFill/>
          <a:ln/>
        </p:spPr>
        <p:txBody>
          <a:bodyPr wrap="square" lIns="0" tIns="0" rIns="0" bIns="0" rtlCol="0" anchor="ctr"/>
          <a:lstStyle/>
          <a:p>
            <a:pPr marL="0" indent="0" algn="ctr">
              <a:buNone/>
            </a:pPr>
            <a:r>
              <a:rPr lang="en-US" sz="1300" b="1" dirty="0">
                <a:solidFill>
                  <a:srgbClr val="FFFFFF"/>
                </a:solidFill>
              </a:rPr>
              <a:t>Identificación</a:t>
            </a:r>
            <a:endParaRPr lang="en-US" sz="1300" dirty="0"/>
          </a:p>
          <a:p>
            <a:pPr marL="0" indent="0" algn="ctr">
              <a:buNone/>
            </a:pPr>
            <a:r>
              <a:rPr lang="en-US" sz="1300" b="1" dirty="0">
                <a:solidFill>
                  <a:srgbClr val="FFFFFF"/>
                </a:solidFill>
              </a:rPr>
              <a:t>(5.4.2 · 7.1.1)</a:t>
            </a:r>
            <a:endParaRPr lang="en-US" sz="1300" dirty="0"/>
          </a:p>
        </p:txBody>
      </p:sp>
      <p:sp>
        <p:nvSpPr>
          <p:cNvPr id="5" name="Shape 3"/>
          <p:cNvSpPr/>
          <p:nvPr/>
        </p:nvSpPr>
        <p:spPr>
          <a:xfrm>
            <a:off x="2514600" y="1691640"/>
            <a:ext cx="2011680" cy="1371600"/>
          </a:xfrm>
          <a:prstGeom prst="diamond">
            <a:avLst/>
          </a:prstGeom>
          <a:solidFill>
            <a:srgbClr val="F2A900"/>
          </a:solidFill>
          <a:ln w="12700">
            <a:solidFill>
              <a:srgbClr val="F2A900"/>
            </a:solidFill>
            <a:prstDash val="solid"/>
          </a:ln>
        </p:spPr>
        <p:txBody>
          <a:bodyPr/>
          <a:lstStyle/>
          <a:p>
            <a:endParaRPr lang="es-CO"/>
          </a:p>
        </p:txBody>
      </p:sp>
      <p:sp>
        <p:nvSpPr>
          <p:cNvPr id="6" name="Text 4"/>
          <p:cNvSpPr txBox="1"/>
          <p:nvPr/>
        </p:nvSpPr>
        <p:spPr>
          <a:xfrm>
            <a:off x="2743200" y="1691640"/>
            <a:ext cx="1554480" cy="1371600"/>
          </a:xfrm>
          <a:prstGeom prst="rect">
            <a:avLst/>
          </a:prstGeom>
          <a:noFill/>
          <a:ln/>
        </p:spPr>
        <p:txBody>
          <a:bodyPr wrap="square" lIns="0" tIns="0" rIns="0" bIns="0" rtlCol="0" anchor="ctr"/>
          <a:lstStyle/>
          <a:p>
            <a:pPr marL="0" indent="0" algn="ctr">
              <a:buNone/>
            </a:pPr>
            <a:r>
              <a:rPr lang="en-US" sz="1400" b="1" dirty="0">
                <a:solidFill>
                  <a:srgbClr val="14273E"/>
                </a:solidFill>
              </a:rPr>
              <a:t>¿Encendido?</a:t>
            </a:r>
            <a:endParaRPr lang="en-US" sz="1400" dirty="0"/>
          </a:p>
        </p:txBody>
      </p:sp>
      <p:sp>
        <p:nvSpPr>
          <p:cNvPr id="7" name="Shape 5"/>
          <p:cNvSpPr/>
          <p:nvPr/>
        </p:nvSpPr>
        <p:spPr>
          <a:xfrm>
            <a:off x="4937760" y="1691640"/>
            <a:ext cx="2194560" cy="1371600"/>
          </a:xfrm>
          <a:prstGeom prst="diamond">
            <a:avLst/>
          </a:prstGeom>
          <a:solidFill>
            <a:srgbClr val="F2A900"/>
          </a:solidFill>
          <a:ln w="12700">
            <a:solidFill>
              <a:srgbClr val="F2A900"/>
            </a:solidFill>
            <a:prstDash val="solid"/>
          </a:ln>
        </p:spPr>
        <p:txBody>
          <a:bodyPr/>
          <a:lstStyle/>
          <a:p>
            <a:endParaRPr lang="es-CO"/>
          </a:p>
        </p:txBody>
      </p:sp>
      <p:sp>
        <p:nvSpPr>
          <p:cNvPr id="8" name="Text 6"/>
          <p:cNvSpPr txBox="1"/>
          <p:nvPr/>
        </p:nvSpPr>
        <p:spPr>
          <a:xfrm>
            <a:off x="5166360" y="1691640"/>
            <a:ext cx="1737360" cy="1371600"/>
          </a:xfrm>
          <a:prstGeom prst="rect">
            <a:avLst/>
          </a:prstGeom>
          <a:noFill/>
          <a:ln/>
        </p:spPr>
        <p:txBody>
          <a:bodyPr wrap="square" lIns="0" tIns="0" rIns="0" bIns="0" rtlCol="0" anchor="ctr"/>
          <a:lstStyle/>
          <a:p>
            <a:pPr marL="0" indent="0" algn="ctr">
              <a:buNone/>
            </a:pPr>
            <a:r>
              <a:rPr lang="en-US" sz="1200" b="1" dirty="0">
                <a:solidFill>
                  <a:srgbClr val="14273E"/>
                </a:solidFill>
              </a:rPr>
              <a:t>¿Datos volátiles o cifrado montado?</a:t>
            </a:r>
            <a:endParaRPr lang="en-US" sz="1200" dirty="0"/>
          </a:p>
        </p:txBody>
      </p:sp>
      <p:sp>
        <p:nvSpPr>
          <p:cNvPr id="9" name="Shape 7"/>
          <p:cNvSpPr/>
          <p:nvPr/>
        </p:nvSpPr>
        <p:spPr>
          <a:xfrm>
            <a:off x="7543800" y="1920240"/>
            <a:ext cx="1828800" cy="914400"/>
          </a:xfrm>
          <a:prstGeom prst="roundRect">
            <a:avLst>
              <a:gd name="adj" fmla="val 8000"/>
            </a:avLst>
          </a:prstGeom>
          <a:solidFill>
            <a:srgbClr val="2E7D6B"/>
          </a:solidFill>
          <a:ln w="12700">
            <a:solidFill>
              <a:srgbClr val="2E7D6B"/>
            </a:solidFill>
            <a:prstDash val="solid"/>
          </a:ln>
        </p:spPr>
        <p:txBody>
          <a:bodyPr/>
          <a:lstStyle/>
          <a:p>
            <a:endParaRPr lang="es-CO"/>
          </a:p>
        </p:txBody>
      </p:sp>
      <p:sp>
        <p:nvSpPr>
          <p:cNvPr id="10" name="Text 8"/>
          <p:cNvSpPr txBox="1"/>
          <p:nvPr/>
        </p:nvSpPr>
        <p:spPr>
          <a:xfrm>
            <a:off x="7589520" y="1920240"/>
            <a:ext cx="1737360" cy="914400"/>
          </a:xfrm>
          <a:prstGeom prst="rect">
            <a:avLst/>
          </a:prstGeom>
          <a:noFill/>
          <a:ln/>
        </p:spPr>
        <p:txBody>
          <a:bodyPr wrap="square" lIns="0" tIns="0" rIns="0" bIns="0" rtlCol="0" anchor="ctr"/>
          <a:lstStyle/>
          <a:p>
            <a:pPr marL="0" indent="0" algn="ctr">
              <a:buNone/>
            </a:pPr>
            <a:r>
              <a:rPr lang="en-US" sz="1300" b="1" dirty="0">
                <a:solidFill>
                  <a:srgbClr val="FFFFFF"/>
                </a:solidFill>
              </a:rPr>
              <a:t>Contención de red aguas arriba</a:t>
            </a:r>
            <a:endParaRPr lang="en-US" sz="1300" dirty="0"/>
          </a:p>
        </p:txBody>
      </p:sp>
      <p:sp>
        <p:nvSpPr>
          <p:cNvPr id="11" name="Shape 9"/>
          <p:cNvSpPr/>
          <p:nvPr/>
        </p:nvSpPr>
        <p:spPr>
          <a:xfrm>
            <a:off x="9784080" y="1920240"/>
            <a:ext cx="1828800" cy="914400"/>
          </a:xfrm>
          <a:prstGeom prst="roundRect">
            <a:avLst>
              <a:gd name="adj" fmla="val 8000"/>
            </a:avLst>
          </a:prstGeom>
          <a:solidFill>
            <a:srgbClr val="2E7D6B"/>
          </a:solidFill>
          <a:ln w="12700">
            <a:solidFill>
              <a:srgbClr val="2E7D6B"/>
            </a:solidFill>
            <a:prstDash val="solid"/>
          </a:ln>
        </p:spPr>
        <p:txBody>
          <a:bodyPr/>
          <a:lstStyle/>
          <a:p>
            <a:endParaRPr lang="es-CO"/>
          </a:p>
        </p:txBody>
      </p:sp>
      <p:sp>
        <p:nvSpPr>
          <p:cNvPr id="12" name="Text 10"/>
          <p:cNvSpPr txBox="1"/>
          <p:nvPr/>
        </p:nvSpPr>
        <p:spPr>
          <a:xfrm>
            <a:off x="9829800" y="1920240"/>
            <a:ext cx="1737360" cy="914400"/>
          </a:xfrm>
          <a:prstGeom prst="rect">
            <a:avLst/>
          </a:prstGeom>
          <a:noFill/>
          <a:ln/>
        </p:spPr>
        <p:txBody>
          <a:bodyPr wrap="square" lIns="0" tIns="0" rIns="0" bIns="0" rtlCol="0" anchor="ctr"/>
          <a:lstStyle/>
          <a:p>
            <a:pPr marL="0" indent="0" algn="ctr">
              <a:buNone/>
            </a:pPr>
            <a:r>
              <a:rPr lang="en-US" sz="1300" b="1" dirty="0">
                <a:solidFill>
                  <a:srgbClr val="FFFFFF"/>
                </a:solidFill>
              </a:rPr>
              <a:t>Adquisición en vivo (7.1.3.1)</a:t>
            </a:r>
            <a:endParaRPr lang="en-US" sz="1300" dirty="0"/>
          </a:p>
        </p:txBody>
      </p:sp>
      <p:sp>
        <p:nvSpPr>
          <p:cNvPr id="13" name="Shape 11"/>
          <p:cNvSpPr/>
          <p:nvPr/>
        </p:nvSpPr>
        <p:spPr>
          <a:xfrm>
            <a:off x="2103120" y="2377440"/>
            <a:ext cx="411480" cy="914"/>
          </a:xfrm>
          <a:prstGeom prst="line">
            <a:avLst/>
          </a:prstGeom>
          <a:noFill/>
          <a:ln w="19050">
            <a:solidFill>
              <a:srgbClr val="6C7A8C"/>
            </a:solidFill>
            <a:prstDash val="solid"/>
            <a:tailEnd type="triangle"/>
          </a:ln>
        </p:spPr>
        <p:txBody>
          <a:bodyPr/>
          <a:lstStyle/>
          <a:p>
            <a:endParaRPr lang="es-CO"/>
          </a:p>
        </p:txBody>
      </p:sp>
      <p:sp>
        <p:nvSpPr>
          <p:cNvPr id="14" name="Shape 12"/>
          <p:cNvSpPr/>
          <p:nvPr/>
        </p:nvSpPr>
        <p:spPr>
          <a:xfrm>
            <a:off x="4526280" y="2377440"/>
            <a:ext cx="411480" cy="914"/>
          </a:xfrm>
          <a:prstGeom prst="line">
            <a:avLst/>
          </a:prstGeom>
          <a:noFill/>
          <a:ln w="19050">
            <a:solidFill>
              <a:srgbClr val="6C7A8C"/>
            </a:solidFill>
            <a:prstDash val="solid"/>
            <a:tailEnd type="triangle"/>
          </a:ln>
        </p:spPr>
        <p:txBody>
          <a:bodyPr/>
          <a:lstStyle/>
          <a:p>
            <a:endParaRPr lang="es-CO"/>
          </a:p>
        </p:txBody>
      </p:sp>
      <p:sp>
        <p:nvSpPr>
          <p:cNvPr id="15" name="Shape 13"/>
          <p:cNvSpPr/>
          <p:nvPr/>
        </p:nvSpPr>
        <p:spPr>
          <a:xfrm>
            <a:off x="7132320" y="2377440"/>
            <a:ext cx="411480" cy="914"/>
          </a:xfrm>
          <a:prstGeom prst="line">
            <a:avLst/>
          </a:prstGeom>
          <a:noFill/>
          <a:ln w="19050">
            <a:solidFill>
              <a:srgbClr val="6C7A8C"/>
            </a:solidFill>
            <a:prstDash val="solid"/>
            <a:tailEnd type="triangle"/>
          </a:ln>
        </p:spPr>
        <p:txBody>
          <a:bodyPr/>
          <a:lstStyle/>
          <a:p>
            <a:endParaRPr lang="es-CO"/>
          </a:p>
        </p:txBody>
      </p:sp>
      <p:sp>
        <p:nvSpPr>
          <p:cNvPr id="16" name="Shape 14"/>
          <p:cNvSpPr/>
          <p:nvPr/>
        </p:nvSpPr>
        <p:spPr>
          <a:xfrm>
            <a:off x="9372600" y="2377440"/>
            <a:ext cx="411480" cy="914"/>
          </a:xfrm>
          <a:prstGeom prst="line">
            <a:avLst/>
          </a:prstGeom>
          <a:noFill/>
          <a:ln w="19050">
            <a:solidFill>
              <a:srgbClr val="6C7A8C"/>
            </a:solidFill>
            <a:prstDash val="solid"/>
            <a:tailEnd type="triangle"/>
          </a:ln>
        </p:spPr>
        <p:txBody>
          <a:bodyPr/>
          <a:lstStyle/>
          <a:p>
            <a:endParaRPr lang="es-CO"/>
          </a:p>
        </p:txBody>
      </p:sp>
      <p:sp>
        <p:nvSpPr>
          <p:cNvPr id="17" name="Text 15"/>
          <p:cNvSpPr txBox="1"/>
          <p:nvPr/>
        </p:nvSpPr>
        <p:spPr>
          <a:xfrm>
            <a:off x="4526280" y="1965960"/>
            <a:ext cx="411480" cy="274320"/>
          </a:xfrm>
          <a:prstGeom prst="rect">
            <a:avLst/>
          </a:prstGeom>
          <a:noFill/>
          <a:ln/>
        </p:spPr>
        <p:txBody>
          <a:bodyPr wrap="square" lIns="635" tIns="635" rIns="635" bIns="635" rtlCol="0" anchor="t"/>
          <a:lstStyle/>
          <a:p>
            <a:pPr marL="0" indent="0" algn="ctr">
              <a:buNone/>
            </a:pPr>
            <a:r>
              <a:rPr lang="en-US" sz="1100" b="1" dirty="0">
                <a:solidFill>
                  <a:schemeClr val="accent3"/>
                </a:solidFill>
              </a:rPr>
              <a:t>SÍ</a:t>
            </a:r>
            <a:endParaRPr lang="en-US" sz="1100" dirty="0"/>
          </a:p>
        </p:txBody>
      </p:sp>
      <p:sp>
        <p:nvSpPr>
          <p:cNvPr id="18" name="Text 16"/>
          <p:cNvSpPr txBox="1"/>
          <p:nvPr/>
        </p:nvSpPr>
        <p:spPr>
          <a:xfrm>
            <a:off x="7132320" y="1965960"/>
            <a:ext cx="411480" cy="274320"/>
          </a:xfrm>
          <a:prstGeom prst="rect">
            <a:avLst/>
          </a:prstGeom>
          <a:noFill/>
          <a:ln/>
        </p:spPr>
        <p:txBody>
          <a:bodyPr wrap="square" lIns="635" tIns="635" rIns="635" bIns="635" rtlCol="0" anchor="t"/>
          <a:lstStyle/>
          <a:p>
            <a:pPr marL="0" indent="0" algn="ctr">
              <a:buNone/>
            </a:pPr>
            <a:r>
              <a:rPr lang="en-US" sz="1100" b="1" dirty="0">
                <a:solidFill>
                  <a:schemeClr val="accent3"/>
                </a:solidFill>
              </a:rPr>
              <a:t>SÍ</a:t>
            </a:r>
            <a:endParaRPr lang="en-US" sz="1100" dirty="0"/>
          </a:p>
        </p:txBody>
      </p:sp>
      <p:sp>
        <p:nvSpPr>
          <p:cNvPr id="19" name="Shape 17"/>
          <p:cNvSpPr/>
          <p:nvPr/>
        </p:nvSpPr>
        <p:spPr>
          <a:xfrm>
            <a:off x="3520440" y="3063240"/>
            <a:ext cx="914" cy="731520"/>
          </a:xfrm>
          <a:prstGeom prst="line">
            <a:avLst/>
          </a:prstGeom>
          <a:noFill/>
          <a:ln w="19050">
            <a:solidFill>
              <a:srgbClr val="6C7A8C"/>
            </a:solidFill>
            <a:prstDash val="solid"/>
            <a:tailEnd type="triangle"/>
          </a:ln>
        </p:spPr>
        <p:txBody>
          <a:bodyPr/>
          <a:lstStyle/>
          <a:p>
            <a:endParaRPr lang="es-CO"/>
          </a:p>
        </p:txBody>
      </p:sp>
      <p:sp>
        <p:nvSpPr>
          <p:cNvPr id="20" name="Shape 18"/>
          <p:cNvSpPr/>
          <p:nvPr/>
        </p:nvSpPr>
        <p:spPr>
          <a:xfrm>
            <a:off x="6035040" y="3063240"/>
            <a:ext cx="914" cy="731520"/>
          </a:xfrm>
          <a:prstGeom prst="line">
            <a:avLst/>
          </a:prstGeom>
          <a:noFill/>
          <a:ln w="19050">
            <a:solidFill>
              <a:srgbClr val="6C7A8C"/>
            </a:solidFill>
            <a:prstDash val="solid"/>
            <a:tailEnd type="triangle"/>
          </a:ln>
        </p:spPr>
        <p:txBody>
          <a:bodyPr/>
          <a:lstStyle/>
          <a:p>
            <a:endParaRPr lang="es-CO"/>
          </a:p>
        </p:txBody>
      </p:sp>
      <p:sp>
        <p:nvSpPr>
          <p:cNvPr id="21" name="Text 19"/>
          <p:cNvSpPr txBox="1"/>
          <p:nvPr/>
        </p:nvSpPr>
        <p:spPr>
          <a:xfrm>
            <a:off x="3566160" y="3200400"/>
            <a:ext cx="457200" cy="274320"/>
          </a:xfrm>
          <a:prstGeom prst="rect">
            <a:avLst/>
          </a:prstGeom>
          <a:noFill/>
          <a:ln/>
        </p:spPr>
        <p:txBody>
          <a:bodyPr wrap="square" lIns="635" tIns="635" rIns="635" bIns="635" rtlCol="0" anchor="t"/>
          <a:lstStyle/>
          <a:p>
            <a:pPr marL="0" indent="0">
              <a:buNone/>
            </a:pPr>
            <a:r>
              <a:rPr lang="en-US" sz="1100" b="1" dirty="0">
                <a:solidFill>
                  <a:schemeClr val="accent4"/>
                </a:solidFill>
              </a:rPr>
              <a:t>NO</a:t>
            </a:r>
            <a:endParaRPr lang="en-US" sz="1100" dirty="0"/>
          </a:p>
        </p:txBody>
      </p:sp>
      <p:sp>
        <p:nvSpPr>
          <p:cNvPr id="22" name="Text 20"/>
          <p:cNvSpPr txBox="1"/>
          <p:nvPr/>
        </p:nvSpPr>
        <p:spPr>
          <a:xfrm>
            <a:off x="6080760" y="3200400"/>
            <a:ext cx="457200" cy="274320"/>
          </a:xfrm>
          <a:prstGeom prst="rect">
            <a:avLst/>
          </a:prstGeom>
          <a:noFill/>
          <a:ln/>
        </p:spPr>
        <p:txBody>
          <a:bodyPr wrap="square" lIns="635" tIns="635" rIns="635" bIns="635" rtlCol="0" anchor="t"/>
          <a:lstStyle/>
          <a:p>
            <a:pPr marL="0" indent="0">
              <a:buNone/>
            </a:pPr>
            <a:r>
              <a:rPr lang="en-US" sz="1100" b="1" dirty="0">
                <a:solidFill>
                  <a:schemeClr val="accent4"/>
                </a:solidFill>
              </a:rPr>
              <a:t>NO</a:t>
            </a:r>
            <a:endParaRPr lang="en-US" sz="1100" dirty="0"/>
          </a:p>
        </p:txBody>
      </p:sp>
      <p:sp>
        <p:nvSpPr>
          <p:cNvPr id="23" name="Shape 21"/>
          <p:cNvSpPr/>
          <p:nvPr/>
        </p:nvSpPr>
        <p:spPr>
          <a:xfrm>
            <a:off x="2514600" y="3794760"/>
            <a:ext cx="4526280" cy="685800"/>
          </a:xfrm>
          <a:prstGeom prst="roundRect">
            <a:avLst>
              <a:gd name="adj" fmla="val 10667"/>
            </a:avLst>
          </a:prstGeom>
          <a:solidFill>
            <a:srgbClr val="C9CFD8"/>
          </a:solidFill>
          <a:ln w="12700">
            <a:solidFill>
              <a:srgbClr val="C9CFD8"/>
            </a:solidFill>
            <a:prstDash val="solid"/>
          </a:ln>
        </p:spPr>
        <p:txBody>
          <a:bodyPr/>
          <a:lstStyle/>
          <a:p>
            <a:endParaRPr lang="es-CO"/>
          </a:p>
        </p:txBody>
      </p:sp>
      <p:sp>
        <p:nvSpPr>
          <p:cNvPr id="24" name="Text 22"/>
          <p:cNvSpPr txBox="1"/>
          <p:nvPr/>
        </p:nvSpPr>
        <p:spPr>
          <a:xfrm>
            <a:off x="2560320" y="3794760"/>
            <a:ext cx="4434840" cy="685800"/>
          </a:xfrm>
          <a:prstGeom prst="rect">
            <a:avLst/>
          </a:prstGeom>
          <a:noFill/>
          <a:ln/>
        </p:spPr>
        <p:txBody>
          <a:bodyPr wrap="square" lIns="0" tIns="0" rIns="0" bIns="0" rtlCol="0" anchor="ctr"/>
          <a:lstStyle/>
          <a:p>
            <a:pPr marL="0" indent="0" algn="ctr">
              <a:buNone/>
            </a:pPr>
            <a:r>
              <a:rPr lang="en-US" sz="1200" b="1" dirty="0">
                <a:solidFill>
                  <a:srgbClr val="14273E"/>
                </a:solidFill>
              </a:rPr>
              <a:t>Recolección física directa – Fig. 3 / Fig. 5 (no aplica en este caso)</a:t>
            </a:r>
            <a:endParaRPr lang="en-US" sz="1200" dirty="0"/>
          </a:p>
        </p:txBody>
      </p:sp>
      <p:sp>
        <p:nvSpPr>
          <p:cNvPr id="25" name="Shape 23"/>
          <p:cNvSpPr/>
          <p:nvPr/>
        </p:nvSpPr>
        <p:spPr>
          <a:xfrm>
            <a:off x="10698480" y="2834640"/>
            <a:ext cx="914" cy="411480"/>
          </a:xfrm>
          <a:prstGeom prst="line">
            <a:avLst/>
          </a:prstGeom>
          <a:noFill/>
          <a:ln w="19050">
            <a:solidFill>
              <a:srgbClr val="6C7A8C"/>
            </a:solidFill>
            <a:prstDash val="solid"/>
            <a:tailEnd type="triangle"/>
          </a:ln>
        </p:spPr>
        <p:txBody>
          <a:bodyPr/>
          <a:lstStyle/>
          <a:p>
            <a:endParaRPr lang="es-CO"/>
          </a:p>
        </p:txBody>
      </p:sp>
      <p:sp>
        <p:nvSpPr>
          <p:cNvPr id="26" name="st0"/>
          <p:cNvSpPr/>
          <p:nvPr/>
        </p:nvSpPr>
        <p:spPr>
          <a:xfrm>
            <a:off x="9784080" y="3246120"/>
            <a:ext cx="1828800" cy="457200"/>
          </a:xfrm>
          <a:prstGeom prst="roundRect">
            <a:avLst>
              <a:gd name="adj" fmla="val 16000"/>
            </a:avLst>
          </a:prstGeom>
          <a:solidFill>
            <a:srgbClr val="EEF2F7"/>
          </a:solidFill>
          <a:ln w="12700">
            <a:solidFill>
              <a:srgbClr val="EEF2F7"/>
            </a:solidFill>
            <a:prstDash val="solid"/>
          </a:ln>
        </p:spPr>
        <p:txBody>
          <a:bodyPr/>
          <a:lstStyle/>
          <a:p>
            <a:endParaRPr lang="es-CO"/>
          </a:p>
        </p:txBody>
      </p:sp>
      <p:sp>
        <p:nvSpPr>
          <p:cNvPr id="27" name="Text 25"/>
          <p:cNvSpPr txBox="1"/>
          <p:nvPr/>
        </p:nvSpPr>
        <p:spPr>
          <a:xfrm>
            <a:off x="9784080" y="3246120"/>
            <a:ext cx="1828800" cy="457200"/>
          </a:xfrm>
          <a:prstGeom prst="rect">
            <a:avLst/>
          </a:prstGeom>
          <a:noFill/>
          <a:ln/>
        </p:spPr>
        <p:txBody>
          <a:bodyPr wrap="square" lIns="0" tIns="0" rIns="0" bIns="0" rtlCol="0" anchor="ctr"/>
          <a:lstStyle/>
          <a:p>
            <a:pPr marL="0" indent="0" algn="ctr">
              <a:buNone/>
            </a:pPr>
            <a:r>
              <a:rPr lang="en-US" sz="1200" b="1" dirty="0">
                <a:solidFill>
                  <a:schemeClr val="tx2"/>
                </a:solidFill>
              </a:rPr>
              <a:t>1 · RAM (D01)</a:t>
            </a:r>
            <a:endParaRPr lang="en-US" sz="1200" dirty="0"/>
          </a:p>
        </p:txBody>
      </p:sp>
      <p:sp>
        <p:nvSpPr>
          <p:cNvPr id="28" name="st1"/>
          <p:cNvSpPr/>
          <p:nvPr/>
        </p:nvSpPr>
        <p:spPr>
          <a:xfrm>
            <a:off x="9784080" y="3813048"/>
            <a:ext cx="1828800" cy="457200"/>
          </a:xfrm>
          <a:prstGeom prst="roundRect">
            <a:avLst>
              <a:gd name="adj" fmla="val 16000"/>
            </a:avLst>
          </a:prstGeom>
          <a:solidFill>
            <a:srgbClr val="EEF2F7"/>
          </a:solidFill>
          <a:ln w="12700">
            <a:solidFill>
              <a:srgbClr val="EEF2F7"/>
            </a:solidFill>
            <a:prstDash val="solid"/>
          </a:ln>
        </p:spPr>
        <p:txBody>
          <a:bodyPr/>
          <a:lstStyle/>
          <a:p>
            <a:endParaRPr lang="es-CO"/>
          </a:p>
        </p:txBody>
      </p:sp>
      <p:sp>
        <p:nvSpPr>
          <p:cNvPr id="29" name="Text 27"/>
          <p:cNvSpPr txBox="1"/>
          <p:nvPr/>
        </p:nvSpPr>
        <p:spPr>
          <a:xfrm>
            <a:off x="9784080" y="3813048"/>
            <a:ext cx="1828800" cy="457200"/>
          </a:xfrm>
          <a:prstGeom prst="rect">
            <a:avLst/>
          </a:prstGeom>
          <a:noFill/>
          <a:ln/>
        </p:spPr>
        <p:txBody>
          <a:bodyPr wrap="square" lIns="0" tIns="0" rIns="0" bIns="0" rtlCol="0" anchor="ctr"/>
          <a:lstStyle/>
          <a:p>
            <a:pPr marL="0" indent="0" algn="ctr">
              <a:buNone/>
            </a:pPr>
            <a:r>
              <a:rPr lang="en-US" sz="1200" b="1" dirty="0">
                <a:solidFill>
                  <a:schemeClr val="tx2"/>
                </a:solidFill>
              </a:rPr>
              <a:t>2 · Red y procesos (D02)</a:t>
            </a:r>
            <a:endParaRPr lang="en-US" sz="1200" dirty="0"/>
          </a:p>
        </p:txBody>
      </p:sp>
      <p:sp>
        <p:nvSpPr>
          <p:cNvPr id="30" name="st2"/>
          <p:cNvSpPr/>
          <p:nvPr/>
        </p:nvSpPr>
        <p:spPr>
          <a:xfrm>
            <a:off x="9784080" y="4379976"/>
            <a:ext cx="1828800" cy="457200"/>
          </a:xfrm>
          <a:prstGeom prst="roundRect">
            <a:avLst>
              <a:gd name="adj" fmla="val 16000"/>
            </a:avLst>
          </a:prstGeom>
          <a:solidFill>
            <a:srgbClr val="EEF2F7"/>
          </a:solidFill>
          <a:ln w="12700">
            <a:solidFill>
              <a:srgbClr val="EEF2F7"/>
            </a:solidFill>
            <a:prstDash val="solid"/>
          </a:ln>
        </p:spPr>
        <p:txBody>
          <a:bodyPr/>
          <a:lstStyle/>
          <a:p>
            <a:endParaRPr lang="es-CO"/>
          </a:p>
        </p:txBody>
      </p:sp>
      <p:sp>
        <p:nvSpPr>
          <p:cNvPr id="31" name="Text 29"/>
          <p:cNvSpPr txBox="1"/>
          <p:nvPr/>
        </p:nvSpPr>
        <p:spPr>
          <a:xfrm>
            <a:off x="9784080" y="4379976"/>
            <a:ext cx="1828800" cy="457200"/>
          </a:xfrm>
          <a:prstGeom prst="rect">
            <a:avLst/>
          </a:prstGeom>
          <a:noFill/>
          <a:ln/>
        </p:spPr>
        <p:txBody>
          <a:bodyPr wrap="square" lIns="0" tIns="0" rIns="0" bIns="0" rtlCol="0" anchor="ctr"/>
          <a:lstStyle/>
          <a:p>
            <a:pPr marL="0" indent="0" algn="ctr">
              <a:buNone/>
            </a:pPr>
            <a:r>
              <a:rPr lang="en-US" sz="1200" b="1" dirty="0">
                <a:solidFill>
                  <a:schemeClr val="tx2"/>
                </a:solidFill>
              </a:rPr>
              <a:t>3 · V:\ en claro (D03)</a:t>
            </a:r>
            <a:endParaRPr lang="en-US" sz="1200" dirty="0"/>
          </a:p>
        </p:txBody>
      </p:sp>
      <p:sp>
        <p:nvSpPr>
          <p:cNvPr id="32" name="st3"/>
          <p:cNvSpPr/>
          <p:nvPr/>
        </p:nvSpPr>
        <p:spPr>
          <a:xfrm>
            <a:off x="9784080" y="4946904"/>
            <a:ext cx="1828800" cy="457200"/>
          </a:xfrm>
          <a:prstGeom prst="roundRect">
            <a:avLst>
              <a:gd name="adj" fmla="val 16000"/>
            </a:avLst>
          </a:prstGeom>
          <a:solidFill>
            <a:srgbClr val="EEF2F7"/>
          </a:solidFill>
          <a:ln w="12700">
            <a:solidFill>
              <a:srgbClr val="EEF2F7"/>
            </a:solidFill>
            <a:prstDash val="solid"/>
          </a:ln>
        </p:spPr>
        <p:txBody>
          <a:bodyPr/>
          <a:lstStyle/>
          <a:p>
            <a:endParaRPr lang="es-CO"/>
          </a:p>
        </p:txBody>
      </p:sp>
      <p:sp>
        <p:nvSpPr>
          <p:cNvPr id="33" name="Text 31"/>
          <p:cNvSpPr txBox="1"/>
          <p:nvPr/>
        </p:nvSpPr>
        <p:spPr>
          <a:xfrm>
            <a:off x="9784080" y="4946904"/>
            <a:ext cx="1828800" cy="457200"/>
          </a:xfrm>
          <a:prstGeom prst="rect">
            <a:avLst/>
          </a:prstGeom>
          <a:noFill/>
          <a:ln/>
        </p:spPr>
        <p:txBody>
          <a:bodyPr wrap="square" lIns="0" tIns="0" rIns="0" bIns="0" rtlCol="0" anchor="ctr"/>
          <a:lstStyle/>
          <a:p>
            <a:pPr marL="0" indent="0" algn="ctr">
              <a:buNone/>
            </a:pPr>
            <a:r>
              <a:rPr lang="en-US" sz="1200" b="1" dirty="0">
                <a:solidFill>
                  <a:schemeClr val="tx2"/>
                </a:solidFill>
              </a:rPr>
              <a:t>4 · Artefactos C:\ (D04)</a:t>
            </a:r>
            <a:endParaRPr lang="en-US" sz="1200" dirty="0"/>
          </a:p>
        </p:txBody>
      </p:sp>
      <p:sp>
        <p:nvSpPr>
          <p:cNvPr id="34" name="Shape 32"/>
          <p:cNvSpPr/>
          <p:nvPr/>
        </p:nvSpPr>
        <p:spPr>
          <a:xfrm flipH="1">
            <a:off x="9098280" y="5623560"/>
            <a:ext cx="685800" cy="914"/>
          </a:xfrm>
          <a:prstGeom prst="line">
            <a:avLst/>
          </a:prstGeom>
          <a:noFill/>
          <a:ln w="19050">
            <a:solidFill>
              <a:srgbClr val="6C7A8C"/>
            </a:solidFill>
            <a:prstDash val="solid"/>
            <a:tailEnd type="triangle"/>
          </a:ln>
        </p:spPr>
        <p:txBody>
          <a:bodyPr/>
          <a:lstStyle/>
          <a:p>
            <a:endParaRPr lang="es-CO"/>
          </a:p>
        </p:txBody>
      </p:sp>
      <p:sp>
        <p:nvSpPr>
          <p:cNvPr id="35" name="Shape 33"/>
          <p:cNvSpPr/>
          <p:nvPr/>
        </p:nvSpPr>
        <p:spPr>
          <a:xfrm>
            <a:off x="7178040" y="5257800"/>
            <a:ext cx="1920240" cy="731520"/>
          </a:xfrm>
          <a:prstGeom prst="roundRect">
            <a:avLst>
              <a:gd name="adj" fmla="val 10000"/>
            </a:avLst>
          </a:prstGeom>
          <a:solidFill>
            <a:srgbClr val="1F3A5F"/>
          </a:solidFill>
          <a:ln w="12700">
            <a:solidFill>
              <a:srgbClr val="1F3A5F"/>
            </a:solidFill>
            <a:prstDash val="solid"/>
          </a:ln>
        </p:spPr>
        <p:txBody>
          <a:bodyPr/>
          <a:lstStyle/>
          <a:p>
            <a:endParaRPr lang="es-CO"/>
          </a:p>
        </p:txBody>
      </p:sp>
      <p:sp>
        <p:nvSpPr>
          <p:cNvPr id="36" name="Text 34"/>
          <p:cNvSpPr txBox="1"/>
          <p:nvPr/>
        </p:nvSpPr>
        <p:spPr>
          <a:xfrm>
            <a:off x="7223760" y="5257800"/>
            <a:ext cx="1828800" cy="731520"/>
          </a:xfrm>
          <a:prstGeom prst="rect">
            <a:avLst/>
          </a:prstGeom>
          <a:noFill/>
          <a:ln/>
        </p:spPr>
        <p:txBody>
          <a:bodyPr wrap="square" lIns="0" tIns="0" rIns="0" bIns="0" rtlCol="0" anchor="ctr"/>
          <a:lstStyle/>
          <a:p>
            <a:pPr marL="0" indent="0" algn="ctr">
              <a:buNone/>
            </a:pPr>
            <a:r>
              <a:rPr lang="en-US" sz="1200" b="1" dirty="0">
                <a:solidFill>
                  <a:srgbClr val="FFFFFF"/>
                </a:solidFill>
              </a:rPr>
              <a:t>Recolección física (Fig. 2)</a:t>
            </a:r>
            <a:endParaRPr lang="en-US" sz="1200" dirty="0"/>
          </a:p>
        </p:txBody>
      </p:sp>
      <p:sp>
        <p:nvSpPr>
          <p:cNvPr id="37" name="porque"/>
          <p:cNvSpPr/>
          <p:nvPr/>
        </p:nvSpPr>
        <p:spPr>
          <a:xfrm>
            <a:off x="457200" y="4709160"/>
            <a:ext cx="6400800" cy="1463040"/>
          </a:xfrm>
          <a:prstGeom prst="roundRect">
            <a:avLst>
              <a:gd name="adj" fmla="val 5000"/>
            </a:avLst>
          </a:prstGeom>
          <a:solidFill>
            <a:srgbClr val="EEF2F7"/>
          </a:solidFill>
          <a:ln w="12700">
            <a:solidFill>
              <a:srgbClr val="EEF2F7"/>
            </a:solidFill>
            <a:prstDash val="solid"/>
          </a:ln>
        </p:spPr>
        <p:txBody>
          <a:bodyPr/>
          <a:lstStyle/>
          <a:p>
            <a:endParaRPr lang="es-CO"/>
          </a:p>
        </p:txBody>
      </p:sp>
      <p:sp>
        <p:nvSpPr>
          <p:cNvPr id="38" name="Text 36"/>
          <p:cNvSpPr txBox="1"/>
          <p:nvPr/>
        </p:nvSpPr>
        <p:spPr>
          <a:xfrm>
            <a:off x="640080" y="4800600"/>
            <a:ext cx="6035040" cy="1280160"/>
          </a:xfrm>
          <a:prstGeom prst="rect">
            <a:avLst/>
          </a:prstGeom>
          <a:noFill/>
          <a:ln/>
        </p:spPr>
        <p:txBody>
          <a:bodyPr wrap="square" lIns="635" tIns="635" rIns="635" bIns="635" rtlCol="0" anchor="ctr"/>
          <a:lstStyle/>
          <a:p>
            <a:pPr marL="0" indent="0">
              <a:buNone/>
            </a:pPr>
            <a:r>
              <a:rPr lang="en-US" sz="1400" b="1" dirty="0">
                <a:solidFill>
                  <a:srgbClr val="1F3A5F"/>
                </a:solidFill>
              </a:rPr>
              <a:t>¿Por qué en vivo? </a:t>
            </a:r>
            <a:r>
              <a:rPr lang="en-US" sz="1400" dirty="0">
                <a:solidFill>
                  <a:schemeClr val="tx1"/>
                </a:solidFill>
              </a:rPr>
              <a:t>Las claves de V:\, los procesos sin archivo y las conexiones al C2 existen solo en RAM (3.26 y 6.8). Apagar las borra para siempre; la huella de las herramientas es mínima, se puede medir y queda documentada (5.3.5).</a:t>
            </a:r>
            <a:endParaRPr lang="en-US" sz="14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
        <p:nvSpPr>
          <p:cNvPr id="41" name="TextBox 40">
            <a:extLst>
              <a:ext uri="{FF2B5EF4-FFF2-40B4-BE49-F238E27FC236}">
                <a16:creationId xmlns:a16="http://schemas.microsoft.com/office/drawing/2014/main" id="{842DCBCC-D8C2-E32E-EBE9-B8C61C974CAF}"/>
              </a:ext>
            </a:extLst>
          </p:cNvPr>
          <p:cNvSpPr txBox="1"/>
          <p:nvPr/>
        </p:nvSpPr>
        <p:spPr>
          <a:xfrm>
            <a:off x="490653" y="6464809"/>
            <a:ext cx="5114692" cy="246221"/>
          </a:xfrm>
          <a:prstGeom prst="rect">
            <a:avLst/>
          </a:prstGeom>
          <a:solidFill>
            <a:schemeClr val="bg1"/>
          </a:solidFill>
        </p:spPr>
        <p:txBody>
          <a:bodyPr wrap="square" rtlCol="0">
            <a:spAutoFit/>
          </a:bodyPr>
          <a:lstStyle/>
          <a:p>
            <a:r>
              <a:rPr lang="es-MX" sz="1000" dirty="0"/>
              <a:t>Caso OPE-DEF-2026-088  -  Grupo 2  -  ISO/IEC 27037</a:t>
            </a:r>
            <a:endParaRPr lang="es-CO"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Del apagado al laboratorio (Fig. 2 y 5; nota 1 de 7.1.2.1.2)</a:t>
            </a:r>
            <a:endParaRPr lang="en-US" sz="3000" dirty="0"/>
          </a:p>
        </p:txBody>
      </p:sp>
      <p:sp>
        <p:nvSpPr>
          <p:cNvPr id="3" name="Shape 1"/>
          <p:cNvSpPr/>
          <p:nvPr/>
        </p:nvSpPr>
        <p:spPr>
          <a:xfrm>
            <a:off x="457200" y="1417320"/>
            <a:ext cx="2468880" cy="1280160"/>
          </a:xfrm>
          <a:prstGeom prst="diamond">
            <a:avLst/>
          </a:prstGeom>
          <a:solidFill>
            <a:srgbClr val="F2A900"/>
          </a:solidFill>
          <a:ln w="12700">
            <a:solidFill>
              <a:srgbClr val="F2A900"/>
            </a:solidFill>
            <a:prstDash val="solid"/>
          </a:ln>
        </p:spPr>
        <p:txBody>
          <a:bodyPr/>
          <a:lstStyle/>
          <a:p>
            <a:endParaRPr lang="es-CO"/>
          </a:p>
        </p:txBody>
      </p:sp>
      <p:sp>
        <p:nvSpPr>
          <p:cNvPr id="4" name="Text 2"/>
          <p:cNvSpPr txBox="1"/>
          <p:nvPr/>
        </p:nvSpPr>
        <p:spPr>
          <a:xfrm>
            <a:off x="685800" y="1417320"/>
            <a:ext cx="2011680" cy="1280160"/>
          </a:xfrm>
          <a:prstGeom prst="rect">
            <a:avLst/>
          </a:prstGeom>
          <a:noFill/>
          <a:ln/>
        </p:spPr>
        <p:txBody>
          <a:bodyPr wrap="square" lIns="0" tIns="0" rIns="0" bIns="0" rtlCol="0" anchor="ctr"/>
          <a:lstStyle/>
          <a:p>
            <a:pPr marL="0" indent="0" algn="ctr">
              <a:buNone/>
            </a:pPr>
            <a:r>
              <a:rPr lang="en-US" sz="1200" b="1" dirty="0">
                <a:solidFill>
                  <a:srgbClr val="14273E"/>
                </a:solidFill>
              </a:rPr>
              <a:t>¿V:\ y RAM asegurados con hash?</a:t>
            </a:r>
            <a:endParaRPr lang="en-US" sz="1200" dirty="0"/>
          </a:p>
        </p:txBody>
      </p:sp>
      <p:sp>
        <p:nvSpPr>
          <p:cNvPr id="5" name="Shape 3"/>
          <p:cNvSpPr/>
          <p:nvPr/>
        </p:nvSpPr>
        <p:spPr>
          <a:xfrm>
            <a:off x="3337560" y="1417320"/>
            <a:ext cx="2468880" cy="914400"/>
          </a:xfrm>
          <a:prstGeom prst="roundRect">
            <a:avLst>
              <a:gd name="adj" fmla="val 8000"/>
            </a:avLst>
          </a:prstGeom>
          <a:solidFill>
            <a:srgbClr val="1F3A5F"/>
          </a:solidFill>
          <a:ln w="12700">
            <a:solidFill>
              <a:srgbClr val="1F3A5F"/>
            </a:solidFill>
            <a:prstDash val="solid"/>
          </a:ln>
        </p:spPr>
        <p:txBody>
          <a:bodyPr/>
          <a:lstStyle/>
          <a:p>
            <a:endParaRPr lang="es-CO"/>
          </a:p>
        </p:txBody>
      </p:sp>
      <p:sp>
        <p:nvSpPr>
          <p:cNvPr id="6" name="Text 4"/>
          <p:cNvSpPr txBox="1"/>
          <p:nvPr/>
        </p:nvSpPr>
        <p:spPr>
          <a:xfrm>
            <a:off x="3383280" y="1417320"/>
            <a:ext cx="2377440" cy="914400"/>
          </a:xfrm>
          <a:prstGeom prst="rect">
            <a:avLst/>
          </a:prstGeom>
          <a:noFill/>
          <a:ln/>
        </p:spPr>
        <p:txBody>
          <a:bodyPr wrap="square" lIns="0" tIns="0" rIns="0" bIns="0" rtlCol="0" anchor="ctr"/>
          <a:lstStyle/>
          <a:p>
            <a:pPr marL="0" indent="0" algn="ctr">
              <a:buNone/>
            </a:pPr>
            <a:r>
              <a:rPr lang="en-US" sz="1300" b="1" dirty="0">
                <a:solidFill>
                  <a:srgbClr val="FFFFFF"/>
                </a:solidFill>
              </a:rPr>
              <a:t>Documentar RAID 0 y cifrado de C:\</a:t>
            </a:r>
            <a:endParaRPr lang="en-US" sz="1300" dirty="0"/>
          </a:p>
        </p:txBody>
      </p:sp>
      <p:sp>
        <p:nvSpPr>
          <p:cNvPr id="7" name="Shape 5"/>
          <p:cNvSpPr/>
          <p:nvPr/>
        </p:nvSpPr>
        <p:spPr>
          <a:xfrm>
            <a:off x="2926080" y="1874520"/>
            <a:ext cx="411480" cy="914"/>
          </a:xfrm>
          <a:prstGeom prst="line">
            <a:avLst/>
          </a:prstGeom>
          <a:noFill/>
          <a:ln w="19050">
            <a:solidFill>
              <a:srgbClr val="6C7A8C"/>
            </a:solidFill>
            <a:prstDash val="solid"/>
            <a:tailEnd type="triangle"/>
          </a:ln>
        </p:spPr>
        <p:txBody>
          <a:bodyPr/>
          <a:lstStyle/>
          <a:p>
            <a:endParaRPr lang="es-CO"/>
          </a:p>
        </p:txBody>
      </p:sp>
      <p:sp>
        <p:nvSpPr>
          <p:cNvPr id="8" name="Shape 6"/>
          <p:cNvSpPr/>
          <p:nvPr/>
        </p:nvSpPr>
        <p:spPr>
          <a:xfrm>
            <a:off x="6217920" y="1417320"/>
            <a:ext cx="2468880" cy="914400"/>
          </a:xfrm>
          <a:prstGeom prst="roundRect">
            <a:avLst>
              <a:gd name="adj" fmla="val 8000"/>
            </a:avLst>
          </a:prstGeom>
          <a:solidFill>
            <a:srgbClr val="1F3A5F"/>
          </a:solidFill>
          <a:ln w="12700">
            <a:solidFill>
              <a:srgbClr val="1F3A5F"/>
            </a:solidFill>
            <a:prstDash val="solid"/>
          </a:ln>
        </p:spPr>
        <p:txBody>
          <a:bodyPr/>
          <a:lstStyle/>
          <a:p>
            <a:endParaRPr lang="es-CO"/>
          </a:p>
        </p:txBody>
      </p:sp>
      <p:sp>
        <p:nvSpPr>
          <p:cNvPr id="9" name="Text 7"/>
          <p:cNvSpPr txBox="1"/>
          <p:nvPr/>
        </p:nvSpPr>
        <p:spPr>
          <a:xfrm>
            <a:off x="6263640" y="1417320"/>
            <a:ext cx="2377440" cy="914400"/>
          </a:xfrm>
          <a:prstGeom prst="rect">
            <a:avLst/>
          </a:prstGeom>
          <a:noFill/>
          <a:ln/>
        </p:spPr>
        <p:txBody>
          <a:bodyPr wrap="square" lIns="0" tIns="0" rIns="0" bIns="0" rtlCol="0" anchor="ctr"/>
          <a:lstStyle/>
          <a:p>
            <a:pPr marL="0" indent="0" algn="ctr">
              <a:buNone/>
            </a:pPr>
            <a:r>
              <a:rPr lang="en-US" sz="1300" b="1" dirty="0">
                <a:solidFill>
                  <a:srgbClr val="FFFFFF"/>
                </a:solidFill>
              </a:rPr>
              <a:t>Retirar jiggler G1-E03 (con fotos)</a:t>
            </a:r>
            <a:endParaRPr lang="en-US" sz="1300" dirty="0"/>
          </a:p>
        </p:txBody>
      </p:sp>
      <p:sp>
        <p:nvSpPr>
          <p:cNvPr id="10" name="Shape 8"/>
          <p:cNvSpPr/>
          <p:nvPr/>
        </p:nvSpPr>
        <p:spPr>
          <a:xfrm>
            <a:off x="5806440" y="1874520"/>
            <a:ext cx="411480" cy="914"/>
          </a:xfrm>
          <a:prstGeom prst="line">
            <a:avLst/>
          </a:prstGeom>
          <a:noFill/>
          <a:ln w="19050">
            <a:solidFill>
              <a:srgbClr val="6C7A8C"/>
            </a:solidFill>
            <a:prstDash val="solid"/>
            <a:tailEnd type="triangle"/>
          </a:ln>
        </p:spPr>
        <p:txBody>
          <a:bodyPr/>
          <a:lstStyle/>
          <a:p>
            <a:endParaRPr lang="es-CO"/>
          </a:p>
        </p:txBody>
      </p:sp>
      <p:sp>
        <p:nvSpPr>
          <p:cNvPr id="11" name="Shape 9"/>
          <p:cNvSpPr/>
          <p:nvPr/>
        </p:nvSpPr>
        <p:spPr>
          <a:xfrm>
            <a:off x="9098280" y="1417320"/>
            <a:ext cx="2468880" cy="914400"/>
          </a:xfrm>
          <a:prstGeom prst="roundRect">
            <a:avLst>
              <a:gd name="adj" fmla="val 8000"/>
            </a:avLst>
          </a:prstGeom>
          <a:solidFill>
            <a:srgbClr val="B23A3A"/>
          </a:solidFill>
          <a:ln w="12700">
            <a:solidFill>
              <a:srgbClr val="B23A3A"/>
            </a:solidFill>
            <a:prstDash val="solid"/>
          </a:ln>
        </p:spPr>
        <p:txBody>
          <a:bodyPr/>
          <a:lstStyle/>
          <a:p>
            <a:endParaRPr lang="es-CO"/>
          </a:p>
        </p:txBody>
      </p:sp>
      <p:sp>
        <p:nvSpPr>
          <p:cNvPr id="12" name="Text 10"/>
          <p:cNvSpPr txBox="1"/>
          <p:nvPr/>
        </p:nvSpPr>
        <p:spPr>
          <a:xfrm>
            <a:off x="9144000" y="1417320"/>
            <a:ext cx="2377440" cy="914400"/>
          </a:xfrm>
          <a:prstGeom prst="rect">
            <a:avLst/>
          </a:prstGeom>
          <a:noFill/>
          <a:ln/>
        </p:spPr>
        <p:txBody>
          <a:bodyPr wrap="square" lIns="0" tIns="0" rIns="0" bIns="0" rtlCol="0" anchor="ctr"/>
          <a:lstStyle/>
          <a:p>
            <a:pPr marL="0" indent="0" algn="ctr">
              <a:buNone/>
            </a:pPr>
            <a:r>
              <a:rPr lang="en-US" sz="1300" b="1" dirty="0">
                <a:solidFill>
                  <a:srgbClr val="FFFFFF"/>
                </a:solidFill>
              </a:rPr>
              <a:t>Corte de energía EN EL CHASIS</a:t>
            </a:r>
            <a:endParaRPr lang="en-US" sz="1300" dirty="0"/>
          </a:p>
        </p:txBody>
      </p:sp>
      <p:sp>
        <p:nvSpPr>
          <p:cNvPr id="13" name="Shape 11"/>
          <p:cNvSpPr/>
          <p:nvPr/>
        </p:nvSpPr>
        <p:spPr>
          <a:xfrm>
            <a:off x="8686800" y="1874520"/>
            <a:ext cx="411480" cy="914"/>
          </a:xfrm>
          <a:prstGeom prst="line">
            <a:avLst/>
          </a:prstGeom>
          <a:noFill/>
          <a:ln w="19050">
            <a:solidFill>
              <a:srgbClr val="6C7A8C"/>
            </a:solidFill>
            <a:prstDash val="solid"/>
            <a:tailEnd type="triangle"/>
          </a:ln>
        </p:spPr>
        <p:txBody>
          <a:bodyPr/>
          <a:lstStyle/>
          <a:p>
            <a:endParaRPr lang="es-CO"/>
          </a:p>
        </p:txBody>
      </p:sp>
      <p:sp>
        <p:nvSpPr>
          <p:cNvPr id="14" name="Text 12"/>
          <p:cNvSpPr txBox="1"/>
          <p:nvPr/>
        </p:nvSpPr>
        <p:spPr>
          <a:xfrm>
            <a:off x="2926080" y="1554480"/>
            <a:ext cx="411480" cy="274320"/>
          </a:xfrm>
          <a:prstGeom prst="rect">
            <a:avLst/>
          </a:prstGeom>
          <a:noFill/>
          <a:ln/>
        </p:spPr>
        <p:txBody>
          <a:bodyPr wrap="square" lIns="635" tIns="635" rIns="635" bIns="635" rtlCol="0" anchor="t"/>
          <a:lstStyle/>
          <a:p>
            <a:pPr marL="0" indent="0" algn="ctr">
              <a:buNone/>
            </a:pPr>
            <a:r>
              <a:rPr lang="en-US" sz="1100" b="1" dirty="0">
                <a:solidFill>
                  <a:schemeClr val="accent3"/>
                </a:solidFill>
              </a:rPr>
              <a:t>SÍ</a:t>
            </a:r>
            <a:endParaRPr lang="en-US" sz="1100" dirty="0"/>
          </a:p>
        </p:txBody>
      </p:sp>
      <p:sp>
        <p:nvSpPr>
          <p:cNvPr id="15" name="Shape 13"/>
          <p:cNvSpPr/>
          <p:nvPr/>
        </p:nvSpPr>
        <p:spPr>
          <a:xfrm>
            <a:off x="1691640" y="2697480"/>
            <a:ext cx="914" cy="457200"/>
          </a:xfrm>
          <a:prstGeom prst="line">
            <a:avLst/>
          </a:prstGeom>
          <a:noFill/>
          <a:ln w="19050">
            <a:solidFill>
              <a:srgbClr val="6C7A8C"/>
            </a:solidFill>
            <a:prstDash val="solid"/>
            <a:tailEnd type="triangle"/>
          </a:ln>
        </p:spPr>
        <p:txBody>
          <a:bodyPr/>
          <a:lstStyle/>
          <a:p>
            <a:endParaRPr lang="es-CO"/>
          </a:p>
        </p:txBody>
      </p:sp>
      <p:sp>
        <p:nvSpPr>
          <p:cNvPr id="16" name="Text 14"/>
          <p:cNvSpPr txBox="1"/>
          <p:nvPr/>
        </p:nvSpPr>
        <p:spPr>
          <a:xfrm>
            <a:off x="457200" y="3154680"/>
            <a:ext cx="5029200" cy="502920"/>
          </a:xfrm>
          <a:prstGeom prst="rect">
            <a:avLst/>
          </a:prstGeom>
          <a:noFill/>
          <a:ln/>
        </p:spPr>
        <p:txBody>
          <a:bodyPr wrap="square" lIns="635" tIns="635" rIns="635" bIns="635" rtlCol="0" anchor="t"/>
          <a:lstStyle/>
          <a:p>
            <a:pPr marL="0" indent="0">
              <a:buNone/>
            </a:pPr>
            <a:r>
              <a:rPr lang="en-US" sz="1200" i="1" dirty="0">
                <a:solidFill>
                  <a:schemeClr val="accent4"/>
                </a:solidFill>
              </a:rPr>
              <a:t>NO → seguir adquiriendo; apagado ordenado solo si el corte daña el contenedor (documentado)</a:t>
            </a:r>
            <a:endParaRPr lang="en-US" sz="1200" dirty="0"/>
          </a:p>
        </p:txBody>
      </p:sp>
      <p:sp>
        <p:nvSpPr>
          <p:cNvPr id="17" name="Shape 15"/>
          <p:cNvSpPr/>
          <p:nvPr/>
        </p:nvSpPr>
        <p:spPr>
          <a:xfrm>
            <a:off x="10378440" y="2331720"/>
            <a:ext cx="914" cy="1600200"/>
          </a:xfrm>
          <a:prstGeom prst="line">
            <a:avLst/>
          </a:prstGeom>
          <a:noFill/>
          <a:ln w="19050">
            <a:solidFill>
              <a:srgbClr val="6C7A8C"/>
            </a:solidFill>
            <a:prstDash val="solid"/>
            <a:tailEnd type="triangle"/>
          </a:ln>
        </p:spPr>
        <p:txBody>
          <a:bodyPr/>
          <a:lstStyle/>
          <a:p>
            <a:endParaRPr lang="es-CO"/>
          </a:p>
        </p:txBody>
      </p:sp>
      <p:sp>
        <p:nvSpPr>
          <p:cNvPr id="18" name="Shape 16"/>
          <p:cNvSpPr/>
          <p:nvPr/>
        </p:nvSpPr>
        <p:spPr>
          <a:xfrm>
            <a:off x="9098280" y="3931920"/>
            <a:ext cx="2468880" cy="914400"/>
          </a:xfrm>
          <a:prstGeom prst="roundRect">
            <a:avLst>
              <a:gd name="adj" fmla="val 8000"/>
            </a:avLst>
          </a:prstGeom>
          <a:solidFill>
            <a:srgbClr val="2E7D6B"/>
          </a:solidFill>
          <a:ln w="12700">
            <a:solidFill>
              <a:srgbClr val="2E7D6B"/>
            </a:solidFill>
            <a:prstDash val="solid"/>
          </a:ln>
        </p:spPr>
        <p:txBody>
          <a:bodyPr/>
          <a:lstStyle/>
          <a:p>
            <a:endParaRPr lang="es-CO"/>
          </a:p>
        </p:txBody>
      </p:sp>
      <p:sp>
        <p:nvSpPr>
          <p:cNvPr id="19" name="Text 17"/>
          <p:cNvSpPr txBox="1"/>
          <p:nvPr/>
        </p:nvSpPr>
        <p:spPr>
          <a:xfrm>
            <a:off x="9144000" y="3931920"/>
            <a:ext cx="2377440" cy="914400"/>
          </a:xfrm>
          <a:prstGeom prst="rect">
            <a:avLst/>
          </a:prstGeom>
          <a:noFill/>
          <a:ln/>
        </p:spPr>
        <p:txBody>
          <a:bodyPr wrap="square" lIns="0" tIns="0" rIns="0" bIns="0" rtlCol="0" anchor="ctr"/>
          <a:lstStyle/>
          <a:p>
            <a:pPr marL="0" indent="0" algn="ctr">
              <a:buNone/>
            </a:pPr>
            <a:r>
              <a:rPr lang="en-US" sz="1300" b="1" dirty="0">
                <a:solidFill>
                  <a:srgbClr val="FFFFFF"/>
                </a:solidFill>
              </a:rPr>
              <a:t>Embalaje rígido y antiestático; sellos PR-088</a:t>
            </a:r>
            <a:endParaRPr lang="en-US" sz="1300" dirty="0"/>
          </a:p>
        </p:txBody>
      </p:sp>
      <p:sp>
        <p:nvSpPr>
          <p:cNvPr id="20" name="Shape 18"/>
          <p:cNvSpPr/>
          <p:nvPr/>
        </p:nvSpPr>
        <p:spPr>
          <a:xfrm>
            <a:off x="6217920" y="3931920"/>
            <a:ext cx="2468880" cy="914400"/>
          </a:xfrm>
          <a:prstGeom prst="roundRect">
            <a:avLst>
              <a:gd name="adj" fmla="val 8000"/>
            </a:avLst>
          </a:prstGeom>
          <a:solidFill>
            <a:srgbClr val="2E7D6B"/>
          </a:solidFill>
          <a:ln w="12700">
            <a:solidFill>
              <a:srgbClr val="2E7D6B"/>
            </a:solidFill>
            <a:prstDash val="solid"/>
          </a:ln>
        </p:spPr>
        <p:txBody>
          <a:bodyPr/>
          <a:lstStyle/>
          <a:p>
            <a:endParaRPr lang="es-CO"/>
          </a:p>
        </p:txBody>
      </p:sp>
      <p:sp>
        <p:nvSpPr>
          <p:cNvPr id="21" name="Text 19"/>
          <p:cNvSpPr txBox="1"/>
          <p:nvPr/>
        </p:nvSpPr>
        <p:spPr>
          <a:xfrm>
            <a:off x="6263640" y="3931920"/>
            <a:ext cx="2377440" cy="914400"/>
          </a:xfrm>
          <a:prstGeom prst="rect">
            <a:avLst/>
          </a:prstGeom>
          <a:noFill/>
          <a:ln/>
        </p:spPr>
        <p:txBody>
          <a:bodyPr wrap="square" lIns="0" tIns="0" rIns="0" bIns="0" rtlCol="0" anchor="ctr"/>
          <a:lstStyle/>
          <a:p>
            <a:pPr marL="0" indent="0" algn="ctr">
              <a:buNone/>
            </a:pPr>
            <a:r>
              <a:rPr lang="en-US" sz="1300" b="1" dirty="0">
                <a:solidFill>
                  <a:srgbClr val="FFFFFF"/>
                </a:solidFill>
              </a:rPr>
              <a:t>Transporte con custodia continua (Anexo B)</a:t>
            </a:r>
            <a:endParaRPr lang="en-US" sz="1300" dirty="0"/>
          </a:p>
        </p:txBody>
      </p:sp>
      <p:sp>
        <p:nvSpPr>
          <p:cNvPr id="22" name="Shape 20"/>
          <p:cNvSpPr/>
          <p:nvPr/>
        </p:nvSpPr>
        <p:spPr>
          <a:xfrm>
            <a:off x="3337560" y="3931920"/>
            <a:ext cx="2468880" cy="914400"/>
          </a:xfrm>
          <a:prstGeom prst="roundRect">
            <a:avLst>
              <a:gd name="adj" fmla="val 8000"/>
            </a:avLst>
          </a:prstGeom>
          <a:solidFill>
            <a:srgbClr val="1F3A5F"/>
          </a:solidFill>
          <a:ln w="12700">
            <a:solidFill>
              <a:srgbClr val="1F3A5F"/>
            </a:solidFill>
            <a:prstDash val="solid"/>
          </a:ln>
        </p:spPr>
        <p:txBody>
          <a:bodyPr/>
          <a:lstStyle/>
          <a:p>
            <a:endParaRPr lang="es-CO"/>
          </a:p>
        </p:txBody>
      </p:sp>
      <p:sp>
        <p:nvSpPr>
          <p:cNvPr id="23" name="Text 21"/>
          <p:cNvSpPr txBox="1"/>
          <p:nvPr/>
        </p:nvSpPr>
        <p:spPr>
          <a:xfrm>
            <a:off x="3383280" y="3931920"/>
            <a:ext cx="2377440" cy="914400"/>
          </a:xfrm>
          <a:prstGeom prst="rect">
            <a:avLst/>
          </a:prstGeom>
          <a:noFill/>
          <a:ln/>
        </p:spPr>
        <p:txBody>
          <a:bodyPr wrap="square" lIns="0" tIns="0" rIns="0" bIns="0" rtlCol="0" anchor="ctr"/>
          <a:lstStyle/>
          <a:p>
            <a:pPr marL="0" indent="0" algn="ctr">
              <a:buNone/>
            </a:pPr>
            <a:r>
              <a:rPr lang="en-US" sz="1300" b="1" dirty="0">
                <a:solidFill>
                  <a:srgbClr val="FFFFFF"/>
                </a:solidFill>
              </a:rPr>
              <a:t>Imagen física de NVMe con bloqueador (Fig. 5)</a:t>
            </a:r>
            <a:endParaRPr lang="en-US" sz="1300" dirty="0"/>
          </a:p>
        </p:txBody>
      </p:sp>
      <p:sp>
        <p:nvSpPr>
          <p:cNvPr id="24" name="Shape 22"/>
          <p:cNvSpPr/>
          <p:nvPr/>
        </p:nvSpPr>
        <p:spPr>
          <a:xfrm>
            <a:off x="457200" y="3931920"/>
            <a:ext cx="2468880" cy="914400"/>
          </a:xfrm>
          <a:prstGeom prst="roundRect">
            <a:avLst>
              <a:gd name="adj" fmla="val 8000"/>
            </a:avLst>
          </a:prstGeom>
          <a:solidFill>
            <a:srgbClr val="1F3A5F"/>
          </a:solidFill>
          <a:ln w="12700">
            <a:solidFill>
              <a:srgbClr val="1F3A5F"/>
            </a:solidFill>
            <a:prstDash val="solid"/>
          </a:ln>
        </p:spPr>
        <p:txBody>
          <a:bodyPr/>
          <a:lstStyle/>
          <a:p>
            <a:endParaRPr lang="es-CO"/>
          </a:p>
        </p:txBody>
      </p:sp>
      <p:sp>
        <p:nvSpPr>
          <p:cNvPr id="25" name="Text 23"/>
          <p:cNvSpPr txBox="1"/>
          <p:nvPr/>
        </p:nvSpPr>
        <p:spPr>
          <a:xfrm>
            <a:off x="502920" y="3931920"/>
            <a:ext cx="2377440" cy="914400"/>
          </a:xfrm>
          <a:prstGeom prst="rect">
            <a:avLst/>
          </a:prstGeom>
          <a:noFill/>
          <a:ln/>
        </p:spPr>
        <p:txBody>
          <a:bodyPr wrap="square" lIns="0" tIns="0" rIns="0" bIns="0" rtlCol="0" anchor="ctr"/>
          <a:lstStyle/>
          <a:p>
            <a:pPr marL="0" indent="0" algn="ctr">
              <a:buNone/>
            </a:pPr>
            <a:r>
              <a:rPr lang="en-US" sz="1300" b="1" dirty="0">
                <a:solidFill>
                  <a:srgbClr val="FFFFFF"/>
                </a:solidFill>
              </a:rPr>
              <a:t>Reconstruir RAID 0 · verificar hash · analizar</a:t>
            </a:r>
            <a:endParaRPr lang="en-US" sz="1300" dirty="0"/>
          </a:p>
        </p:txBody>
      </p:sp>
      <p:sp>
        <p:nvSpPr>
          <p:cNvPr id="26" name="Shape 24"/>
          <p:cNvSpPr/>
          <p:nvPr/>
        </p:nvSpPr>
        <p:spPr>
          <a:xfrm flipH="1">
            <a:off x="8686800" y="4389120"/>
            <a:ext cx="411480" cy="914"/>
          </a:xfrm>
          <a:prstGeom prst="line">
            <a:avLst/>
          </a:prstGeom>
          <a:noFill/>
          <a:ln w="19050">
            <a:solidFill>
              <a:srgbClr val="6C7A8C"/>
            </a:solidFill>
            <a:prstDash val="solid"/>
            <a:tailEnd type="triangle"/>
          </a:ln>
        </p:spPr>
        <p:txBody>
          <a:bodyPr/>
          <a:lstStyle/>
          <a:p>
            <a:endParaRPr lang="es-CO"/>
          </a:p>
        </p:txBody>
      </p:sp>
      <p:sp>
        <p:nvSpPr>
          <p:cNvPr id="27" name="Shape 25"/>
          <p:cNvSpPr/>
          <p:nvPr/>
        </p:nvSpPr>
        <p:spPr>
          <a:xfrm flipH="1">
            <a:off x="5806440" y="4389120"/>
            <a:ext cx="411480" cy="914"/>
          </a:xfrm>
          <a:prstGeom prst="line">
            <a:avLst/>
          </a:prstGeom>
          <a:noFill/>
          <a:ln w="19050">
            <a:solidFill>
              <a:srgbClr val="6C7A8C"/>
            </a:solidFill>
            <a:prstDash val="solid"/>
            <a:tailEnd type="triangle"/>
          </a:ln>
        </p:spPr>
        <p:txBody>
          <a:bodyPr/>
          <a:lstStyle/>
          <a:p>
            <a:endParaRPr lang="es-CO"/>
          </a:p>
        </p:txBody>
      </p:sp>
      <p:sp>
        <p:nvSpPr>
          <p:cNvPr id="28" name="Shape 26"/>
          <p:cNvSpPr/>
          <p:nvPr/>
        </p:nvSpPr>
        <p:spPr>
          <a:xfrm flipH="1">
            <a:off x="2926080" y="4389120"/>
            <a:ext cx="411480" cy="914"/>
          </a:xfrm>
          <a:prstGeom prst="line">
            <a:avLst/>
          </a:prstGeom>
          <a:noFill/>
          <a:ln w="19050">
            <a:solidFill>
              <a:srgbClr val="6C7A8C"/>
            </a:solidFill>
            <a:prstDash val="solid"/>
            <a:tailEnd type="triangle"/>
          </a:ln>
        </p:spPr>
        <p:txBody>
          <a:bodyPr/>
          <a:lstStyle/>
          <a:p>
            <a:endParaRPr lang="es-CO"/>
          </a:p>
        </p:txBody>
      </p:sp>
      <p:sp>
        <p:nvSpPr>
          <p:cNvPr id="29" name="chasis"/>
          <p:cNvSpPr/>
          <p:nvPr/>
        </p:nvSpPr>
        <p:spPr>
          <a:xfrm>
            <a:off x="457200" y="5166360"/>
            <a:ext cx="11155680" cy="1005840"/>
          </a:xfrm>
          <a:prstGeom prst="roundRect">
            <a:avLst>
              <a:gd name="adj" fmla="val 7273"/>
            </a:avLst>
          </a:prstGeom>
          <a:solidFill>
            <a:srgbClr val="EEF2F7"/>
          </a:solidFill>
          <a:ln w="12700">
            <a:solidFill>
              <a:srgbClr val="EEF2F7"/>
            </a:solidFill>
            <a:prstDash val="solid"/>
          </a:ln>
        </p:spPr>
        <p:txBody>
          <a:bodyPr/>
          <a:lstStyle/>
          <a:p>
            <a:endParaRPr lang="es-CO"/>
          </a:p>
        </p:txBody>
      </p:sp>
      <p:sp>
        <p:nvSpPr>
          <p:cNvPr id="30" name="Text 28"/>
          <p:cNvSpPr txBox="1"/>
          <p:nvPr/>
        </p:nvSpPr>
        <p:spPr>
          <a:xfrm>
            <a:off x="640080" y="5212080"/>
            <a:ext cx="10789920" cy="914400"/>
          </a:xfrm>
          <a:prstGeom prst="rect">
            <a:avLst/>
          </a:prstGeom>
          <a:noFill/>
          <a:ln/>
        </p:spPr>
        <p:txBody>
          <a:bodyPr wrap="square" lIns="635" tIns="635" rIns="635" bIns="635" rtlCol="0" anchor="ctr"/>
          <a:lstStyle/>
          <a:p>
            <a:pPr marL="0" indent="0">
              <a:buNone/>
            </a:pPr>
            <a:r>
              <a:rPr lang="en-US" sz="1400" b="1" dirty="0">
                <a:solidFill>
                  <a:srgbClr val="1F3A5F"/>
                </a:solidFill>
              </a:rPr>
              <a:t>¿Por qué el chasis y no la pared o el botón de apagado? </a:t>
            </a:r>
            <a:r>
              <a:rPr lang="en-US" sz="1400" dirty="0">
                <a:solidFill>
                  <a:schemeClr val="tx1"/>
                </a:solidFill>
              </a:rPr>
              <a:t>Por la UPS, desenchufar en la pared no apaga el equipo. El apagado ordenado puede ejecutar scripts antiforenses o desmontar el volumen. Como el contenido en claro ya se adquirió, el corte abrupto es la opción con menos alteraciones.</a:t>
            </a:r>
            <a:endParaRPr lang="en-US" sz="14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
        <p:nvSpPr>
          <p:cNvPr id="33" name="TextBox 32">
            <a:extLst>
              <a:ext uri="{FF2B5EF4-FFF2-40B4-BE49-F238E27FC236}">
                <a16:creationId xmlns:a16="http://schemas.microsoft.com/office/drawing/2014/main" id="{3F37A715-39F7-0A5B-4195-CD0D0D7E99DC}"/>
              </a:ext>
            </a:extLst>
          </p:cNvPr>
          <p:cNvSpPr txBox="1"/>
          <p:nvPr/>
        </p:nvSpPr>
        <p:spPr>
          <a:xfrm>
            <a:off x="490653" y="6464809"/>
            <a:ext cx="5114692" cy="246221"/>
          </a:xfrm>
          <a:prstGeom prst="rect">
            <a:avLst/>
          </a:prstGeom>
          <a:solidFill>
            <a:schemeClr val="bg1"/>
          </a:solidFill>
        </p:spPr>
        <p:txBody>
          <a:bodyPr wrap="square" rtlCol="0">
            <a:spAutoFit/>
          </a:bodyPr>
          <a:lstStyle/>
          <a:p>
            <a:r>
              <a:rPr lang="es-MX" sz="1000" dirty="0"/>
              <a:t>Caso OPE-DEF-2026-088  -  Grupo 2  -  ISO/IEC 27037</a:t>
            </a:r>
            <a:endParaRPr lang="es-CO"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Preservación, contención y orden de volatilidad</a:t>
            </a:r>
            <a:endParaRPr lang="en-US" sz="3000" dirty="0"/>
          </a:p>
        </p:txBody>
      </p:sp>
      <p:sp>
        <p:nvSpPr>
          <p:cNvPr id="3" name="Text 1"/>
          <p:cNvSpPr txBox="1"/>
          <p:nvPr/>
        </p:nvSpPr>
        <p:spPr>
          <a:xfrm>
            <a:off x="548640" y="1234440"/>
            <a:ext cx="5760720" cy="365760"/>
          </a:xfrm>
          <a:prstGeom prst="rect">
            <a:avLst/>
          </a:prstGeom>
          <a:noFill/>
          <a:ln/>
        </p:spPr>
        <p:txBody>
          <a:bodyPr wrap="square" lIns="635" tIns="635" rIns="635" bIns="635" rtlCol="0" anchor="t"/>
          <a:lstStyle/>
          <a:p>
            <a:pPr marL="0" indent="0">
              <a:buNone/>
            </a:pPr>
            <a:r>
              <a:rPr lang="en-US" sz="1700" b="1" dirty="0">
                <a:solidFill>
                  <a:schemeClr val="accent1"/>
                </a:solidFill>
              </a:rPr>
              <a:t>Orden de volatilidad aplicado (RFC 3227 · 6.8)</a:t>
            </a:r>
            <a:endParaRPr lang="en-US" sz="1700" dirty="0"/>
          </a:p>
        </p:txBody>
      </p:sp>
      <p:sp>
        <p:nvSpPr>
          <p:cNvPr id="4" name="v0"/>
          <p:cNvSpPr/>
          <p:nvPr/>
        </p:nvSpPr>
        <p:spPr>
          <a:xfrm>
            <a:off x="548640" y="1737360"/>
            <a:ext cx="5760720" cy="493776"/>
          </a:xfrm>
          <a:prstGeom prst="roundRect">
            <a:avLst>
              <a:gd name="adj" fmla="val 14815"/>
            </a:avLst>
          </a:prstGeom>
          <a:solidFill>
            <a:srgbClr val="C9CFD8"/>
          </a:solidFill>
          <a:ln w="12700">
            <a:solidFill>
              <a:srgbClr val="C9CFD8"/>
            </a:solidFill>
            <a:prstDash val="solid"/>
          </a:ln>
        </p:spPr>
        <p:txBody>
          <a:bodyPr/>
          <a:lstStyle/>
          <a:p>
            <a:endParaRPr lang="es-CO"/>
          </a:p>
        </p:txBody>
      </p:sp>
      <p:sp>
        <p:nvSpPr>
          <p:cNvPr id="5" name="Text 3"/>
          <p:cNvSpPr txBox="1"/>
          <p:nvPr/>
        </p:nvSpPr>
        <p:spPr>
          <a:xfrm>
            <a:off x="685800" y="1737360"/>
            <a:ext cx="5577840" cy="493776"/>
          </a:xfrm>
          <a:prstGeom prst="rect">
            <a:avLst/>
          </a:prstGeom>
          <a:noFill/>
          <a:ln/>
        </p:spPr>
        <p:txBody>
          <a:bodyPr wrap="square" lIns="635" tIns="635" rIns="635" bIns="635" rtlCol="0" anchor="ctr"/>
          <a:lstStyle/>
          <a:p>
            <a:pPr marL="0" indent="0">
              <a:buNone/>
            </a:pPr>
            <a:r>
              <a:rPr lang="en-US" sz="1300" b="1" dirty="0">
                <a:solidFill>
                  <a:schemeClr val="tx2"/>
                </a:solidFill>
              </a:rPr>
              <a:t>09:17   </a:t>
            </a:r>
            <a:r>
              <a:rPr lang="en-US" sz="1300" dirty="0">
                <a:solidFill>
                  <a:schemeClr val="tx2"/>
                </a:solidFill>
              </a:rPr>
              <a:t>Fijación foto y video de pantalla (D05)</a:t>
            </a:r>
            <a:endParaRPr lang="en-US" sz="1300" dirty="0"/>
          </a:p>
        </p:txBody>
      </p:sp>
      <p:sp>
        <p:nvSpPr>
          <p:cNvPr id="6" name="v1"/>
          <p:cNvSpPr/>
          <p:nvPr/>
        </p:nvSpPr>
        <p:spPr>
          <a:xfrm>
            <a:off x="548640" y="2340864"/>
            <a:ext cx="5532120" cy="493776"/>
          </a:xfrm>
          <a:prstGeom prst="roundRect">
            <a:avLst>
              <a:gd name="adj" fmla="val 14815"/>
            </a:avLst>
          </a:prstGeom>
          <a:solidFill>
            <a:srgbClr val="F7D778"/>
          </a:solidFill>
          <a:ln w="12700">
            <a:solidFill>
              <a:srgbClr val="F7D778"/>
            </a:solidFill>
            <a:prstDash val="solid"/>
          </a:ln>
        </p:spPr>
        <p:txBody>
          <a:bodyPr/>
          <a:lstStyle/>
          <a:p>
            <a:endParaRPr lang="es-CO"/>
          </a:p>
        </p:txBody>
      </p:sp>
      <p:sp>
        <p:nvSpPr>
          <p:cNvPr id="7" name="Text 5"/>
          <p:cNvSpPr txBox="1"/>
          <p:nvPr/>
        </p:nvSpPr>
        <p:spPr>
          <a:xfrm>
            <a:off x="685800" y="2340864"/>
            <a:ext cx="5349240" cy="493776"/>
          </a:xfrm>
          <a:prstGeom prst="rect">
            <a:avLst/>
          </a:prstGeom>
          <a:noFill/>
          <a:ln/>
        </p:spPr>
        <p:txBody>
          <a:bodyPr wrap="square" lIns="635" tIns="635" rIns="635" bIns="635" rtlCol="0" anchor="ctr"/>
          <a:lstStyle/>
          <a:p>
            <a:pPr marL="0" indent="0">
              <a:buNone/>
            </a:pPr>
            <a:r>
              <a:rPr lang="en-US" sz="1300" b="1" dirty="0">
                <a:solidFill>
                  <a:schemeClr val="tx2"/>
                </a:solidFill>
              </a:rPr>
              <a:t>09:24   </a:t>
            </a:r>
            <a:r>
              <a:rPr lang="en-US" sz="1300" dirty="0">
                <a:solidFill>
                  <a:schemeClr val="tx2"/>
                </a:solidFill>
              </a:rPr>
              <a:t>SPAN + bloqueo de egreso / sinkhole DNS (D06)</a:t>
            </a:r>
            <a:endParaRPr lang="en-US" sz="1300" dirty="0"/>
          </a:p>
        </p:txBody>
      </p:sp>
      <p:sp>
        <p:nvSpPr>
          <p:cNvPr id="8" name="v2"/>
          <p:cNvSpPr/>
          <p:nvPr/>
        </p:nvSpPr>
        <p:spPr>
          <a:xfrm>
            <a:off x="548640" y="2944368"/>
            <a:ext cx="5303520" cy="493776"/>
          </a:xfrm>
          <a:prstGeom prst="roundRect">
            <a:avLst>
              <a:gd name="adj" fmla="val 14815"/>
            </a:avLst>
          </a:prstGeom>
          <a:solidFill>
            <a:srgbClr val="F2A900"/>
          </a:solidFill>
          <a:ln w="12700">
            <a:solidFill>
              <a:srgbClr val="F2A900"/>
            </a:solidFill>
            <a:prstDash val="solid"/>
          </a:ln>
        </p:spPr>
        <p:txBody>
          <a:bodyPr/>
          <a:lstStyle/>
          <a:p>
            <a:endParaRPr lang="es-CO"/>
          </a:p>
        </p:txBody>
      </p:sp>
      <p:sp>
        <p:nvSpPr>
          <p:cNvPr id="9" name="Text 7"/>
          <p:cNvSpPr txBox="1"/>
          <p:nvPr/>
        </p:nvSpPr>
        <p:spPr>
          <a:xfrm>
            <a:off x="685800" y="2944368"/>
            <a:ext cx="5120640" cy="493776"/>
          </a:xfrm>
          <a:prstGeom prst="rect">
            <a:avLst/>
          </a:prstGeom>
          <a:noFill/>
          <a:ln/>
        </p:spPr>
        <p:txBody>
          <a:bodyPr wrap="square" lIns="635" tIns="635" rIns="635" bIns="635" rtlCol="0" anchor="ctr"/>
          <a:lstStyle/>
          <a:p>
            <a:pPr marL="0" indent="0">
              <a:buNone/>
            </a:pPr>
            <a:r>
              <a:rPr lang="en-US" sz="1300" b="1" dirty="0">
                <a:solidFill>
                  <a:schemeClr val="tx2"/>
                </a:solidFill>
              </a:rPr>
              <a:t>09:26   </a:t>
            </a:r>
            <a:r>
              <a:rPr lang="en-US" sz="1300" dirty="0">
                <a:solidFill>
                  <a:schemeClr val="tx2"/>
                </a:solidFill>
              </a:rPr>
              <a:t>Volcado de RAM 64 GB (D01)</a:t>
            </a:r>
            <a:endParaRPr lang="en-US" sz="1300" dirty="0"/>
          </a:p>
        </p:txBody>
      </p:sp>
      <p:sp>
        <p:nvSpPr>
          <p:cNvPr id="10" name="v3"/>
          <p:cNvSpPr/>
          <p:nvPr/>
        </p:nvSpPr>
        <p:spPr>
          <a:xfrm>
            <a:off x="548640" y="3547872"/>
            <a:ext cx="5074920" cy="493776"/>
          </a:xfrm>
          <a:prstGeom prst="roundRect">
            <a:avLst>
              <a:gd name="adj" fmla="val 14815"/>
            </a:avLst>
          </a:prstGeom>
          <a:solidFill>
            <a:srgbClr val="F7C74A"/>
          </a:solidFill>
          <a:ln w="12700">
            <a:solidFill>
              <a:srgbClr val="F7C74A"/>
            </a:solidFill>
            <a:prstDash val="solid"/>
          </a:ln>
        </p:spPr>
        <p:txBody>
          <a:bodyPr/>
          <a:lstStyle/>
          <a:p>
            <a:endParaRPr lang="es-CO"/>
          </a:p>
        </p:txBody>
      </p:sp>
      <p:sp>
        <p:nvSpPr>
          <p:cNvPr id="11" name="Text 9"/>
          <p:cNvSpPr txBox="1"/>
          <p:nvPr/>
        </p:nvSpPr>
        <p:spPr>
          <a:xfrm>
            <a:off x="685800" y="3547872"/>
            <a:ext cx="4892040" cy="493776"/>
          </a:xfrm>
          <a:prstGeom prst="rect">
            <a:avLst/>
          </a:prstGeom>
          <a:noFill/>
          <a:ln/>
        </p:spPr>
        <p:txBody>
          <a:bodyPr wrap="square" lIns="635" tIns="635" rIns="635" bIns="635" rtlCol="0" anchor="ctr"/>
          <a:lstStyle/>
          <a:p>
            <a:pPr marL="0" indent="0">
              <a:buNone/>
            </a:pPr>
            <a:r>
              <a:rPr lang="en-US" sz="1300" b="1" dirty="0">
                <a:solidFill>
                  <a:schemeClr val="tx2"/>
                </a:solidFill>
              </a:rPr>
              <a:t>09:49   </a:t>
            </a:r>
            <a:r>
              <a:rPr lang="en-US" sz="1300" dirty="0">
                <a:solidFill>
                  <a:schemeClr val="tx2"/>
                </a:solidFill>
              </a:rPr>
              <a:t>Respuesta en vivo: procesos, ARP, sockets (D02)</a:t>
            </a:r>
            <a:endParaRPr lang="en-US" sz="1300" dirty="0"/>
          </a:p>
        </p:txBody>
      </p:sp>
      <p:sp>
        <p:nvSpPr>
          <p:cNvPr id="12" name="v4"/>
          <p:cNvSpPr/>
          <p:nvPr/>
        </p:nvSpPr>
        <p:spPr>
          <a:xfrm>
            <a:off x="548640" y="4151376"/>
            <a:ext cx="4846320" cy="493776"/>
          </a:xfrm>
          <a:prstGeom prst="roundRect">
            <a:avLst>
              <a:gd name="adj" fmla="val 14815"/>
            </a:avLst>
          </a:prstGeom>
          <a:solidFill>
            <a:srgbClr val="F7D778"/>
          </a:solidFill>
          <a:ln w="12700">
            <a:solidFill>
              <a:srgbClr val="F7D778"/>
            </a:solidFill>
            <a:prstDash val="solid"/>
          </a:ln>
        </p:spPr>
        <p:txBody>
          <a:bodyPr/>
          <a:lstStyle/>
          <a:p>
            <a:endParaRPr lang="es-CO"/>
          </a:p>
        </p:txBody>
      </p:sp>
      <p:sp>
        <p:nvSpPr>
          <p:cNvPr id="13" name="Text 11"/>
          <p:cNvSpPr txBox="1"/>
          <p:nvPr/>
        </p:nvSpPr>
        <p:spPr>
          <a:xfrm>
            <a:off x="685800" y="4151376"/>
            <a:ext cx="4663440" cy="493776"/>
          </a:xfrm>
          <a:prstGeom prst="rect">
            <a:avLst/>
          </a:prstGeom>
          <a:noFill/>
          <a:ln/>
        </p:spPr>
        <p:txBody>
          <a:bodyPr wrap="square" lIns="635" tIns="635" rIns="635" bIns="635" rtlCol="0" anchor="ctr"/>
          <a:lstStyle/>
          <a:p>
            <a:pPr marL="0" indent="0">
              <a:buNone/>
            </a:pPr>
            <a:r>
              <a:rPr lang="en-US" sz="1300" b="1" dirty="0">
                <a:solidFill>
                  <a:schemeClr val="tx2"/>
                </a:solidFill>
              </a:rPr>
              <a:t>10:08   </a:t>
            </a:r>
            <a:r>
              <a:rPr lang="en-US" sz="1300" dirty="0">
                <a:solidFill>
                  <a:schemeClr val="tx2"/>
                </a:solidFill>
              </a:rPr>
              <a:t>Imagen lógica de V:\ descifrado (D03)</a:t>
            </a:r>
            <a:endParaRPr lang="en-US" sz="1300" dirty="0"/>
          </a:p>
        </p:txBody>
      </p:sp>
      <p:sp>
        <p:nvSpPr>
          <p:cNvPr id="14" name="v5"/>
          <p:cNvSpPr/>
          <p:nvPr/>
        </p:nvSpPr>
        <p:spPr>
          <a:xfrm>
            <a:off x="548640" y="4754880"/>
            <a:ext cx="4617720" cy="493776"/>
          </a:xfrm>
          <a:prstGeom prst="roundRect">
            <a:avLst>
              <a:gd name="adj" fmla="val 14815"/>
            </a:avLst>
          </a:prstGeom>
          <a:solidFill>
            <a:srgbClr val="FBE8B0"/>
          </a:solidFill>
          <a:ln w="12700">
            <a:solidFill>
              <a:srgbClr val="FBE8B0"/>
            </a:solidFill>
            <a:prstDash val="solid"/>
          </a:ln>
        </p:spPr>
        <p:txBody>
          <a:bodyPr/>
          <a:lstStyle/>
          <a:p>
            <a:endParaRPr lang="es-CO"/>
          </a:p>
        </p:txBody>
      </p:sp>
      <p:sp>
        <p:nvSpPr>
          <p:cNvPr id="15" name="Text 13"/>
          <p:cNvSpPr txBox="1"/>
          <p:nvPr/>
        </p:nvSpPr>
        <p:spPr>
          <a:xfrm>
            <a:off x="685800" y="4754880"/>
            <a:ext cx="4434840" cy="493776"/>
          </a:xfrm>
          <a:prstGeom prst="rect">
            <a:avLst/>
          </a:prstGeom>
          <a:noFill/>
          <a:ln/>
        </p:spPr>
        <p:txBody>
          <a:bodyPr wrap="square" lIns="635" tIns="635" rIns="635" bIns="635" rtlCol="0" anchor="ctr"/>
          <a:lstStyle/>
          <a:p>
            <a:pPr marL="0" indent="0">
              <a:buNone/>
            </a:pPr>
            <a:r>
              <a:rPr lang="en-US" sz="1300" b="1" dirty="0">
                <a:solidFill>
                  <a:schemeClr val="tx2"/>
                </a:solidFill>
              </a:rPr>
              <a:t>11:32   </a:t>
            </a:r>
            <a:r>
              <a:rPr lang="en-US" sz="1300" dirty="0">
                <a:solidFill>
                  <a:schemeClr val="tx2"/>
                </a:solidFill>
              </a:rPr>
              <a:t>pagefile, PowerShell, .evtx, $MFT (D04)</a:t>
            </a:r>
            <a:endParaRPr lang="en-US" sz="1300" dirty="0"/>
          </a:p>
        </p:txBody>
      </p:sp>
      <p:sp>
        <p:nvSpPr>
          <p:cNvPr id="16" name="v6"/>
          <p:cNvSpPr/>
          <p:nvPr/>
        </p:nvSpPr>
        <p:spPr>
          <a:xfrm>
            <a:off x="548640" y="5358384"/>
            <a:ext cx="4389120" cy="493776"/>
          </a:xfrm>
          <a:prstGeom prst="roundRect">
            <a:avLst>
              <a:gd name="adj" fmla="val 14815"/>
            </a:avLst>
          </a:prstGeom>
          <a:solidFill>
            <a:srgbClr val="C9CFD8"/>
          </a:solidFill>
          <a:ln w="12700">
            <a:solidFill>
              <a:srgbClr val="C9CFD8"/>
            </a:solidFill>
            <a:prstDash val="solid"/>
          </a:ln>
        </p:spPr>
        <p:txBody>
          <a:bodyPr/>
          <a:lstStyle/>
          <a:p>
            <a:endParaRPr lang="es-CO"/>
          </a:p>
        </p:txBody>
      </p:sp>
      <p:sp>
        <p:nvSpPr>
          <p:cNvPr id="17" name="Text 15"/>
          <p:cNvSpPr txBox="1"/>
          <p:nvPr/>
        </p:nvSpPr>
        <p:spPr>
          <a:xfrm>
            <a:off x="685800" y="5358384"/>
            <a:ext cx="4206240" cy="493776"/>
          </a:xfrm>
          <a:prstGeom prst="rect">
            <a:avLst/>
          </a:prstGeom>
          <a:noFill/>
          <a:ln/>
        </p:spPr>
        <p:txBody>
          <a:bodyPr wrap="square" lIns="635" tIns="635" rIns="635" bIns="635" rtlCol="0" anchor="ctr"/>
          <a:lstStyle/>
          <a:p>
            <a:pPr marL="0" indent="0">
              <a:buNone/>
            </a:pPr>
            <a:r>
              <a:rPr lang="en-US" sz="1300" b="1" dirty="0">
                <a:solidFill>
                  <a:schemeClr val="tx2"/>
                </a:solidFill>
              </a:rPr>
              <a:t>11:50   </a:t>
            </a:r>
            <a:r>
              <a:rPr lang="en-US" sz="1300" dirty="0">
                <a:solidFill>
                  <a:schemeClr val="tx2"/>
                </a:solidFill>
              </a:rPr>
              <a:t>Corte en el chasis → recolección física</a:t>
            </a:r>
            <a:endParaRPr lang="en-US" sz="1300" dirty="0"/>
          </a:p>
        </p:txBody>
      </p:sp>
      <p:sp>
        <p:nvSpPr>
          <p:cNvPr id="18" name="Text 16"/>
          <p:cNvSpPr txBox="1"/>
          <p:nvPr/>
        </p:nvSpPr>
        <p:spPr>
          <a:xfrm>
            <a:off x="548640" y="5989320"/>
            <a:ext cx="4572000" cy="274320"/>
          </a:xfrm>
          <a:prstGeom prst="rect">
            <a:avLst/>
          </a:prstGeom>
          <a:noFill/>
          <a:ln/>
        </p:spPr>
        <p:txBody>
          <a:bodyPr wrap="square" lIns="635" tIns="635" rIns="635" bIns="635" rtlCol="0" anchor="t"/>
          <a:lstStyle/>
          <a:p>
            <a:pPr marL="0" indent="0">
              <a:buNone/>
            </a:pPr>
            <a:r>
              <a:rPr lang="en-US" sz="1100" i="1" dirty="0">
                <a:solidFill>
                  <a:schemeClr val="accent5"/>
                </a:solidFill>
              </a:rPr>
              <a:t>más volátil ↑   ·   menos volátil ↓</a:t>
            </a:r>
            <a:endParaRPr lang="en-US" sz="1100" dirty="0"/>
          </a:p>
        </p:txBody>
      </p:sp>
      <p:sp>
        <p:nvSpPr>
          <p:cNvPr id="19" name="Text 17"/>
          <p:cNvSpPr txBox="1"/>
          <p:nvPr/>
        </p:nvSpPr>
        <p:spPr>
          <a:xfrm>
            <a:off x="6675120" y="1234440"/>
            <a:ext cx="4937760" cy="365760"/>
          </a:xfrm>
          <a:prstGeom prst="rect">
            <a:avLst/>
          </a:prstGeom>
          <a:noFill/>
          <a:ln/>
        </p:spPr>
        <p:txBody>
          <a:bodyPr wrap="square" lIns="635" tIns="635" rIns="635" bIns="635" rtlCol="0" anchor="t"/>
          <a:lstStyle/>
          <a:p>
            <a:pPr marL="0" indent="0">
              <a:buNone/>
            </a:pPr>
            <a:r>
              <a:rPr lang="en-US" sz="1700" b="1" dirty="0">
                <a:solidFill>
                  <a:schemeClr val="accent1"/>
                </a:solidFill>
              </a:rPr>
              <a:t>Contención de riesgos (6.2)</a:t>
            </a:r>
            <a:endParaRPr lang="en-US" sz="1700" dirty="0"/>
          </a:p>
        </p:txBody>
      </p:sp>
      <p:sp>
        <p:nvSpPr>
          <p:cNvPr id="20" name="Shape 18"/>
          <p:cNvSpPr/>
          <p:nvPr/>
        </p:nvSpPr>
        <p:spPr>
          <a:xfrm>
            <a:off x="6675120" y="1847088"/>
            <a:ext cx="384048" cy="384048"/>
          </a:xfrm>
          <a:prstGeom prst="ellipse">
            <a:avLst/>
          </a:prstGeom>
          <a:solidFill>
            <a:srgbClr val="2E7D6B"/>
          </a:solidFill>
          <a:ln w="12700">
            <a:solidFill>
              <a:srgbClr val="2E7D6B"/>
            </a:solidFill>
            <a:prstDash val="solid"/>
          </a:ln>
        </p:spPr>
        <p:txBody>
          <a:bodyPr/>
          <a:lstStyle/>
          <a:p>
            <a:endParaRPr lang="es-CO"/>
          </a:p>
        </p:txBody>
      </p:sp>
      <p:sp>
        <p:nvSpPr>
          <p:cNvPr id="21" name="Text 19"/>
          <p:cNvSpPr txBox="1"/>
          <p:nvPr/>
        </p:nvSpPr>
        <p:spPr>
          <a:xfrm>
            <a:off x="6675120" y="1847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2" name="Text 20"/>
          <p:cNvSpPr txBox="1"/>
          <p:nvPr/>
        </p:nvSpPr>
        <p:spPr>
          <a:xfrm>
            <a:off x="7178040" y="1737360"/>
            <a:ext cx="4434840" cy="822960"/>
          </a:xfrm>
          <a:prstGeom prst="rect">
            <a:avLst/>
          </a:prstGeom>
          <a:noFill/>
          <a:ln/>
        </p:spPr>
        <p:txBody>
          <a:bodyPr wrap="square" lIns="635" tIns="635" rIns="635" bIns="635" rtlCol="0" anchor="t"/>
          <a:lstStyle/>
          <a:p>
            <a:pPr marL="0" indent="0">
              <a:buNone/>
            </a:pPr>
            <a:r>
              <a:rPr lang="en-US" sz="1400" b="1" dirty="0">
                <a:solidFill>
                  <a:srgbClr val="14273E"/>
                </a:solidFill>
              </a:rPr>
              <a:t>Borrado remoto / logic bomb</a:t>
            </a:r>
            <a:endParaRPr lang="en-US" sz="1400" dirty="0"/>
          </a:p>
          <a:p>
            <a:pPr marL="0" indent="0">
              <a:buNone/>
            </a:pPr>
            <a:r>
              <a:rPr lang="en-US" sz="1200" dirty="0">
                <a:solidFill>
                  <a:srgbClr val="3A4556"/>
                </a:solidFill>
              </a:rPr>
              <a:t>ACL de egreso y sinkhole en el switch; el enlace sigue activo, así que ARP y TCP no cambian</a:t>
            </a:r>
            <a:endParaRPr lang="en-US" sz="1400" dirty="0"/>
          </a:p>
        </p:txBody>
      </p:sp>
      <p:sp>
        <p:nvSpPr>
          <p:cNvPr id="23" name="Shape 21"/>
          <p:cNvSpPr/>
          <p:nvPr/>
        </p:nvSpPr>
        <p:spPr>
          <a:xfrm>
            <a:off x="6675120" y="2715768"/>
            <a:ext cx="384048" cy="384048"/>
          </a:xfrm>
          <a:prstGeom prst="ellipse">
            <a:avLst/>
          </a:prstGeom>
          <a:solidFill>
            <a:srgbClr val="2E7D6B"/>
          </a:solidFill>
          <a:ln w="12700">
            <a:solidFill>
              <a:srgbClr val="2E7D6B"/>
            </a:solidFill>
            <a:prstDash val="solid"/>
          </a:ln>
        </p:spPr>
        <p:txBody>
          <a:bodyPr/>
          <a:lstStyle/>
          <a:p>
            <a:endParaRPr lang="es-CO"/>
          </a:p>
        </p:txBody>
      </p:sp>
      <p:sp>
        <p:nvSpPr>
          <p:cNvPr id="24" name="Text 22"/>
          <p:cNvSpPr txBox="1"/>
          <p:nvPr/>
        </p:nvSpPr>
        <p:spPr>
          <a:xfrm>
            <a:off x="6675120" y="27157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5" name="Text 23"/>
          <p:cNvSpPr txBox="1"/>
          <p:nvPr/>
        </p:nvSpPr>
        <p:spPr>
          <a:xfrm>
            <a:off x="7178040" y="2606040"/>
            <a:ext cx="4434840" cy="822960"/>
          </a:xfrm>
          <a:prstGeom prst="rect">
            <a:avLst/>
          </a:prstGeom>
          <a:noFill/>
          <a:ln/>
        </p:spPr>
        <p:txBody>
          <a:bodyPr wrap="square" lIns="635" tIns="635" rIns="635" bIns="635" rtlCol="0" anchor="t"/>
          <a:lstStyle/>
          <a:p>
            <a:pPr marL="0" indent="0">
              <a:buNone/>
            </a:pPr>
            <a:r>
              <a:rPr lang="en-US" sz="1400" b="1" dirty="0">
                <a:solidFill>
                  <a:srgbClr val="14273E"/>
                </a:solidFill>
              </a:rPr>
              <a:t>Bloqueo de sesión</a:t>
            </a:r>
            <a:endParaRPr lang="en-US" sz="1400" dirty="0"/>
          </a:p>
          <a:p>
            <a:pPr marL="0" indent="0">
              <a:buNone/>
            </a:pPr>
            <a:r>
              <a:rPr lang="en-US" sz="1200" dirty="0">
                <a:solidFill>
                  <a:srgbClr val="3A4556"/>
                </a:solidFill>
              </a:rPr>
              <a:t>El jiggler sigue conectado hasta terminar la adquisición en vivo</a:t>
            </a:r>
            <a:endParaRPr lang="en-US" sz="1400" dirty="0"/>
          </a:p>
        </p:txBody>
      </p:sp>
      <p:sp>
        <p:nvSpPr>
          <p:cNvPr id="26" name="Shape 24"/>
          <p:cNvSpPr/>
          <p:nvPr/>
        </p:nvSpPr>
        <p:spPr>
          <a:xfrm>
            <a:off x="6675120" y="3584448"/>
            <a:ext cx="384048" cy="384048"/>
          </a:xfrm>
          <a:prstGeom prst="ellipse">
            <a:avLst/>
          </a:prstGeom>
          <a:solidFill>
            <a:srgbClr val="2E7D6B"/>
          </a:solidFill>
          <a:ln w="12700">
            <a:solidFill>
              <a:srgbClr val="2E7D6B"/>
            </a:solidFill>
            <a:prstDash val="solid"/>
          </a:ln>
        </p:spPr>
        <p:txBody>
          <a:bodyPr/>
          <a:lstStyle/>
          <a:p>
            <a:endParaRPr lang="es-CO"/>
          </a:p>
        </p:txBody>
      </p:sp>
      <p:sp>
        <p:nvSpPr>
          <p:cNvPr id="27" name="Text 25"/>
          <p:cNvSpPr txBox="1"/>
          <p:nvPr/>
        </p:nvSpPr>
        <p:spPr>
          <a:xfrm>
            <a:off x="6675120" y="35844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8" name="Text 26"/>
          <p:cNvSpPr txBox="1"/>
          <p:nvPr/>
        </p:nvSpPr>
        <p:spPr>
          <a:xfrm>
            <a:off x="7178040" y="3474720"/>
            <a:ext cx="4434840" cy="822960"/>
          </a:xfrm>
          <a:prstGeom prst="rect">
            <a:avLst/>
          </a:prstGeom>
          <a:noFill/>
          <a:ln/>
        </p:spPr>
        <p:txBody>
          <a:bodyPr wrap="square" lIns="635" tIns="635" rIns="635" bIns="635" rtlCol="0" anchor="t"/>
          <a:lstStyle/>
          <a:p>
            <a:pPr marL="0" indent="0">
              <a:buNone/>
            </a:pPr>
            <a:r>
              <a:rPr lang="en-US" sz="1400" b="1" dirty="0">
                <a:solidFill>
                  <a:srgbClr val="14273E"/>
                </a:solidFill>
              </a:rPr>
              <a:t>Binarios troyanizados</a:t>
            </a:r>
            <a:endParaRPr lang="en-US" sz="1400" dirty="0"/>
          </a:p>
          <a:p>
            <a:pPr marL="0" indent="0">
              <a:buNone/>
            </a:pPr>
            <a:r>
              <a:rPr lang="en-US" sz="1200" dirty="0">
                <a:solidFill>
                  <a:srgbClr val="3A4556"/>
                </a:solidFill>
              </a:rPr>
              <a:t>Herramientas estáticas desde un medio de solo lectura verificado por hash</a:t>
            </a:r>
            <a:endParaRPr lang="en-US" sz="1400" dirty="0"/>
          </a:p>
        </p:txBody>
      </p:sp>
      <p:sp>
        <p:nvSpPr>
          <p:cNvPr id="29" name="Shape 27"/>
          <p:cNvSpPr/>
          <p:nvPr/>
        </p:nvSpPr>
        <p:spPr>
          <a:xfrm>
            <a:off x="6675120" y="4453128"/>
            <a:ext cx="384048" cy="384048"/>
          </a:xfrm>
          <a:prstGeom prst="ellipse">
            <a:avLst/>
          </a:prstGeom>
          <a:solidFill>
            <a:srgbClr val="2E7D6B"/>
          </a:solidFill>
          <a:ln w="12700">
            <a:solidFill>
              <a:srgbClr val="2E7D6B"/>
            </a:solidFill>
            <a:prstDash val="solid"/>
          </a:ln>
        </p:spPr>
        <p:txBody>
          <a:bodyPr/>
          <a:lstStyle/>
          <a:p>
            <a:endParaRPr lang="es-CO"/>
          </a:p>
        </p:txBody>
      </p:sp>
      <p:sp>
        <p:nvSpPr>
          <p:cNvPr id="30" name="Text 28"/>
          <p:cNvSpPr txBox="1"/>
          <p:nvPr/>
        </p:nvSpPr>
        <p:spPr>
          <a:xfrm>
            <a:off x="6675120" y="44531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31" name="Text 29"/>
          <p:cNvSpPr txBox="1"/>
          <p:nvPr/>
        </p:nvSpPr>
        <p:spPr>
          <a:xfrm>
            <a:off x="7178040" y="4343400"/>
            <a:ext cx="4434840" cy="822960"/>
          </a:xfrm>
          <a:prstGeom prst="rect">
            <a:avLst/>
          </a:prstGeom>
          <a:noFill/>
          <a:ln/>
        </p:spPr>
        <p:txBody>
          <a:bodyPr wrap="square" lIns="635" tIns="635" rIns="635" bIns="635" rtlCol="0" anchor="t"/>
          <a:lstStyle/>
          <a:p>
            <a:pPr marL="0" indent="0">
              <a:buNone/>
            </a:pPr>
            <a:r>
              <a:rPr lang="en-US" sz="1400" b="1" dirty="0">
                <a:solidFill>
                  <a:srgbClr val="14273E"/>
                </a:solidFill>
              </a:rPr>
              <a:t>Paginación de memoria</a:t>
            </a:r>
            <a:endParaRPr lang="en-US" sz="1400" dirty="0"/>
          </a:p>
          <a:p>
            <a:pPr marL="0" indent="0">
              <a:buNone/>
            </a:pPr>
            <a:r>
              <a:rPr lang="en-US" sz="1200" dirty="0">
                <a:solidFill>
                  <a:srgbClr val="3A4556"/>
                </a:solidFill>
              </a:rPr>
              <a:t>Una sola ejecución de la herramienta, huella registrada y pagefile adquirido</a:t>
            </a:r>
            <a:endParaRPr lang="en-US" sz="1400" dirty="0"/>
          </a:p>
        </p:txBody>
      </p:sp>
      <p:sp>
        <p:nvSpPr>
          <p:cNvPr id="32" name="Shape 30"/>
          <p:cNvSpPr/>
          <p:nvPr/>
        </p:nvSpPr>
        <p:spPr>
          <a:xfrm>
            <a:off x="6675120" y="5321808"/>
            <a:ext cx="384048" cy="384048"/>
          </a:xfrm>
          <a:prstGeom prst="ellipse">
            <a:avLst/>
          </a:prstGeom>
          <a:solidFill>
            <a:srgbClr val="2E7D6B"/>
          </a:solidFill>
          <a:ln w="12700">
            <a:solidFill>
              <a:srgbClr val="2E7D6B"/>
            </a:solidFill>
            <a:prstDash val="solid"/>
          </a:ln>
        </p:spPr>
        <p:txBody>
          <a:bodyPr/>
          <a:lstStyle/>
          <a:p>
            <a:endParaRPr lang="es-CO"/>
          </a:p>
        </p:txBody>
      </p:sp>
      <p:sp>
        <p:nvSpPr>
          <p:cNvPr id="33" name="Text 31"/>
          <p:cNvSpPr txBox="1"/>
          <p:nvPr/>
        </p:nvSpPr>
        <p:spPr>
          <a:xfrm>
            <a:off x="6675120" y="53218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34" name="Text 32"/>
          <p:cNvSpPr txBox="1"/>
          <p:nvPr/>
        </p:nvSpPr>
        <p:spPr>
          <a:xfrm>
            <a:off x="7178040" y="5212080"/>
            <a:ext cx="4434840" cy="822960"/>
          </a:xfrm>
          <a:prstGeom prst="rect">
            <a:avLst/>
          </a:prstGeom>
          <a:noFill/>
          <a:ln/>
        </p:spPr>
        <p:txBody>
          <a:bodyPr wrap="square" lIns="635" tIns="635" rIns="635" bIns="635" rtlCol="0" anchor="t"/>
          <a:lstStyle/>
          <a:p>
            <a:pPr marL="0" indent="0">
              <a:buNone/>
            </a:pPr>
            <a:r>
              <a:rPr lang="en-US" sz="1400" b="1" dirty="0">
                <a:solidFill>
                  <a:srgbClr val="14273E"/>
                </a:solidFill>
              </a:rPr>
              <a:t>Exceso de mandato</a:t>
            </a:r>
            <a:endParaRPr lang="en-US" sz="1400" dirty="0"/>
          </a:p>
          <a:p>
            <a:pPr marL="0" indent="0">
              <a:buNone/>
            </a:pPr>
            <a:r>
              <a:rPr lang="en-US" sz="1200" dirty="0">
                <a:solidFill>
                  <a:srgbClr val="3A4556"/>
                </a:solidFill>
              </a:rPr>
              <a:t>La mensajería solo se fija; no se lee ni se desplaza</a:t>
            </a:r>
            <a:endParaRPr lang="en-US" sz="14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
        <p:nvSpPr>
          <p:cNvPr id="37" name="TextBox 36">
            <a:extLst>
              <a:ext uri="{FF2B5EF4-FFF2-40B4-BE49-F238E27FC236}">
                <a16:creationId xmlns:a16="http://schemas.microsoft.com/office/drawing/2014/main" id="{1574564B-4C57-C8E8-DD03-0033196D0173}"/>
              </a:ext>
            </a:extLst>
          </p:cNvPr>
          <p:cNvSpPr txBox="1"/>
          <p:nvPr/>
        </p:nvSpPr>
        <p:spPr>
          <a:xfrm>
            <a:off x="490653" y="6464809"/>
            <a:ext cx="5114692" cy="246221"/>
          </a:xfrm>
          <a:prstGeom prst="rect">
            <a:avLst/>
          </a:prstGeom>
          <a:solidFill>
            <a:schemeClr val="bg1"/>
          </a:solidFill>
        </p:spPr>
        <p:txBody>
          <a:bodyPr wrap="square" rtlCol="0">
            <a:spAutoFit/>
          </a:bodyPr>
          <a:lstStyle/>
          <a:p>
            <a:r>
              <a:rPr lang="es-MX" sz="1000" dirty="0"/>
              <a:t>Caso OPE-DEF-2026-088  -  Grupo 2  -  ISO/IEC 27037</a:t>
            </a:r>
            <a:endParaRPr lang="es-CO"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Evidencias aseguradas, empaque y funciones resumen</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863840" cy="3968496"/>
        </p:xfrm>
        <a:graphic>
          <a:graphicData uri="http://schemas.openxmlformats.org/drawingml/2006/table">
            <a:tbl>
              <a:tblPr/>
              <a:tblGrid>
                <a:gridCol w="9144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buNone/>
                      </a:pPr>
                      <a:r>
                        <a:rPr lang="en-US" sz="1200" b="1" dirty="0">
                          <a:solidFill>
                            <a:srgbClr val="FFFFFF"/>
                          </a:solidFill>
                        </a:rPr>
                        <a:t>ID</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Elemento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Empaque técnico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Sello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Hash verificado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1A1F2B"/>
                          </a:solidFill>
                        </a:rPr>
                        <a:t>G1-E01</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Torre Dell 5820 · S/N 4HG78Y2</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Rígido acolchado + antiestático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PR-088-0001/02</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Imagen NVMe en lab.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1A1F2B"/>
                          </a:solidFill>
                        </a:rPr>
                        <a:t>G1-E03</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Dongle HID (jiggler)</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Antiestático + sobre rígido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PR-088-0006</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N/A · VID/PID fijado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1A1F2B"/>
                          </a:solidFill>
                        </a:rPr>
                        <a:t>G1-E04</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Post-it manuscrito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Sobre de papel</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PR-088-0007</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tc>
                  <a:txBody>
                    <a:bodyPr/>
                    <a:lstStyle/>
                    <a:p>
                      <a:pPr marL="0" indent="0">
                        <a:buNone/>
                      </a:pPr>
                      <a:r>
                        <a:rPr lang="en-US" sz="1200" dirty="0">
                          <a:solidFill>
                            <a:srgbClr val="1A1F2B"/>
                          </a:solidFill>
                        </a:rPr>
                        <a:t>N/A · foto con testigo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4D6"/>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1A1F2B"/>
                          </a:solidFill>
                        </a:rPr>
                        <a:t>D01</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G1-E01-D01_RAM.mem · 68,7 GB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Medio estéril 4 TB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PR-088-0003</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SHA-256 0e264a8be737…</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1A1F2B"/>
                          </a:solidFill>
                        </a:rPr>
                        <a:t>D02</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G1-E01-D02_LiveResponse.zip · 184 MB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Medio estéril 4 TB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PR-088-0003</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SHA-256 fb6d062a1d3b…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1A1F2B"/>
                          </a:solidFill>
                        </a:rPr>
                        <a:t>D03</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G1-E01-D03_VolV.E01 · 212 GB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Medio estéril 4 TB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PR-088-0003</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SHA-256 cef7612a6e8f…</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b="1" dirty="0">
                          <a:solidFill>
                            <a:srgbClr val="1A1F2B"/>
                          </a:solidFill>
                        </a:rPr>
                        <a:t>D04</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G1-E01-D04_ArtefactosC.ad1 · 71 GB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Medio estéril 4 TB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PR-088-0003</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200" dirty="0">
                          <a:solidFill>
                            <a:srgbClr val="1A1F2B"/>
                          </a:solidFill>
                        </a:rPr>
                        <a:t>SHA-256 3b2d37c0e27a…</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extLst>
                  <a:ext uri="{0D108BD9-81ED-4DB2-BD59-A6C34878D82A}">
                    <a16:rowId xmlns:a16="http://schemas.microsoft.com/office/drawing/2014/main" val="10007"/>
                  </a:ext>
                </a:extLst>
              </a:tr>
              <a:tr h="384048">
                <a:tc>
                  <a:txBody>
                    <a:bodyPr/>
                    <a:lstStyle/>
                    <a:p>
                      <a:pPr marL="0" indent="0">
                        <a:buNone/>
                      </a:pPr>
                      <a:r>
                        <a:rPr lang="en-US" sz="1200" b="1" dirty="0">
                          <a:solidFill>
                            <a:srgbClr val="1A1F2B"/>
                          </a:solidFill>
                        </a:rPr>
                        <a:t>D05/D06</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Fijación audiovisual + PCAP SPAN</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USB cifrado (2 copias)</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PR-088-0004/05</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200" dirty="0">
                          <a:solidFill>
                            <a:srgbClr val="1A1F2B"/>
                          </a:solidFill>
                        </a:rPr>
                        <a:t>SHA-256 9d71c6ec804b…</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stat0"/>
          <p:cNvSpPr/>
          <p:nvPr/>
        </p:nvSpPr>
        <p:spPr>
          <a:xfrm>
            <a:off x="8778240" y="1234440"/>
            <a:ext cx="2834640" cy="1051560"/>
          </a:xfrm>
          <a:prstGeom prst="roundRect">
            <a:avLst>
              <a:gd name="adj" fmla="val 6957"/>
            </a:avLst>
          </a:prstGeom>
          <a:solidFill>
            <a:srgbClr val="EEF2F7"/>
          </a:solidFill>
          <a:ln w="12700">
            <a:solidFill>
              <a:srgbClr val="EEF2F7"/>
            </a:solidFill>
            <a:prstDash val="solid"/>
          </a:ln>
        </p:spPr>
        <p:txBody>
          <a:bodyPr/>
          <a:lstStyle/>
          <a:p>
            <a:endParaRPr lang="es-CO"/>
          </a:p>
        </p:txBody>
      </p:sp>
      <p:sp>
        <p:nvSpPr>
          <p:cNvPr id="5" name="Text 2"/>
          <p:cNvSpPr txBox="1"/>
          <p:nvPr/>
        </p:nvSpPr>
        <p:spPr>
          <a:xfrm>
            <a:off x="8869680" y="1234440"/>
            <a:ext cx="1005840" cy="1051560"/>
          </a:xfrm>
          <a:prstGeom prst="rect">
            <a:avLst/>
          </a:prstGeom>
          <a:noFill/>
          <a:ln/>
        </p:spPr>
        <p:txBody>
          <a:bodyPr wrap="square" lIns="635" tIns="635" rIns="635" bIns="635"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6" name="Text 3"/>
          <p:cNvSpPr txBox="1"/>
          <p:nvPr/>
        </p:nvSpPr>
        <p:spPr>
          <a:xfrm>
            <a:off x="9875520" y="1234440"/>
            <a:ext cx="1691640" cy="1051560"/>
          </a:xfrm>
          <a:prstGeom prst="rect">
            <a:avLst/>
          </a:prstGeom>
          <a:noFill/>
          <a:ln/>
        </p:spPr>
        <p:txBody>
          <a:bodyPr wrap="square" lIns="635" tIns="635" rIns="635" bIns="635" rtlCol="0" anchor="ctr"/>
          <a:lstStyle/>
          <a:p>
            <a:pPr marL="0" indent="0">
              <a:buNone/>
            </a:pPr>
            <a:r>
              <a:rPr lang="en-US" sz="1300" dirty="0">
                <a:solidFill>
                  <a:schemeClr val="tx2"/>
                </a:solidFill>
              </a:rPr>
              <a:t>elementos inventariados</a:t>
            </a:r>
            <a:endParaRPr lang="en-US" sz="1300" dirty="0"/>
          </a:p>
        </p:txBody>
      </p:sp>
      <p:sp>
        <p:nvSpPr>
          <p:cNvPr id="3" name="stat1"/>
          <p:cNvSpPr/>
          <p:nvPr/>
        </p:nvSpPr>
        <p:spPr>
          <a:xfrm>
            <a:off x="8778240" y="2441448"/>
            <a:ext cx="2834640" cy="1051560"/>
          </a:xfrm>
          <a:prstGeom prst="roundRect">
            <a:avLst>
              <a:gd name="adj" fmla="val 6957"/>
            </a:avLst>
          </a:prstGeom>
          <a:solidFill>
            <a:srgbClr val="EEF2F7"/>
          </a:solidFill>
          <a:ln w="12700">
            <a:solidFill>
              <a:srgbClr val="EEF2F7"/>
            </a:solidFill>
            <a:prstDash val="solid"/>
          </a:ln>
        </p:spPr>
        <p:txBody>
          <a:bodyPr/>
          <a:lstStyle/>
          <a:p>
            <a:endParaRPr lang="es-CO"/>
          </a:p>
        </p:txBody>
      </p:sp>
      <p:sp>
        <p:nvSpPr>
          <p:cNvPr id="8" name="Text 5"/>
          <p:cNvSpPr txBox="1"/>
          <p:nvPr/>
        </p:nvSpPr>
        <p:spPr>
          <a:xfrm>
            <a:off x="8869680" y="2441448"/>
            <a:ext cx="1005840" cy="1051560"/>
          </a:xfrm>
          <a:prstGeom prst="rect">
            <a:avLst/>
          </a:prstGeom>
          <a:noFill/>
          <a:ln/>
        </p:spPr>
        <p:txBody>
          <a:bodyPr wrap="square" lIns="635" tIns="635" rIns="635" bIns="635"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9" name="Text 6"/>
          <p:cNvSpPr txBox="1"/>
          <p:nvPr/>
        </p:nvSpPr>
        <p:spPr>
          <a:xfrm>
            <a:off x="9875520" y="2441448"/>
            <a:ext cx="1691640" cy="1051560"/>
          </a:xfrm>
          <a:prstGeom prst="rect">
            <a:avLst/>
          </a:prstGeom>
          <a:noFill/>
          <a:ln/>
        </p:spPr>
        <p:txBody>
          <a:bodyPr wrap="square" lIns="635" tIns="635" rIns="635" bIns="635" rtlCol="0" anchor="ctr"/>
          <a:lstStyle/>
          <a:p>
            <a:pPr marL="0" indent="0">
              <a:buNone/>
            </a:pPr>
            <a:r>
              <a:rPr lang="en-US" sz="1300" dirty="0">
                <a:solidFill>
                  <a:schemeClr val="tx2"/>
                </a:solidFill>
              </a:rPr>
              <a:t>recolectados físicamente</a:t>
            </a:r>
            <a:endParaRPr lang="en-US" sz="1300" dirty="0"/>
          </a:p>
        </p:txBody>
      </p:sp>
      <p:sp>
        <p:nvSpPr>
          <p:cNvPr id="10" name="stat2"/>
          <p:cNvSpPr/>
          <p:nvPr/>
        </p:nvSpPr>
        <p:spPr>
          <a:xfrm>
            <a:off x="8778240" y="3648456"/>
            <a:ext cx="2834640" cy="1051560"/>
          </a:xfrm>
          <a:prstGeom prst="roundRect">
            <a:avLst>
              <a:gd name="adj" fmla="val 6957"/>
            </a:avLst>
          </a:prstGeom>
          <a:solidFill>
            <a:srgbClr val="EEF2F7"/>
          </a:solidFill>
          <a:ln w="12700">
            <a:solidFill>
              <a:srgbClr val="EEF2F7"/>
            </a:solidFill>
            <a:prstDash val="solid"/>
          </a:ln>
        </p:spPr>
        <p:txBody>
          <a:bodyPr/>
          <a:lstStyle/>
          <a:p>
            <a:endParaRPr lang="es-CO"/>
          </a:p>
        </p:txBody>
      </p:sp>
      <p:sp>
        <p:nvSpPr>
          <p:cNvPr id="11" name="Text 8"/>
          <p:cNvSpPr txBox="1"/>
          <p:nvPr/>
        </p:nvSpPr>
        <p:spPr>
          <a:xfrm>
            <a:off x="8869680" y="3648456"/>
            <a:ext cx="1005840" cy="1051560"/>
          </a:xfrm>
          <a:prstGeom prst="rect">
            <a:avLst/>
          </a:prstGeom>
          <a:noFill/>
          <a:ln/>
        </p:spPr>
        <p:txBody>
          <a:bodyPr wrap="square" lIns="635" tIns="635" rIns="635" bIns="635"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6</a:t>
            </a:r>
            <a:endParaRPr lang="en-US" sz="3600" dirty="0"/>
          </a:p>
        </p:txBody>
      </p:sp>
      <p:sp>
        <p:nvSpPr>
          <p:cNvPr id="12" name="Text 9"/>
          <p:cNvSpPr txBox="1"/>
          <p:nvPr/>
        </p:nvSpPr>
        <p:spPr>
          <a:xfrm>
            <a:off x="9875520" y="3648456"/>
            <a:ext cx="1691640" cy="1051560"/>
          </a:xfrm>
          <a:prstGeom prst="rect">
            <a:avLst/>
          </a:prstGeom>
          <a:noFill/>
          <a:ln/>
        </p:spPr>
        <p:txBody>
          <a:bodyPr wrap="square" lIns="635" tIns="635" rIns="635" bIns="635" rtlCol="0" anchor="ctr"/>
          <a:lstStyle/>
          <a:p>
            <a:pPr marL="0" indent="0">
              <a:buNone/>
            </a:pPr>
            <a:r>
              <a:rPr lang="en-US" sz="1300" dirty="0">
                <a:solidFill>
                  <a:schemeClr val="tx2"/>
                </a:solidFill>
              </a:rPr>
              <a:t>imágenes derivadas D01–D06</a:t>
            </a:r>
            <a:endParaRPr lang="en-US" sz="1300" dirty="0"/>
          </a:p>
        </p:txBody>
      </p:sp>
      <p:sp>
        <p:nvSpPr>
          <p:cNvPr id="13" name="stat3"/>
          <p:cNvSpPr/>
          <p:nvPr/>
        </p:nvSpPr>
        <p:spPr>
          <a:xfrm>
            <a:off x="8778240" y="4855464"/>
            <a:ext cx="2834640" cy="1051560"/>
          </a:xfrm>
          <a:prstGeom prst="roundRect">
            <a:avLst>
              <a:gd name="adj" fmla="val 6957"/>
            </a:avLst>
          </a:prstGeom>
          <a:solidFill>
            <a:srgbClr val="F2A900"/>
          </a:solidFill>
          <a:ln w="12700">
            <a:solidFill>
              <a:srgbClr val="F2A900"/>
            </a:solidFill>
            <a:prstDash val="solid"/>
          </a:ln>
        </p:spPr>
        <p:txBody>
          <a:bodyPr/>
          <a:lstStyle/>
          <a:p>
            <a:endParaRPr lang="es-CO"/>
          </a:p>
        </p:txBody>
      </p:sp>
      <p:sp>
        <p:nvSpPr>
          <p:cNvPr id="14" name="Text 11"/>
          <p:cNvSpPr txBox="1"/>
          <p:nvPr/>
        </p:nvSpPr>
        <p:spPr>
          <a:xfrm>
            <a:off x="8869680" y="4855464"/>
            <a:ext cx="1005840" cy="1051560"/>
          </a:xfrm>
          <a:prstGeom prst="rect">
            <a:avLst/>
          </a:prstGeom>
          <a:noFill/>
          <a:ln/>
        </p:spPr>
        <p:txBody>
          <a:bodyPr wrap="square" lIns="635" tIns="635" rIns="635" bIns="635"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15" name="Text 12"/>
          <p:cNvSpPr txBox="1"/>
          <p:nvPr/>
        </p:nvSpPr>
        <p:spPr>
          <a:xfrm>
            <a:off x="9875520" y="4855464"/>
            <a:ext cx="1691640" cy="1051560"/>
          </a:xfrm>
          <a:prstGeom prst="rect">
            <a:avLst/>
          </a:prstGeom>
          <a:noFill/>
          <a:ln/>
        </p:spPr>
        <p:txBody>
          <a:bodyPr wrap="square" lIns="635" tIns="635" rIns="635" bIns="635" rtlCol="0" anchor="ctr"/>
          <a:lstStyle/>
          <a:p>
            <a:pPr marL="0" indent="0">
              <a:buNone/>
            </a:pPr>
            <a:r>
              <a:rPr lang="en-US" sz="1300" dirty="0">
                <a:solidFill>
                  <a:schemeClr val="tx2"/>
                </a:solidFill>
              </a:rPr>
              <a:t>hash: SHA-256 + MD5</a:t>
            </a:r>
            <a:endParaRPr lang="en-US" sz="1300" dirty="0"/>
          </a:p>
        </p:txBody>
      </p:sp>
      <p:sp>
        <p:nvSpPr>
          <p:cNvPr id="16" name="Text 13"/>
          <p:cNvSpPr txBox="1"/>
          <p:nvPr/>
        </p:nvSpPr>
        <p:spPr>
          <a:xfrm>
            <a:off x="548640" y="5760720"/>
            <a:ext cx="7863840" cy="502920"/>
          </a:xfrm>
          <a:prstGeom prst="rect">
            <a:avLst/>
          </a:prstGeom>
          <a:noFill/>
          <a:ln/>
        </p:spPr>
        <p:txBody>
          <a:bodyPr wrap="square" lIns="635" tIns="635" rIns="635" bIns="635" rtlCol="0" anchor="t"/>
          <a:lstStyle/>
          <a:p>
            <a:pPr marL="0" indent="0">
              <a:buNone/>
            </a:pPr>
            <a:r>
              <a:rPr lang="en-US" sz="1200" i="1" dirty="0">
                <a:solidFill>
                  <a:schemeClr val="accent5"/>
                </a:solidFill>
              </a:rPr>
              <a:t>G1-E02 (monitor) y G1-E05 (UPS) se documentan en la </a:t>
            </a:r>
            <a:r>
              <a:rPr lang="en-US" sz="1200" i="1" dirty="0" err="1">
                <a:solidFill>
                  <a:schemeClr val="accent5"/>
                </a:solidFill>
              </a:rPr>
              <a:t>escena</a:t>
            </a:r>
            <a:r>
              <a:rPr lang="en-US" sz="1200" i="1" dirty="0">
                <a:solidFill>
                  <a:schemeClr val="accent5"/>
                </a:solidFill>
              </a:rPr>
              <a:t> y no se recolectan, por proporcionalidad. Hashes completos en el Formato 2 del dossier.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
        <p:nvSpPr>
          <p:cNvPr id="18" name="TextBox 17">
            <a:extLst>
              <a:ext uri="{FF2B5EF4-FFF2-40B4-BE49-F238E27FC236}">
                <a16:creationId xmlns:a16="http://schemas.microsoft.com/office/drawing/2014/main" id="{EEEFC8D6-7736-8D2D-4F30-7805243BA8DA}"/>
              </a:ext>
            </a:extLst>
          </p:cNvPr>
          <p:cNvSpPr txBox="1"/>
          <p:nvPr/>
        </p:nvSpPr>
        <p:spPr>
          <a:xfrm>
            <a:off x="490653" y="6464809"/>
            <a:ext cx="5114692" cy="246221"/>
          </a:xfrm>
          <a:prstGeom prst="rect">
            <a:avLst/>
          </a:prstGeom>
          <a:solidFill>
            <a:schemeClr val="bg1"/>
          </a:solidFill>
        </p:spPr>
        <p:txBody>
          <a:bodyPr wrap="square" rtlCol="0">
            <a:spAutoFit/>
          </a:bodyPr>
          <a:lstStyle/>
          <a:p>
            <a:r>
              <a:rPr lang="es-MX" sz="1000" dirty="0"/>
              <a:t>Caso OPE-DEF-2026-088  -  Grupo 2  -  ISO/IEC 27037</a:t>
            </a:r>
            <a:endParaRPr lang="es-CO"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Matriz de defensa: spoliation y sesgo inherente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3968496"/>
        </p:xfrm>
        <a:graphic>
          <a:graphicData uri="http://schemas.openxmlformats.org/drawingml/2006/table">
            <a:tbl>
              <a:tblPr/>
              <a:tblGrid>
                <a:gridCol w="32918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rPr>
                        <a:t>Posible acusación</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Contramedida y evidencia</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Fundamento</a:t>
                      </a:r>
                      <a:endParaRPr lang="en-US" sz="12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B23A3A"/>
                          </a:solidFill>
                        </a:rPr>
                        <a:t>«Alteraron la RAM con sus herramientas»</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300" dirty="0">
                          <a:solidFill>
                            <a:srgbClr val="1A1F2B"/>
                          </a:solidFill>
                        </a:rPr>
                        <a:t>Herramienta estática validada, una ejecución, huella documentada, RAM antes de todo</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300" dirty="0">
                          <a:solidFill>
                            <a:srgbClr val="1A1F2B"/>
                          </a:solidFill>
                        </a:rPr>
                        <a:t>5.3.5 · 7.1.3.1.2</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B23A3A"/>
                          </a:solidFill>
                        </a:rPr>
                        <a:t>«Desconectar la red destruyó evidencia»</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300" dirty="0">
                          <a:solidFill>
                            <a:srgbClr val="1A1F2B"/>
                          </a:solidFill>
                        </a:rPr>
                        <a:t>Host nunca desconectado: contención en switch + SPAN previo (D06)</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300" dirty="0">
                          <a:solidFill>
                            <a:srgbClr val="1A1F2B"/>
                          </a:solidFill>
                        </a:rPr>
                        <a:t>6.2.3 · 7.2.2.2</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B23A3A"/>
                          </a:solidFill>
                        </a:rPr>
                        <a:t>«El apagado perdió datos cifrados»</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300" dirty="0">
                          <a:solidFill>
                            <a:srgbClr val="1A1F2B"/>
                          </a:solidFill>
                        </a:rPr>
                        <a:t>V:\ en claro (D03) y RAM con claves (D01) con hash antes del corte</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300" dirty="0">
                          <a:solidFill>
                            <a:srgbClr val="1A1F2B"/>
                          </a:solidFill>
                        </a:rPr>
                        <a:t>Fig. 2 · 7.1.2.1.2 n.1</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B23A3A"/>
                          </a:solidFill>
                        </a:rPr>
                        <a:t>«La copia no es igual al original»</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300" dirty="0">
                          <a:solidFill>
                            <a:srgbClr val="1A1F2B"/>
                          </a:solidFill>
                        </a:rPr>
                        <a:t>Doble hash en </a:t>
                      </a:r>
                      <a:r>
                        <a:rPr lang="en-US" sz="1300" dirty="0" err="1">
                          <a:solidFill>
                            <a:srgbClr val="1A1F2B"/>
                          </a:solidFill>
                        </a:rPr>
                        <a:t>escena</a:t>
                      </a:r>
                      <a:r>
                        <a:rPr lang="en-US" sz="1300" dirty="0">
                          <a:solidFill>
                            <a:srgbClr val="1A1F2B"/>
                          </a:solidFill>
                        </a:rPr>
                        <a:t>, verificado con 2.ª herramienta y en cada entrega</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300" dirty="0">
                          <a:solidFill>
                            <a:srgbClr val="1A1F2B"/>
                          </a:solidFill>
                        </a:rPr>
                        <a:t>5.3.3 · 5.3.4 · 6.1</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B23A3A"/>
                          </a:solidFill>
                        </a:rPr>
                        <a:t>«Plantaron el jiggler o la nota»</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300" dirty="0">
                          <a:solidFill>
                            <a:srgbClr val="1A1F2B"/>
                          </a:solidFill>
                        </a:rPr>
                        <a:t>Fijación al arribo antes de tocar nada; primer uso del USB en setupapi.dev.log</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tc>
                  <a:txBody>
                    <a:bodyPr/>
                    <a:lstStyle/>
                    <a:p>
                      <a:pPr marL="0" indent="0">
                        <a:buNone/>
                      </a:pPr>
                      <a:r>
                        <a:rPr lang="en-US" sz="1300" dirty="0">
                          <a:solidFill>
                            <a:srgbClr val="1A1F2B"/>
                          </a:solidFill>
                        </a:rPr>
                        <a:t>5.3.2 · 6.6</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EEF2F7"/>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B23A3A"/>
                          </a:solidFill>
                        </a:rPr>
                        <a:t>«Análisis sesgado contra el Director»</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300" dirty="0">
                          <a:solidFill>
                            <a:srgbClr val="1A1F2B"/>
                          </a:solidFill>
                        </a:rPr>
                        <a:t>Hipótesis H1–H4 (incluye APT con credenciales robadas); lenguaje neutral</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tc>
                  <a:txBody>
                    <a:bodyPr/>
                    <a:lstStyle/>
                    <a:p>
                      <a:pPr marL="0" indent="0">
                        <a:buNone/>
                      </a:pPr>
                      <a:r>
                        <a:rPr lang="en-US" sz="1300" dirty="0">
                          <a:solidFill>
                            <a:srgbClr val="1A1F2B"/>
                          </a:solidFill>
                        </a:rPr>
                        <a:t>6.7.5</a:t>
                      </a:r>
                      <a:endParaRPr lang="en-US" sz="1300" dirty="0"/>
                    </a:p>
                  </a:txBody>
                  <a:tcPr anchor="ctr">
                    <a:lnL w="6350" cap="flat" cmpd="sng" algn="ctr">
                      <a:solidFill>
                        <a:srgbClr val="C8D2DE"/>
                      </a:solidFill>
                      <a:prstDash val="solid"/>
                      <a:round/>
                      <a:headEnd type="none" w="med" len="med"/>
                      <a:tailEnd type="none" w="med" len="med"/>
                    </a:lnL>
                    <a:lnR w="6350" cap="flat" cmpd="sng" algn="ctr">
                      <a:solidFill>
                        <a:srgbClr val="C8D2DE"/>
                      </a:solidFill>
                      <a:prstDash val="solid"/>
                      <a:round/>
                      <a:headEnd type="none" w="med" len="med"/>
                      <a:tailEnd type="none" w="med" len="med"/>
                    </a:lnR>
                    <a:lnT w="6350" cap="flat" cmpd="sng" algn="ctr">
                      <a:solidFill>
                        <a:srgbClr val="C8D2DE"/>
                      </a:solidFill>
                      <a:prstDash val="solid"/>
                      <a:round/>
                      <a:headEnd type="none" w="med" len="med"/>
                      <a:tailEnd type="none" w="med" len="med"/>
                    </a:lnT>
                    <a:lnB w="6350" cap="flat" cmpd="sng" algn="ctr">
                      <a:solidFill>
                        <a:srgbClr val="C8D2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cierre"/>
          <p:cNvSpPr/>
          <p:nvPr/>
        </p:nvSpPr>
        <p:spPr>
          <a:xfrm>
            <a:off x="548640" y="5623560"/>
            <a:ext cx="11064240" cy="566928"/>
          </a:xfrm>
          <a:prstGeom prst="roundRect">
            <a:avLst>
              <a:gd name="adj" fmla="val 12903"/>
            </a:avLst>
          </a:prstGeom>
          <a:solidFill>
            <a:srgbClr val="14273E"/>
          </a:solidFill>
          <a:ln w="12700">
            <a:solidFill>
              <a:srgbClr val="14273E"/>
            </a:solidFill>
            <a:prstDash val="solid"/>
          </a:ln>
        </p:spPr>
        <p:txBody>
          <a:bodyPr/>
          <a:lstStyle/>
          <a:p>
            <a:endParaRPr lang="es-CO"/>
          </a:p>
        </p:txBody>
      </p:sp>
      <p:sp>
        <p:nvSpPr>
          <p:cNvPr id="5" name="Text 2"/>
          <p:cNvSpPr txBox="1"/>
          <p:nvPr/>
        </p:nvSpPr>
        <p:spPr>
          <a:xfrm>
            <a:off x="731520" y="5623560"/>
            <a:ext cx="10698480" cy="566928"/>
          </a:xfrm>
          <a:prstGeom prst="rect">
            <a:avLst/>
          </a:prstGeom>
          <a:noFill/>
          <a:ln/>
        </p:spPr>
        <p:txBody>
          <a:bodyPr wrap="square" lIns="635" tIns="635" rIns="635" bIns="635" rtlCol="0" anchor="ctr"/>
          <a:lstStyle/>
          <a:p>
            <a:pPr marL="0" indent="0">
              <a:buNone/>
            </a:pPr>
            <a:r>
              <a:rPr lang="en-US" sz="1500" b="1" dirty="0">
                <a:solidFill>
                  <a:srgbClr val="FFFFFF"/>
                </a:solidFill>
              </a:rPr>
              <a:t>Conclusión: la evidencia es auditable, repetible donde es posible, reproducible y justificada, y por eso es admisible.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
        <p:nvSpPr>
          <p:cNvPr id="6" name="TextBox 5">
            <a:extLst>
              <a:ext uri="{FF2B5EF4-FFF2-40B4-BE49-F238E27FC236}">
                <a16:creationId xmlns:a16="http://schemas.microsoft.com/office/drawing/2014/main" id="{DF42D3E6-283B-F3B5-9790-A80F909123F7}"/>
              </a:ext>
            </a:extLst>
          </p:cNvPr>
          <p:cNvSpPr txBox="1"/>
          <p:nvPr/>
        </p:nvSpPr>
        <p:spPr>
          <a:xfrm>
            <a:off x="490653" y="6464809"/>
            <a:ext cx="5114692" cy="246221"/>
          </a:xfrm>
          <a:prstGeom prst="rect">
            <a:avLst/>
          </a:prstGeom>
          <a:solidFill>
            <a:schemeClr val="bg1"/>
          </a:solidFill>
        </p:spPr>
        <p:txBody>
          <a:bodyPr wrap="square" rtlCol="0">
            <a:spAutoFit/>
          </a:bodyPr>
          <a:lstStyle/>
          <a:p>
            <a:r>
              <a:rPr lang="es-MX" sz="1000" dirty="0"/>
              <a:t>Caso OPE-DEF-2026-088  -  Grupo 2  -  ISO/IEC 27037</a:t>
            </a:r>
            <a:endParaRPr lang="es-CO" sz="1000" dirty="0"/>
          </a:p>
        </p:txBody>
      </p:sp>
    </p:spTree>
  </p:cSld>
  <p:clrMapOvr>
    <a:masterClrMapping/>
  </p:clrMapOvr>
</p:sld>
</file>

<file path=ppt/theme/theme1.xml><?xml version="1.0" encoding="utf-8"?>
<a:theme xmlns:a="http://schemas.openxmlformats.org/drawingml/2006/main" name="Forense OPE-DEF">
  <a:themeElements>
    <a:clrScheme name="Forense OPE-DEF">
      <a:dk1>
        <a:srgbClr val="1A1F2B"/>
      </a:dk1>
      <a:lt1>
        <a:srgbClr val="FFFFFF"/>
      </a:lt1>
      <a:dk2>
        <a:srgbClr val="14273E"/>
      </a:dk2>
      <a:lt2>
        <a:srgbClr val="EEF2F7"/>
      </a:lt2>
      <a:accent1>
        <a:srgbClr val="1F3A5F"/>
      </a:accent1>
      <a:accent2>
        <a:srgbClr val="F2A900"/>
      </a:accent2>
      <a:accent3>
        <a:srgbClr val="2E7D6B"/>
      </a:accent3>
      <a:accent4>
        <a:srgbClr val="B23A3A"/>
      </a:accent4>
      <a:accent5>
        <a:srgbClr val="6C7A8C"/>
      </a:accent5>
      <a:accent6>
        <a:srgbClr val="CADCFC"/>
      </a:accent6>
      <a:hlink>
        <a:srgbClr val="1F3A5F"/>
      </a:hlink>
      <a:folHlink>
        <a:srgbClr val="6C7A8C"/>
      </a:folHlink>
    </a:clrScheme>
    <a:fontScheme name="Forense OPE-DE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1828</Words>
  <Application>Microsoft Office PowerPoint</Application>
  <PresentationFormat>Widescreen</PresentationFormat>
  <Paragraphs>203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Forense OPE-DEF</vt:lpstr>
      <vt:lpstr>PowerPoint Presentation</vt:lpstr>
      <vt:lpstr>Escena intervenida y alcance del mandato</vt:lpstr>
      <vt:lpstr>Decisión en escena: adquisición en vivo (Fig. 1 y 4)</vt:lpstr>
      <vt:lpstr>Del apagado al laboratorio (Fig. 2 y 5; nota 1 de 7.1.2.1.2)</vt:lpstr>
      <vt:lpstr>Preservación, contención y orden de volatilidad</vt:lpstr>
      <vt:lpstr>Evidencias aseguradas, empaque y funciones resumen</vt:lpstr>
      <vt:lpstr>Matriz de defensa: spoliation y sesgo inherente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Sustentación pericial OPE-DEF-2026-088</dc:title>
  <dc:subject>PptxGenJS Presentation</dc:subject>
  <dc:creator>PptxGenJS</dc:creator>
  <cp:lastModifiedBy>Ayda Graciela Castro Suárez</cp:lastModifiedBy>
  <cp:revision>3</cp:revision>
  <dcterms:created xsi:type="dcterms:W3CDTF">2026-10-16T02:23:30Z</dcterms:created>
  <dcterms:modified xsi:type="dcterms:W3CDTF">2026-10-16T03:08:31Z</dcterms:modified>
</cp:coreProperties>
</file>