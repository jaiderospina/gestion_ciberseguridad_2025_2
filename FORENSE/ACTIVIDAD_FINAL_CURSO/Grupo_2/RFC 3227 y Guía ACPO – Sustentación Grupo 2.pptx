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103" autoAdjust="0"/>
  </p:normalViewPr>
  <p:slideViewPr>
    <p:cSldViewPr snapToGrid="0" snapToObjects="1">
      <p:cViewPr varScale="1">
        <p:scale>
          <a:sx n="89" d="100"/>
          <a:sy n="89" d="100"/>
        </p:scale>
        <p:origin x="13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439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Buenas tardes, profesor, compañeros. Somos el Grupo 2 y hoy vamos a sustentar dos marcos de referencia de la informática forense: el RFC 3227 y la Guía de Buenas Prácticas para Evidencia Digital de ACPO. Queremos que esta presentación se escuche como se escucharía la sustentación de un dictamen ante un juez o ante una junta directiva. Por eso vamos a hablar menos de teoría y más de decisiones: qué se recoge primero, quién puede tocar la evidencia, cómo se demuestra que no fue alterada y qué pasa cuando algo sale mal. La idea que guía todo nuestro trabajo es sencilla: una evidencia digital vale exactamente lo que vale el método con el que fue obtenida. Un archivo puede ser la prueba reina de un caso, pero si nadie puede explicar cómo llegó al expediente, para el juez no vale nada. Los dos marcos que nos asignaron responden justamente a eso. El RFC 3227 nos dice qué recoger y en qué orden. La Guía ACPO nos dice quién lo hace, con qué competencia y cómo responde por ello. Al final, aplicaremos los dos a un caso de exfiltración de información y cifrado de servidores.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 Reparto sugerido: contexto 6 min, núcleo técnico 12, defensa de la prueba 7, caso 10, conclusiones 4] Nuestra sustentación tiene cinco momentos. Primero, el contexto: de dónde salen estos dos documentos, para quién fueron escritos y si siguen vigentes hoy. Segundo, el núcleo técnico: los principios de cada marco, el orden de volatilidad y cómo se unen en un solo ciclo de identificación, recolección, preservación, análisis y presentación. Tercero, la defensa de la prueba: qué garantías dan estos marcos a la cadena de custodia y cómo se logra que otro perito llegue al mismo resultado. Cuarto, el caso: un incidente simulado de alta fidelidad en el que aplicamos la guía paso a paso y emitimos un dictamen sobre la admisibilidad de cada evidencia. Y quinto, las limitaciones de los marcos y el valor que tiene para una organización adoptarlos. Todo lo que vamos a mostrar está desarrollado en los otros dos entregables: la Guía Lite en PDF y el documento del caso.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Empecemos por el origen de cada documento, porque explica para qué sirve cada uno. El RFC 3227 se titula «Directrices para la recolección y el archivo de evidencia». Lo publicó el IETF, el organismo que define los estándares técnicos de Internet, en febrero de 2002. Sus autores son Dominique Brezinski y Tom Killalea. Tiene la categoría de «Best Current Practice», mejor práctica vigente, con el identificador BCP 55. Un dato importante sobre su vigencia: en más de veinte años no ha sido actualizado ni reemplazado por ningún otro RFC. Sigue siendo la referencia del IETF sobre el tema. ¿A quién está dirigido? A los administradores de sistemas. Es decir, a la persona que normalmente llega primero a un incidente. Por eso es corto, de unas diez páginas, y muy operativo. Su gran aporte es responder la pregunta: qué recoger y en qué orden. El segundo documento es la Guía de Buenas Prácticas para Evidencia Digital de ACPO, la Asociación de Jefes de Policía de Inglaterra, Gales e Irlanda del Norte. La primera versión es de finales de los años noventa y la que estudiamos es la versión 5, finalizada en 2011 y publicada en marzo de 2012. La versión 5 cambió de nombre: antes hablaba de evidencia basada en computadores y ahora habla de evidencia digital en general, para incluir celulares, redes y otros dispositivos. Sobre su vigencia hay que ser precisos: ACPO como organización dejó de existir en 2015 y fue reemplazada por el Consejo Nacional de Jefes de Policía, el NPCC. Sin embargo, la guía no fue derogada. En 2021 fue revisada por la junta nacional de estándares del Reino Unido y se consideró vigente y pertinente. La guía organiza el trabajo en cuatro fases: planear, capturar, analizar y presentar, y responde otra pregunta: quién actúa sobre la evidencia y cómo responde por lo que hace. Por eso los presentamos juntos: no compiten, se complementan. Uno aporta el detalle técnico de la recolección; el otro, la responsabilidad del perito durante todo el proceso.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Una pregunta natural es: si uno es un documento técnico de Internet y el otro una guía de la policía británica, ¿qué valor tienen ante un juez colombiano? La respuesta es que ninguno de los dos es ley en Colombia, y no necesitan serlo. Su fuerza está en que son práctica reconocida internacionalmente, que el juez y la contraparte pueden consultar y verificar. Funcionan como el «cómo» de lo que nuestra ley exige. Veamos la tabla fila por fila. Primero, el valor probatorio del dato. La Ley 527 de 1999, en su artículo 11, dice que para valorar un mensaje de datos se tiene en cuenta la confiabilidad en la forma en que se generó, se archivó y se conservó, y la forma en que se mantuvo su integridad. El RFC 3227 aterriza eso en cinco cualidades de la evidencia: admisible, auténtica, completa, confiable y creíble. Segundo, la cadena de custodia. El Código de Procedimiento Penal, Ley 906 de 2004, la regula en sus artículos 254 a 266. El RFC la trata en su sección 4.1 y ACPO la sostiene con su principio 3, el del registro auditable. Tercero, la tipificación. La Ley 1273 de 2009 creó los delitos informáticos, por ejemplo el acceso abusivo a un sistema informático o el daño informático. Para probar esos delitos se necesitan hallazgos técnicos reproducibles, y eso es lo que entregan estos marcos. Cuarto, la privacidad. El RFC tiene una sección dedicada a ella, la 2.3, que coincide con el espíritu de la Ley 1581 de 2012 de protección de datos personales: recolectar solo lo necesario y con autorización. Y quinto, la competencia del perito, que en juicio oral se discute en la idoneidad del testigo experto. ACPO lo exige expresamente en su principio 2. En resumen: la norma colombiana dice qué debe cumplir la prueba; estos marcos dicen cómo cumplirlo. Si la defensa pregunta por qué usamos un estándar extranjero, esa es nuestra respuesta.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30 s] Entramos al núcleo técnico, empezando por lo más conocido de la Guía ACPO: sus cuatro principios. Los presentamos en nuestras palabras, pero conservando su sentido. Principio 1, no alteración. Ninguna acción de quien investiga debe cambiar datos que más adelante puedan presentarse ante un tribunal. En la práctica esto significa trabajar con bloqueadores de escritura y sobre copias, nunca sobre el original. Principio 2, competencia. Hay situaciones en las que es inevitable acceder al original, por ejemplo cuando el equipo está encendido y la información importante está en memoria. En ese caso, solo puede hacerlo una persona competente, capaz de explicar ante el juez qué hizo, por qué era relevante y qué implicaciones tuvieron sus acciones. Principio 3, registro auditable. Todo proceso aplicado a la evidencia debe quedar registrado, de modo que un tercero independiente pueda examinar ese registro, repetir el proceso y llegar al mismo resultado. Principio 4, responsabilidad. La persona a cargo de la investigación responde porque se cumplan la ley y estos principios. Es decir, siempre hay un responsable con nombre propio. Lo interesante es cómo se relacionan. El principio 1 es el ideal. Pero en un sistema encendido es imposible no alterar absolutamente nada: el simple hecho de ejecutar una herramienta cambia la memoria. Ahí entra el principio 2 como válvula realista: la alteración se acepta si es mínima, necesaria y la hace alguien que puede explicarla. Y el principio 3 hace que esa alteración quede documentada. Por eso, si nos preguntan si una adquisición en vivo viola el principio 1, la respuesta es: no, siempre que se cumpla el principio 2 y quede registrada según el principio 3. Estos principios se aplican a lo largo del ciclo que propone la guía: planear, capturar, analizar y presentar.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Ahora el RFC 3227. Si ACPO habla de responsabilidades, el RFC habla de acciones concretas. Lo organizamos en dos columnas: lo que hay que hacer y lo que hay que evitar. Sus principios guía, en la sección 2, son seis. Uno: respetar la política de seguridad de la organización y coordinar con las personas adecuadas, incluido el área legal. Dos: capturar una imagen del sistema lo más fiel posible. Tres: tomar notas detalladas, con fecha y hora, registrando tanto la hora local como la UTC y el desfase del reloj del equipo. Cuatro: minimizar los cambios en los datos. Cinco: recolectar primero y analizar después, para no perder tiempo valioso mientras la evidencia desaparece. Y seis: ir de lo más volátil a lo menos volátil, que veremos en detalle en la siguiente diapositiva. En la columna derecha están las acciones a evitar, de la sección 2.2. No apagar el sistema antes de recolectar la evidencia volátil, porque se pierde todo lo que está en memoria. No confiar en los programas del sistema comprometido. Un atacante pudo reemplazar comandos como netstat o ps para que oculten sus procesos o conexiones. Por eso se usa un kit propio de herramientas en un medio de solo lectura. No ejecutar programas que modifiquen los tiempos de acceso de los archivos, como una búsqueda masiva o un antivirus. Y tener cuidado al desconectar la red: algunos atacantes dejan rutinas que borran evidencia cuando detectan que el equipo perdió conexión. El RFC se completa con privacidad en la sección 2.3, consideraciones legales en la 2.4, el procedimiento de recolección en la 3, el archivo y la cadena de custodia en la 4, y el kit de herramientas necesario en la 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Esta es probablemente la idea más conocida del RFC 3227: el orden de volatilidad, en la sección 2.1. El principio es simple: lo que se pierde primero, se recoge primero. Leamos la escala de arriba hacia abajo. Las duraciones de la derecha son aproximadas y son nuestra lectura; el RFC define el orden, no los tiempos. Nivel 1: registros y caché del procesador. Cambian en nanosegundos y en la práctica no se pueden adquirir directamente; lo que se hace es capturar su efecto en el volcado de memoria. Nivel 2: la memoria RAM y todo lo que vive en ella: la tabla de procesos, la tabla de enrutamiento, la caché ARP y las estadísticas del kernel. Aquí están los procesos maliciosos, las conexiones activas, las claves de cifrado y hasta los comandos que escribió el atacante. Se pierde con un apagado o en segundos de actividad. Nivel 3: los sistemas de archivos temporales, como la carpeta temporal o el archivo de paginación. Nivel 4: el disco duro. Persiste durante días o años, siempre que nadie lo altere. Nivel 5: los registros remotos y los datos de monitoreo, por ejemplo un SIEM o los logs del firewall. Duran lo que diga la política de retención. Nivel 6: la configuración física y la topología de red. Nivel 7: los medios de archivo, como las copias de respaldo. ¿Por qué importa tanto? Porque define decisiones. Pongamos un ejemplo: un servidor con un malware que vive solo en memoria, sin archivo en disco. Si alguien lo apaga para «frenar el ataque», se pierde todo el nivel 2 y con él la prueba principal. Ese es exactamente uno de los dilemas de nuestro caso. Y hay un matiz: el orden no significa que lo de abajo sea menos importante. Los logs remotos del nivel 5 pueden ser decisivos, como veremos, pero pueden esperar unos minutos; la memoria no.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 30 s] Con los principios claros, los unimos en un solo ciclo de cinco fases: identificar, recolectar, preservar, analizar y presentar. Las tarjetas con borde azul oscuro son fases donde manda ACPO; las de borde verde, donde el RFC aporta el detalle técnico. Identificar corresponde a la fase de planeación de ACPO: tener un mandato escrito y un alcance claro, aislar la escena, fotografiar pantallas y conexiones, y registrar el desfase del reloj del equipo. Recolectar combina el orden de volatilidad del RFC con la fase de captura de ACPO: primero lo volátil con un kit confiable y después la imagen bit a bit del disco con bloqueador de escritura. Preservar es calcular las funciones hash, rotular, sellar, diligenciar la cadena de custodia y crear copias de trabajo. Es la sección 4 del RFC y el principio 1 de ACPO. Analizar se hace siempre sobre copias y con cada paso registrado, para cumplir el principio 3. Y presentar es el dictamen: hechos, método, hallazgos y límites, sustentado por un perito competente que responde por su trabajo, principios 2 y 4. Abajo destacamos el punto de decisión más crítico, que es donde más se equivoca el personal no entrenado: ¿el equipo está encendido o apagado? Si está apagado, no se enciende, porque encenderlo modifica cientos de archivos. Si está encendido y hay información que solo existe en memoria, o hay cifrado activo, se justifica por escrito una adquisición en vivo. En la Guía Lite este ciclo está desarrollado en un mapa de procesos de nueve pasos.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30 s] Pasamos a la defensa de la prueba. Cuando una evidencia digital llega a juicio, la contraparte casi nunca ataca el hallazgo en sí; ataca el camino que recorrió la evidencia. Por eso la integridad tiene que ser demostrable, no solo afirmada. Se sostiene en dos pilares. El primero es la función hash. Una función hash produce un resumen de longitud fija de un archivo o de un disco completo; si cambia un solo bit, el resumen cambia por completo. Calculamos el hash del original, de la imagen y de cada archivo volátil, y si coinciden, demostramos que la copia es idéntica. Aquí hacemos un aporte propio. Ni el RFC ni ACPO fijan qué algoritmo usar; el RFC habla de sumas de verificación de forma genérica. Durante años se usaron MD5 y SHA-1, pero hoy tienen colisiones conocidas y no se recomiendan. Nuestra Guía Lite exige dos algoritmos de familias distintas: SHA-256 de la familia SHA-2 y SHA3-256 de la familia Keccak. Lograr una colisión simultánea en ambos es inviable en la práctica. En el recuadro oscuro están los comandos de referencia en Linux: sha256sum para SHA-256, openssl para SHA3-256, y la verificación de la imagen contra el original. El segundo pilar es la cadena de custodia. Mientras el hash demuestra que el contenido no cambió, la custodia demuestra quién tuvo la evidencia en cada momento, dónde y para qué. Nuestro formato mínimo tiene cuatro bloques: identificación, con el número de caso y el serial del dispositivo; integridad, con los dos hashes y el número de sello; continuidad, con fecha, hora, quién entrega, quién recibe y por qué; y condiciones de embalaje y almacenamiento. Esto responde a la sección 4.1 del RFC y a los artículos 254 a 266 del Código de Procedimiento Penal. Un vacío en cualquiera de los dos pilares es lo primero que va a buscar la defensa.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30 s] El segundo componente de la defensa de la prueba es la repetibilidad, y para entenderla primero veamos qué debe cumplir una evidencia según la sección 2.4 del RFC 3227. Son cinco cualidades. Admisible: debe haberse obtenido conforme a la ley y dentro del mandato. Una evidencia brillante obtenida sin autorización no sirve. Auténtica: debe poder vincularse al incidente; es lo que dice ser y viene de donde se dice. Completa: debe contar toda la historia, no solo la parte que favorece a una perspectiva. Confiable: no debe haber dudas sobre cómo se recolectó y se manejó. Y creíble: debe ser comprensible para el juez, que no es experto en informática. La confiabilidad descansa en la repetibilidad. Hagamos una distinción precisa: repetibilidad es que el mismo perito, con el mismo método, obtenga el mismo resultado; reproducibilidad es que lo obtenga un tercero independiente. El principio 3 de ACPO apunta a lo segundo. ¿Cómo se logra en la práctica? Con una bitácora que registre en cada paso cinco datos: la herramienta y su versión, los parámetros usados, la hora, quién lo hizo y el hash antes y después. Con esos datos, un perito de la contraparte puede tomar nuestras copias, repetir cada análisis y comprobar que llega a lo mismo. Hay un caso especial que siempre preguntan: la adquisición en vivo. Una captura de memoria no se puede repetir, porque la memoria cambia cada segundo. Lo que sí se puede es verificar el hash del volcado que obtuvimos y repetir todo el análisis sobre él. Por eso la justificación escrita y la bitácora son tan importantes en ese momento. En resumen: sin registro no hay repetibilidad, y sin repetibilidad la prueba se discute.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30 s] Ahora llevamos todo esto a un caso. Es un caso simulado, pero de alta fidelidad: la empresa, las personas, las direcciones IP y los hashes son ficticios, pero la mecánica del ataque y los errores de respuesta son muy comunes en la realidad. La empresa es Distribuidora Andina, en Bogotá. El 31 de agosto se retira su administrador de sistemas. TI deshabilita su cuenta personal, pero olvida una cuenta de servicio llamada svc_backup, que tenía privilegios de dominio y cuya contraseña él conocía. El 12 de septiembre a las 11:41 de la noche, alguien se conecta a la VPN con esa cuenta desde una IP residencial. Pasada la medianoche, accede por escritorio remoto al servidor de archivos SRV-FS01 y durante 75 minutos saca 4,7 gigabytes de la carpeta de clientes hacia un almacenamiento en la nube. A la 1:52 de la madrugada ejecuta un PowerShell codificado que inyecta un programa de cifrado directamente en memoria, sin dejar archivo en disco, y empieza a cifrar las carpetas compartidas. A las 2:05 borra el registro de seguridad local de Windows para tapar sus huellas. En la mañana los empleados encuentran sus archivos cifrados. A las 7:40, un técnico interno, con buena intención, apaga el servidor réplica SRV-FS02 para frenar el cifrado. Ese apagado tendrá consecuencias. A las 11:30 llega nuestro equipo pericial y activa la Guía Lite. La infraestructura comprometida incluye el servidor de archivos con discos mecánicos, su réplica con disco de estado sólido, el firewall con la VPN, un SIEM en un servidor separado y el controlador de dominio. Al día siguiente se recuperan además el portátil corporativo del exadministrador y una memoria USB que estaba en su antiguo puesto. Fíjense que en esta historia ya aparecen los tres desafíos que pide el taller: volatilidad extrema, técnicas antiforenses y evidencia dañada.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30 s] Veamos cómo resolvimos cada dilema y con qué fundamento. Primer dilema, volatilidad extrema. Al llegar, SRV-FS01 seguía encendido y el cifrador estaba activo, pero solo en memoria. Si lo apagábamos, perdíamos el programa, la clave de cifrado y la sesión remota del atacante. Decidimos hacer una adquisición en vivo y la justificamos por escrito. Desde una USB de solo lectura con herramientas propias capturamos primero la RAM completa, 32 gigabytes, y después las conexiones de red, los procesos, las sesiones y las tareas programadas. Cada archivo quedó con su hash al momento de crearlo. El resultado: recuperamos la clave de cifrado y pudimos descifrar las copias de trabajo. Fundamento: orden de volatilidad del RFC y principio 2 de ACPO. Segundo dilema, técnicas antiforenses. El atacante borró el registro de seguridad local y alteró las fechas de los archivos comprimidos. Respondimos con fuentes que él no controlaba: el SIEM, donde los eventos ya se habían reenviado antes del borrado, que es el nivel 5 de la escala. Y contrastamos las marcas de tiempo de la tabla maestra de archivos, la MFT, con los registros de tráfico NetFlow. Tercer dilema, evidencia dañada. El servidor réplica fue apagado por el técnico, y su disco de estado sólido, con la función TRIM, borró internamente los bloques liberados. No lo volvimos a encender ni intentamos «repararlo»: lo adquirimos tal como estaba y declaramos la pérdida en el dictamen. Y la USB del puesto había sido abierta por el jefe de TI en su propio equipo, sin bloqueador. La adquirimos tal como nos la entregaron y la dejamos solo como indicio de apoyo. Esto responde las preguntas orientadoras del taller: por qué en vivo, por qué ese orden y qué acciones correctivas aplicamos.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 Llegamos al dictamen de admisibilidad, que es el corazón del caso. Evaluamos cada evidencia con los cinco criterios del RFC y con el artículo 11 de la Ley 527. Cuatro evidencias son sólidas. La memoria RAM, porque la captura en vivo estuvo justificada, la hizo personal competente y su hash se verificó. La imagen del RAID, porque se adquirió con bloqueador y los hashes coinciden. Los logs del SIEM, NetFlow y VPN, porque vienen de una fuente independiente que el atacante no alcanzó. Y la imagen del disco de estado sólido, que es sólida en lo que se pudo adquirir, aunque el espacio no asignado se perdió; esa limitación quedó declarada. El portátil del exadministrador es admisible con reserva. Hubo un vacío de seis horas en el registro de custodia: nadie firmó la recepción en la bodega. Lo resolvimos sin esconderlo: el sello llegó intacto y fotografiado, el hash al adquirir coincide con el del análisis, el custodio dio una declaración juramentada y el formato se corrigió con una nota aclaratoria, sin tachaduras. La USB queda solo como apoyo. Al abrirla sin bloqueador se violaron los principios 1 y 2 de ACPO: cambiaron sus marcas de tiempo y no podemos garantizar que no se escribió nada en ella. No la descartamos, pero solo usamos su contenido si lo confirma otra fuente. La conclusión importante está abajo: ninguna conclusión principal depende de la USB. El acceso no autorizado, la exfiltración y el cifrado se acreditan con cuatro fuentes independientes que se corroboran entre sí. Esta es la lección central del caso: las fallas en la cadena de custodia no se esconden; se identifican, se explican y se mitigan. Eso es lo que da credibilidad al perito ante el juez.</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 Ningún marco es perfecto, y reconocer sus límites fortalece la sustentación. El RFC es de 2002 y la Guía ACPO de 2012; la tecnología ha cambiado mucho desde entonces. Primero, la nube. El RFC asume que el perito tiene acceso físico al equipo. En nuestro caso, los 4,7 gigabytes terminaron en un almacenamiento en la nube que no podemos adquirir directamente. La Guía Lite lo resuelve con la norma ISO/IEC 27037, los logs del proveedor y una solicitud formal de preservación. Segundo, los celulares y dispositivos IoT, que tienen cifrado por hardware. Se requieren aislamiento en bolsa de Faraday y herramientas especializadas, documentando si la extracción fue lógica o física. Tercero, los discos de estado sólido con TRIM y el cifrado de disco completo. Lo vimos en el caso: el controlador borra datos por su cuenta. La respuesta es capturar en vivo cuando se pueda y declarar el límite. Cuarto, ninguno de los dos marcos define qué algoritmo hash usar; nuestra guía exige SHA-256 y SHA3-256. Y quinto, la jurisdicción: ACPO responde al derecho británico, así que siempre validamos contra el Código de Procedimiento Penal, la Ley 527 y la Ley 1273.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 Para terminar, hablémosle a una junta directiva. ¿Por qué una empresa debería adoptar estos marcos? Primero, porque producen pruebas que resisten un juicio. Con ellas la empresa puede denunciar penalmente, sustentar un despido con justa causa o reclamar a una aseguradora. Sin ellas, tiene sospechas, pero no pruebas. Segundo, porque permiten una primera respuesta sin daños. El caso lo mostró claramente: las dos fallas graves, el apagado del servidor réplica y la USB manipulada, ocurrieron antes de que llegara un perito, por personal interno con buena intención. Un protocolo de una sola página para TI, con instrucciones como no apagar, aislar la red, fotografiar y llamar al perito, habría evitado ambas. Tercero, porque asignan responsables claros. El principio 4 de ACPO hace que la junta sepa quién responde por el proceso. Y cuarto, porque cuestan poco frente a lo que protegen: un kit de respuesta preparado, una retención adecuada de logs en el SIEM y la formación de dos funcionarios internos cuestan mucho menos que perder la prueba de un incidente. Adoptar estos marcos no es un tema académico; es gestión del riesgo legal de la organización.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luego preguntas] Volvemos a la idea con la que empezamos: una evidencia vale lo que vale su método. El RFC 3227 nos dio el qué y el cuándo: recoger primero lo más volátil, no confiar en el sistema comprometido, tomar notas de todo. La Guía ACPO nos dio el quién y el cómo: no alterar, actuar con competencia, dejar un registro que otro pueda repetir y tener un responsable. Juntos, y complementados con el hash dual y con la ley colombiana, convierten un dato en una prueba. Muchas gracias. Quedamos atentos a sus preguntas. [Respuestas preparadas para el jurado] ¿Por qué no apagaron el servidor? Porque la prueba principal, el cifrador y su clave, solo existía en memoria; apagarlo la destruía. ¿Cómo prueban que la imagen es fiel al original? Con dos hashes, SHA-256 y SHA3-256, que coinciden en el origen, en la imagen y en cada verificación posterior. ¿La adquisición en vivo no viola el principio 1 de ACPO? No, si se justifica, la hace personal competente según el principio 2 y queda registrada según el principio 3. ¿Qué pasa con la USB? Se presenta solo como indicio de apoyo, corroborado por otras fuentes. ¿Siguen vigentes estos marcos? El RFC 3227 no ha sido reemplazado por otro RFC; la Guía ACPO fue revisada en 2021 y se consideró vigente. ¿Por qué un estándar británico en Colombia? Porque la ley colombiana exige confiabilidad e integridad, pero no dice cómo lograrlas; estos marcos son práctica reconocida y verificable.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323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323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E8B84"/>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7FC4BD"/>
                </a:solidFill>
                <a:latin typeface="IBM Plex Sans" pitchFamily="34" charset="0"/>
                <a:ea typeface="IBM Plex Sans" pitchFamily="34" charset="-122"/>
                <a:cs typeface="IBM Plex Sans" pitchFamily="34" charset="-120"/>
              </a:rPr>
              <a:t>INFORMÁTICA FORENSE · GRUPO 2</a:t>
            </a:r>
            <a:endParaRPr lang="en-US" sz="1400" dirty="0"/>
          </a:p>
        </p:txBody>
      </p:sp>
      <p:sp>
        <p:nvSpPr>
          <p:cNvPr id="4" name="Text 2"/>
          <p:cNvSpPr>
            <a:spLocks noGrp="1"/>
          </p:cNvSpPr>
          <p:nvPr>
            <p:ph type="title"/>
          </p:nvPr>
        </p:nvSpPr>
        <p:spPr>
          <a:xfrm>
            <a:off x="812800" y="256413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F"/>
                </a:solidFill>
                <a:latin typeface="Source Serif 4" pitchFamily="18" charset="0"/>
                <a:ea typeface="Source Serif 4" pitchFamily="18" charset="-122"/>
                <a:cs typeface="Source Serif 4" pitchFamily="18" charset="-120"/>
              </a:rPr>
              <a:t>RFC 3227 y Guía ACPO</a:t>
            </a:r>
            <a:endParaRPr lang="en-US" sz="6000" dirty="0"/>
          </a:p>
        </p:txBody>
      </p:sp>
      <p:sp>
        <p:nvSpPr>
          <p:cNvPr id="5" name="Text 3"/>
          <p:cNvSpPr/>
          <p:nvPr/>
        </p:nvSpPr>
        <p:spPr>
          <a:xfrm>
            <a:off x="812800" y="3567430"/>
            <a:ext cx="9156700"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DE"/>
                </a:solidFill>
                <a:latin typeface="IBM Plex Sans" pitchFamily="34" charset="0"/>
                <a:ea typeface="IBM Plex Sans" pitchFamily="34" charset="-122"/>
                <a:cs typeface="IBM Plex Sans" pitchFamily="34" charset="-120"/>
              </a:rPr>
              <a:t>Recolección, preservación y defensa de la evidencia digital: de la norma al dictamen pericial</a:t>
            </a:r>
            <a:endParaRPr lang="en-US" sz="2200" dirty="0"/>
          </a:p>
        </p:txBody>
      </p:sp>
      <p:sp>
        <p:nvSpPr>
          <p:cNvPr id="6" name="Text 4"/>
          <p:cNvSpPr/>
          <p:nvPr/>
        </p:nvSpPr>
        <p:spPr>
          <a:xfrm>
            <a:off x="917303" y="4763407"/>
            <a:ext cx="2843954" cy="1751330"/>
          </a:xfrm>
          <a:prstGeom prst="rect">
            <a:avLst/>
          </a:prstGeom>
          <a:noFill/>
          <a:ln/>
        </p:spPr>
        <p:txBody>
          <a:bodyPr wrap="square" lIns="0" tIns="0" rIns="0" bIns="0" rtlCol="0" anchor="t">
            <a:normAutofit/>
          </a:bodyPr>
          <a:lstStyle/>
          <a:p>
            <a:pPr>
              <a:lnSpc>
                <a:spcPts val="1960"/>
              </a:lnSpc>
            </a:pPr>
            <a:r>
              <a:rPr lang="en-US" sz="1400" b="1" dirty="0" err="1">
                <a:solidFill>
                  <a:srgbClr val="C9D3DE"/>
                </a:solidFill>
                <a:latin typeface="IBM Plex Sans" pitchFamily="34" charset="0"/>
                <a:ea typeface="IBM Plex Sans" pitchFamily="34" charset="-122"/>
                <a:cs typeface="IBM Plex Sans" pitchFamily="34" charset="-120"/>
              </a:rPr>
              <a:t>Integrantes</a:t>
            </a:r>
            <a:r>
              <a:rPr lang="en-US" sz="1400" b="1" dirty="0">
                <a:solidFill>
                  <a:srgbClr val="C9D3DE"/>
                </a:solidFill>
                <a:latin typeface="IBM Plex Sans" pitchFamily="34" charset="0"/>
                <a:ea typeface="IBM Plex Sans" pitchFamily="34" charset="-122"/>
                <a:cs typeface="IBM Plex Sans" pitchFamily="34" charset="-120"/>
              </a:rPr>
              <a:t>:</a:t>
            </a:r>
          </a:p>
          <a:p>
            <a:pPr>
              <a:lnSpc>
                <a:spcPts val="1960"/>
              </a:lnSpc>
            </a:pPr>
            <a:r>
              <a:rPr lang="en-US" sz="1400" dirty="0">
                <a:solidFill>
                  <a:srgbClr val="C9D3DE"/>
                </a:solidFill>
                <a:latin typeface="IBM Plex Sans" pitchFamily="34" charset="0"/>
                <a:ea typeface="IBM Plex Sans" pitchFamily="34" charset="-122"/>
                <a:cs typeface="IBM Plex Sans" pitchFamily="34" charset="-120"/>
              </a:rPr>
              <a:t>Johan Camilo Tamara</a:t>
            </a:r>
          </a:p>
          <a:p>
            <a:pPr>
              <a:lnSpc>
                <a:spcPts val="1960"/>
              </a:lnSpc>
            </a:pPr>
            <a:r>
              <a:rPr lang="en-US" sz="1400" dirty="0">
                <a:solidFill>
                  <a:srgbClr val="C9D3DE"/>
                </a:solidFill>
                <a:latin typeface="IBM Plex Sans" pitchFamily="34" charset="0"/>
                <a:ea typeface="IBM Plex Sans" pitchFamily="34" charset="-122"/>
                <a:cs typeface="IBM Plex Sans" pitchFamily="34" charset="-120"/>
              </a:rPr>
              <a:t>Natalia </a:t>
            </a:r>
            <a:r>
              <a:rPr lang="en-US" sz="1400" dirty="0" err="1">
                <a:solidFill>
                  <a:srgbClr val="C9D3DE"/>
                </a:solidFill>
                <a:latin typeface="IBM Plex Sans" pitchFamily="34" charset="0"/>
                <a:ea typeface="IBM Plex Sans" pitchFamily="34" charset="-122"/>
                <a:cs typeface="IBM Plex Sans" pitchFamily="34" charset="-120"/>
              </a:rPr>
              <a:t>Forero</a:t>
            </a:r>
            <a:r>
              <a:rPr lang="en-US" sz="1400" dirty="0">
                <a:solidFill>
                  <a:srgbClr val="C9D3DE"/>
                </a:solidFill>
                <a:latin typeface="IBM Plex Sans" pitchFamily="34" charset="0"/>
                <a:ea typeface="IBM Plex Sans" pitchFamily="34" charset="-122"/>
                <a:cs typeface="IBM Plex Sans" pitchFamily="34" charset="-120"/>
              </a:rPr>
              <a:t> Lozano</a:t>
            </a:r>
          </a:p>
          <a:p>
            <a:pPr>
              <a:lnSpc>
                <a:spcPts val="1960"/>
              </a:lnSpc>
            </a:pPr>
            <a:r>
              <a:rPr lang="en-US" sz="1400" dirty="0">
                <a:solidFill>
                  <a:srgbClr val="C9D3DE"/>
                </a:solidFill>
                <a:latin typeface="IBM Plex Sans" pitchFamily="34" charset="0"/>
                <a:ea typeface="IBM Plex Sans" pitchFamily="34" charset="-122"/>
                <a:cs typeface="IBM Plex Sans" pitchFamily="34" charset="-120"/>
              </a:rPr>
              <a:t>Laura Gutiérrez Torres</a:t>
            </a:r>
          </a:p>
          <a:p>
            <a:pPr>
              <a:lnSpc>
                <a:spcPts val="1960"/>
              </a:lnSpc>
            </a:pPr>
            <a:r>
              <a:rPr lang="en-US" sz="1400" dirty="0" err="1">
                <a:solidFill>
                  <a:srgbClr val="C9D3DE"/>
                </a:solidFill>
                <a:latin typeface="IBM Plex Sans" pitchFamily="34" charset="0"/>
                <a:ea typeface="IBM Plex Sans" pitchFamily="34" charset="-122"/>
                <a:cs typeface="IBM Plex Sans" pitchFamily="34" charset="-120"/>
              </a:rPr>
              <a:t>Ayda</a:t>
            </a:r>
            <a:r>
              <a:rPr lang="en-US" sz="1400" dirty="0">
                <a:solidFill>
                  <a:srgbClr val="C9D3DE"/>
                </a:solidFill>
                <a:latin typeface="IBM Plex Sans" pitchFamily="34" charset="0"/>
                <a:ea typeface="IBM Plex Sans" pitchFamily="34" charset="-122"/>
                <a:cs typeface="IBM Plex Sans" pitchFamily="34" charset="-120"/>
              </a:rPr>
              <a:t> Castro Suárez</a:t>
            </a:r>
            <a:endParaRPr lang="en-US" sz="1400" dirty="0">
              <a:solidFill>
                <a:srgbClr val="C9D3DE"/>
              </a:solidFill>
              <a:latin typeface="IBM Plex Sans" pitchFamily="34" charset="0"/>
              <a:ea typeface="IBM Plex Sans" pitchFamily="34" charset="-122"/>
              <a:cs typeface="IBM Plex Sans" pitchFamily="34" charset="-120"/>
            </a:endParaRPr>
          </a:p>
        </p:txBody>
      </p:sp>
      <p:sp>
        <p:nvSpPr>
          <p:cNvPr id="7" name="Text 5"/>
          <p:cNvSpPr/>
          <p:nvPr/>
        </p:nvSpPr>
        <p:spPr>
          <a:xfrm>
            <a:off x="917303" y="6245497"/>
            <a:ext cx="2383409" cy="274320"/>
          </a:xfrm>
          <a:prstGeom prst="rect">
            <a:avLst/>
          </a:prstGeom>
          <a:noFill/>
          <a:ln/>
        </p:spPr>
        <p:txBody>
          <a:bodyPr wrap="square" lIns="0" tIns="0" rIns="0" bIns="0" rtlCol="0" anchor="t">
            <a:normAutofit fontScale="92500"/>
          </a:bodyPr>
          <a:lstStyle/>
          <a:p>
            <a:pPr marL="0" indent="0" algn="l">
              <a:lnSpc>
                <a:spcPts val="1960"/>
              </a:lnSpc>
              <a:buNone/>
            </a:pPr>
            <a:r>
              <a:rPr lang="en-US" sz="1400" dirty="0">
                <a:solidFill>
                  <a:srgbClr val="C9D3DE"/>
                </a:solidFill>
                <a:latin typeface="IBM Plex Sans" pitchFamily="34" charset="0"/>
                <a:ea typeface="IBM Plex Sans" pitchFamily="34" charset="-122"/>
                <a:cs typeface="IBM Plex Sans" pitchFamily="34" charset="-120"/>
              </a:rPr>
              <a:t>Bogotá, </a:t>
            </a:r>
            <a:r>
              <a:rPr lang="en-US" sz="1400" dirty="0" smtClean="0">
                <a:solidFill>
                  <a:srgbClr val="C9D3DE"/>
                </a:solidFill>
                <a:latin typeface="IBM Plex Sans" pitchFamily="34" charset="0"/>
                <a:ea typeface="IBM Plex Sans" pitchFamily="34" charset="-122"/>
                <a:cs typeface="IBM Plex Sans" pitchFamily="34" charset="-120"/>
              </a:rPr>
              <a:t>30 de </a:t>
            </a:r>
            <a:r>
              <a:rPr lang="en-US" sz="1400" dirty="0" err="1" smtClean="0">
                <a:solidFill>
                  <a:srgbClr val="C9D3DE"/>
                </a:solidFill>
                <a:latin typeface="IBM Plex Sans" pitchFamily="34" charset="0"/>
                <a:ea typeface="IBM Plex Sans" pitchFamily="34" charset="-122"/>
                <a:cs typeface="IBM Plex Sans" pitchFamily="34" charset="-120"/>
              </a:rPr>
              <a:t>octubre</a:t>
            </a:r>
            <a:r>
              <a:rPr lang="en-US" sz="1400" dirty="0" smtClean="0">
                <a:solidFill>
                  <a:srgbClr val="C9D3DE"/>
                </a:solidFill>
                <a:latin typeface="IBM Plex Sans" pitchFamily="34" charset="0"/>
                <a:ea typeface="IBM Plex Sans" pitchFamily="34" charset="-122"/>
                <a:cs typeface="IBM Plex Sans" pitchFamily="34" charset="-120"/>
              </a:rPr>
              <a:t> </a:t>
            </a:r>
            <a:r>
              <a:rPr lang="en-US" sz="1400" dirty="0">
                <a:solidFill>
                  <a:srgbClr val="C9D3DE"/>
                </a:solidFill>
                <a:latin typeface="IBM Plex Sans" pitchFamily="34" charset="0"/>
                <a:ea typeface="IBM Plex Sans" pitchFamily="34" charset="-122"/>
                <a:cs typeface="IBM Plex Sans" pitchFamily="34" charset="-120"/>
              </a:rPr>
              <a:t>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Ruta de la sustentación</a:t>
            </a:r>
            <a:endParaRPr lang="en-US" sz="3600" dirty="0"/>
          </a:p>
        </p:txBody>
      </p:sp>
      <p:sp>
        <p:nvSpPr>
          <p:cNvPr id="3" name="Shape 1"/>
          <p:cNvSpPr/>
          <p:nvPr/>
        </p:nvSpPr>
        <p:spPr>
          <a:xfrm>
            <a:off x="812800" y="1677670"/>
            <a:ext cx="5130800" cy="0"/>
          </a:xfrm>
          <a:prstGeom prst="line">
            <a:avLst/>
          </a:prstGeom>
          <a:noFill/>
          <a:ln w="12700">
            <a:solidFill>
              <a:srgbClr val="13233A"/>
            </a:solidFill>
            <a:prstDash val="solid"/>
          </a:ln>
        </p:spPr>
      </p:sp>
      <p:sp>
        <p:nvSpPr>
          <p:cNvPr id="4" name="Text 2"/>
          <p:cNvSpPr/>
          <p:nvPr/>
        </p:nvSpPr>
        <p:spPr>
          <a:xfrm>
            <a:off x="812800" y="1836420"/>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8B84"/>
                </a:solidFill>
                <a:latin typeface="IBM Plex Sans" pitchFamily="34" charset="0"/>
                <a:ea typeface="IBM Plex Sans" pitchFamily="34" charset="-122"/>
                <a:cs typeface="IBM Plex Sans" pitchFamily="34" charset="-120"/>
              </a:rPr>
              <a:t>01</a:t>
            </a:r>
            <a:endParaRPr lang="en-US" sz="2200" dirty="0"/>
          </a:p>
        </p:txBody>
      </p:sp>
      <p:sp>
        <p:nvSpPr>
          <p:cNvPr id="5" name="Text 3"/>
          <p:cNvSpPr/>
          <p:nvPr/>
        </p:nvSpPr>
        <p:spPr>
          <a:xfrm>
            <a:off x="1325880" y="1913890"/>
            <a:ext cx="253226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Contexto</a:t>
            </a:r>
            <a:endParaRPr lang="en-US" sz="1800" dirty="0"/>
          </a:p>
        </p:txBody>
      </p:sp>
      <p:sp>
        <p:nvSpPr>
          <p:cNvPr id="6" name="Text 4"/>
          <p:cNvSpPr/>
          <p:nvPr/>
        </p:nvSpPr>
        <p:spPr>
          <a:xfrm>
            <a:off x="1325880" y="2239010"/>
            <a:ext cx="295021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Origen, aplicabilidad y vigencia</a:t>
            </a:r>
            <a:endParaRPr lang="en-US" sz="1400" dirty="0"/>
          </a:p>
        </p:txBody>
      </p:sp>
      <p:sp>
        <p:nvSpPr>
          <p:cNvPr id="7" name="Shape 5"/>
          <p:cNvSpPr/>
          <p:nvPr/>
        </p:nvSpPr>
        <p:spPr>
          <a:xfrm>
            <a:off x="6248400" y="1677670"/>
            <a:ext cx="5130800" cy="0"/>
          </a:xfrm>
          <a:prstGeom prst="line">
            <a:avLst/>
          </a:prstGeom>
          <a:noFill/>
          <a:ln w="12700">
            <a:solidFill>
              <a:srgbClr val="13233A"/>
            </a:solidFill>
            <a:prstDash val="solid"/>
          </a:ln>
        </p:spPr>
      </p:sp>
      <p:sp>
        <p:nvSpPr>
          <p:cNvPr id="8" name="Text 6"/>
          <p:cNvSpPr/>
          <p:nvPr/>
        </p:nvSpPr>
        <p:spPr>
          <a:xfrm>
            <a:off x="6248400" y="1836420"/>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8B84"/>
                </a:solidFill>
                <a:latin typeface="IBM Plex Sans" pitchFamily="34" charset="0"/>
                <a:ea typeface="IBM Plex Sans" pitchFamily="34" charset="-122"/>
                <a:cs typeface="IBM Plex Sans" pitchFamily="34" charset="-120"/>
              </a:rPr>
              <a:t>02</a:t>
            </a:r>
            <a:endParaRPr lang="en-US" sz="2200" dirty="0"/>
          </a:p>
        </p:txBody>
      </p:sp>
      <p:sp>
        <p:nvSpPr>
          <p:cNvPr id="9" name="Text 7"/>
          <p:cNvSpPr/>
          <p:nvPr/>
        </p:nvSpPr>
        <p:spPr>
          <a:xfrm>
            <a:off x="6761480" y="1913890"/>
            <a:ext cx="300219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Núcleo técnico</a:t>
            </a:r>
            <a:endParaRPr lang="en-US" sz="1800" dirty="0"/>
          </a:p>
        </p:txBody>
      </p:sp>
      <p:sp>
        <p:nvSpPr>
          <p:cNvPr id="10" name="Text 8"/>
          <p:cNvSpPr/>
          <p:nvPr/>
        </p:nvSpPr>
        <p:spPr>
          <a:xfrm>
            <a:off x="6761480" y="2239010"/>
            <a:ext cx="349770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Principios, orden de volatilidad, ciclo</a:t>
            </a:r>
            <a:endParaRPr lang="en-US" sz="1400" dirty="0"/>
          </a:p>
        </p:txBody>
      </p:sp>
      <p:sp>
        <p:nvSpPr>
          <p:cNvPr id="11" name="Shape 9"/>
          <p:cNvSpPr/>
          <p:nvPr/>
        </p:nvSpPr>
        <p:spPr>
          <a:xfrm>
            <a:off x="812800" y="2646680"/>
            <a:ext cx="5130800" cy="0"/>
          </a:xfrm>
          <a:prstGeom prst="line">
            <a:avLst/>
          </a:prstGeom>
          <a:noFill/>
          <a:ln w="12700">
            <a:solidFill>
              <a:srgbClr val="13233A"/>
            </a:solidFill>
            <a:prstDash val="solid"/>
          </a:ln>
        </p:spPr>
      </p:sp>
      <p:sp>
        <p:nvSpPr>
          <p:cNvPr id="12" name="Text 10"/>
          <p:cNvSpPr/>
          <p:nvPr/>
        </p:nvSpPr>
        <p:spPr>
          <a:xfrm>
            <a:off x="812800" y="2805430"/>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8B84"/>
                </a:solidFill>
                <a:latin typeface="IBM Plex Sans" pitchFamily="34" charset="0"/>
                <a:ea typeface="IBM Plex Sans" pitchFamily="34" charset="-122"/>
                <a:cs typeface="IBM Plex Sans" pitchFamily="34" charset="-120"/>
              </a:rPr>
              <a:t>03</a:t>
            </a:r>
            <a:endParaRPr lang="en-US" sz="2200" dirty="0"/>
          </a:p>
        </p:txBody>
      </p:sp>
      <p:sp>
        <p:nvSpPr>
          <p:cNvPr id="13" name="Text 11"/>
          <p:cNvSpPr/>
          <p:nvPr/>
        </p:nvSpPr>
        <p:spPr>
          <a:xfrm>
            <a:off x="1325880" y="2882900"/>
            <a:ext cx="243012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Defensa de la prueba</a:t>
            </a:r>
            <a:endParaRPr lang="en-US" sz="1800" dirty="0"/>
          </a:p>
        </p:txBody>
      </p:sp>
      <p:sp>
        <p:nvSpPr>
          <p:cNvPr id="14" name="Text 12"/>
          <p:cNvSpPr/>
          <p:nvPr/>
        </p:nvSpPr>
        <p:spPr>
          <a:xfrm>
            <a:off x="1325880" y="3208020"/>
            <a:ext cx="283121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Custodia, hash y repetibilidad</a:t>
            </a:r>
            <a:endParaRPr lang="en-US" sz="1400" dirty="0"/>
          </a:p>
        </p:txBody>
      </p:sp>
      <p:sp>
        <p:nvSpPr>
          <p:cNvPr id="15" name="Shape 13"/>
          <p:cNvSpPr/>
          <p:nvPr/>
        </p:nvSpPr>
        <p:spPr>
          <a:xfrm>
            <a:off x="6248400" y="2646680"/>
            <a:ext cx="5130800" cy="0"/>
          </a:xfrm>
          <a:prstGeom prst="line">
            <a:avLst/>
          </a:prstGeom>
          <a:noFill/>
          <a:ln w="12700">
            <a:solidFill>
              <a:srgbClr val="13233A"/>
            </a:solidFill>
            <a:prstDash val="solid"/>
          </a:ln>
        </p:spPr>
      </p:sp>
      <p:sp>
        <p:nvSpPr>
          <p:cNvPr id="16" name="Text 14"/>
          <p:cNvSpPr/>
          <p:nvPr/>
        </p:nvSpPr>
        <p:spPr>
          <a:xfrm>
            <a:off x="6248400" y="2805430"/>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8B84"/>
                </a:solidFill>
                <a:latin typeface="IBM Plex Sans" pitchFamily="34" charset="0"/>
                <a:ea typeface="IBM Plex Sans" pitchFamily="34" charset="-122"/>
                <a:cs typeface="IBM Plex Sans" pitchFamily="34" charset="-120"/>
              </a:rPr>
              <a:t>04</a:t>
            </a:r>
            <a:endParaRPr lang="en-US" sz="2200" dirty="0"/>
          </a:p>
        </p:txBody>
      </p:sp>
      <p:sp>
        <p:nvSpPr>
          <p:cNvPr id="17" name="Text 15"/>
          <p:cNvSpPr/>
          <p:nvPr/>
        </p:nvSpPr>
        <p:spPr>
          <a:xfrm>
            <a:off x="6761480" y="2882900"/>
            <a:ext cx="31971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Caso DF-2026-017</a:t>
            </a:r>
            <a:endParaRPr lang="en-US" sz="1800" dirty="0"/>
          </a:p>
        </p:txBody>
      </p:sp>
      <p:sp>
        <p:nvSpPr>
          <p:cNvPr id="18" name="Text 16"/>
          <p:cNvSpPr/>
          <p:nvPr/>
        </p:nvSpPr>
        <p:spPr>
          <a:xfrm>
            <a:off x="6761480" y="3208020"/>
            <a:ext cx="37247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Aplicación y dictamen de admisibilidad</a:t>
            </a:r>
            <a:endParaRPr lang="en-US" sz="1400" dirty="0"/>
          </a:p>
        </p:txBody>
      </p:sp>
      <p:sp>
        <p:nvSpPr>
          <p:cNvPr id="19" name="Shape 17"/>
          <p:cNvSpPr/>
          <p:nvPr/>
        </p:nvSpPr>
        <p:spPr>
          <a:xfrm>
            <a:off x="812800" y="3615690"/>
            <a:ext cx="5130800" cy="0"/>
          </a:xfrm>
          <a:prstGeom prst="line">
            <a:avLst/>
          </a:prstGeom>
          <a:noFill/>
          <a:ln w="12700">
            <a:solidFill>
              <a:srgbClr val="13233A"/>
            </a:solidFill>
            <a:prstDash val="solid"/>
          </a:ln>
        </p:spPr>
      </p:sp>
      <p:sp>
        <p:nvSpPr>
          <p:cNvPr id="20" name="Text 18"/>
          <p:cNvSpPr/>
          <p:nvPr/>
        </p:nvSpPr>
        <p:spPr>
          <a:xfrm>
            <a:off x="812800" y="3774440"/>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8B84"/>
                </a:solidFill>
                <a:latin typeface="IBM Plex Sans" pitchFamily="34" charset="0"/>
                <a:ea typeface="IBM Plex Sans" pitchFamily="34" charset="-122"/>
                <a:cs typeface="IBM Plex Sans" pitchFamily="34" charset="-120"/>
              </a:rPr>
              <a:t>05</a:t>
            </a:r>
            <a:endParaRPr lang="en-US" sz="2200" dirty="0"/>
          </a:p>
        </p:txBody>
      </p:sp>
      <p:sp>
        <p:nvSpPr>
          <p:cNvPr id="21" name="Text 19"/>
          <p:cNvSpPr/>
          <p:nvPr/>
        </p:nvSpPr>
        <p:spPr>
          <a:xfrm>
            <a:off x="1325880" y="3851910"/>
            <a:ext cx="28619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Conclusiones</a:t>
            </a:r>
            <a:endParaRPr lang="en-US" sz="1800" dirty="0"/>
          </a:p>
        </p:txBody>
      </p:sp>
      <p:sp>
        <p:nvSpPr>
          <p:cNvPr id="22" name="Text 20"/>
          <p:cNvSpPr/>
          <p:nvPr/>
        </p:nvSpPr>
        <p:spPr>
          <a:xfrm>
            <a:off x="1325880" y="4177030"/>
            <a:ext cx="333425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Límites y valor para la organización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Dos marcos, dos preguntas distintas</a:t>
            </a:r>
            <a:endParaRPr lang="en-US" sz="3600" dirty="0"/>
          </a:p>
        </p:txBody>
      </p:sp>
      <p:sp>
        <p:nvSpPr>
          <p:cNvPr id="3" name="Shape 1"/>
          <p:cNvSpPr/>
          <p:nvPr/>
        </p:nvSpPr>
        <p:spPr>
          <a:xfrm>
            <a:off x="815975" y="1623695"/>
            <a:ext cx="5149850" cy="4215130"/>
          </a:xfrm>
          <a:prstGeom prst="roundRect">
            <a:avLst>
              <a:gd name="adj" fmla="val 2335"/>
            </a:avLst>
          </a:prstGeom>
          <a:solidFill>
            <a:srgbClr val="FFFFFF"/>
          </a:solidFill>
          <a:ln w="6350">
            <a:solidFill>
              <a:srgbClr val="D9DDE2"/>
            </a:solidFill>
            <a:prstDash val="solid"/>
          </a:ln>
        </p:spPr>
      </p:sp>
      <p:sp>
        <p:nvSpPr>
          <p:cNvPr id="4" name="Text 2"/>
          <p:cNvSpPr/>
          <p:nvPr/>
        </p:nvSpPr>
        <p:spPr>
          <a:xfrm>
            <a:off x="1123950" y="1931670"/>
            <a:ext cx="4669917"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E8B84"/>
                </a:solidFill>
                <a:latin typeface="IBM Plex Sans" pitchFamily="34" charset="0"/>
                <a:ea typeface="IBM Plex Sans" pitchFamily="34" charset="-122"/>
                <a:cs typeface="IBM Plex Sans" pitchFamily="34" charset="-120"/>
              </a:rPr>
              <a:t>IETF · BCP 55</a:t>
            </a:r>
            <a:endParaRPr lang="en-US" sz="1200" dirty="0"/>
          </a:p>
        </p:txBody>
      </p:sp>
      <p:sp>
        <p:nvSpPr>
          <p:cNvPr id="5" name="Text 3"/>
          <p:cNvSpPr/>
          <p:nvPr/>
        </p:nvSpPr>
        <p:spPr>
          <a:xfrm>
            <a:off x="1123950" y="2272030"/>
            <a:ext cx="4669917" cy="42164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13233A"/>
                </a:solidFill>
                <a:latin typeface="Source Serif 4" pitchFamily="18" charset="0"/>
                <a:ea typeface="Source Serif 4" pitchFamily="18" charset="-122"/>
                <a:cs typeface="Source Serif 4" pitchFamily="18" charset="-120"/>
              </a:rPr>
              <a:t>RFC 3227</a:t>
            </a:r>
            <a:endParaRPr lang="en-US" sz="2600" dirty="0"/>
          </a:p>
        </p:txBody>
      </p:sp>
      <p:sp>
        <p:nvSpPr>
          <p:cNvPr id="6" name="Text 4"/>
          <p:cNvSpPr/>
          <p:nvPr/>
        </p:nvSpPr>
        <p:spPr>
          <a:xfrm>
            <a:off x="1123950" y="2795270"/>
            <a:ext cx="466991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Guía para recolectar y archivar evidencia de un incidente de seguridad. Escrita para administradores de sistemas.</a:t>
            </a:r>
            <a:endParaRPr lang="en-US" sz="1500" dirty="0"/>
          </a:p>
        </p:txBody>
      </p:sp>
      <p:sp>
        <p:nvSpPr>
          <p:cNvPr id="7" name="Text 5"/>
          <p:cNvSpPr/>
          <p:nvPr/>
        </p:nvSpPr>
        <p:spPr>
          <a:xfrm>
            <a:off x="1202182" y="3722370"/>
            <a:ext cx="4584065" cy="8255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Brezinski y Killalea, febrero de 2002</a:t>
            </a:r>
            <a:endParaRPr lang="en-US" sz="1400" dirty="0"/>
          </a:p>
          <a:p>
            <a:pPr marL="175768" indent="-175768" algn="l">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Best Current Practice, sin reemplazo</a:t>
            </a:r>
            <a:endParaRPr lang="en-US" sz="1400" dirty="0"/>
          </a:p>
          <a:p>
            <a:pPr marL="175768" indent="-175768" algn="l">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Responde: </a:t>
            </a:r>
            <a:r>
              <a:rPr lang="en-US" sz="1400" b="1" dirty="0">
                <a:solidFill>
                  <a:srgbClr val="44505F"/>
                </a:solidFill>
                <a:latin typeface="IBM Plex Sans" pitchFamily="34" charset="0"/>
                <a:ea typeface="IBM Plex Sans" pitchFamily="34" charset="-122"/>
                <a:cs typeface="IBM Plex Sans" pitchFamily="34" charset="-120"/>
              </a:rPr>
              <a:t>qué recoger y en qué orden</a:t>
            </a:r>
            <a:endParaRPr lang="en-US" sz="1400" dirty="0"/>
          </a:p>
        </p:txBody>
      </p:sp>
      <p:sp>
        <p:nvSpPr>
          <p:cNvPr id="8" name="Shape 6"/>
          <p:cNvSpPr/>
          <p:nvPr/>
        </p:nvSpPr>
        <p:spPr>
          <a:xfrm>
            <a:off x="6226175" y="1623695"/>
            <a:ext cx="5149850" cy="4215130"/>
          </a:xfrm>
          <a:prstGeom prst="roundRect">
            <a:avLst>
              <a:gd name="adj" fmla="val 2335"/>
            </a:avLst>
          </a:prstGeom>
          <a:solidFill>
            <a:srgbClr val="FFFFFF"/>
          </a:solidFill>
          <a:ln w="6350">
            <a:solidFill>
              <a:srgbClr val="D9DDE2"/>
            </a:solidFill>
            <a:prstDash val="solid"/>
          </a:ln>
        </p:spPr>
      </p:sp>
      <p:sp>
        <p:nvSpPr>
          <p:cNvPr id="9" name="Text 7"/>
          <p:cNvSpPr/>
          <p:nvPr/>
        </p:nvSpPr>
        <p:spPr>
          <a:xfrm>
            <a:off x="6534150" y="1931670"/>
            <a:ext cx="4669917"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13233A"/>
                </a:solidFill>
                <a:latin typeface="IBM Plex Sans" pitchFamily="34" charset="0"/>
                <a:ea typeface="IBM Plex Sans" pitchFamily="34" charset="-122"/>
                <a:cs typeface="IBM Plex Sans" pitchFamily="34" charset="-120"/>
              </a:rPr>
              <a:t>POLICÍA DEL REINO UNIDO</a:t>
            </a:r>
            <a:endParaRPr lang="en-US" sz="1200" dirty="0"/>
          </a:p>
        </p:txBody>
      </p:sp>
      <p:sp>
        <p:nvSpPr>
          <p:cNvPr id="10" name="Text 8"/>
          <p:cNvSpPr/>
          <p:nvPr/>
        </p:nvSpPr>
        <p:spPr>
          <a:xfrm>
            <a:off x="6534150" y="2272030"/>
            <a:ext cx="4669917" cy="42164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13233A"/>
                </a:solidFill>
                <a:latin typeface="Source Serif 4" pitchFamily="18" charset="0"/>
                <a:ea typeface="Source Serif 4" pitchFamily="18" charset="-122"/>
                <a:cs typeface="Source Serif 4" pitchFamily="18" charset="-120"/>
              </a:rPr>
              <a:t>Guía ACPO v5</a:t>
            </a:r>
            <a:endParaRPr lang="en-US" sz="2600" dirty="0"/>
          </a:p>
        </p:txBody>
      </p:sp>
      <p:sp>
        <p:nvSpPr>
          <p:cNvPr id="11" name="Text 9"/>
          <p:cNvSpPr/>
          <p:nvPr/>
        </p:nvSpPr>
        <p:spPr>
          <a:xfrm>
            <a:off x="6534150" y="2795270"/>
            <a:ext cx="466991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Buenas prácticas para la evidencia digital en todo su ciclo: planear, capturar, analizar, presentar.</a:t>
            </a:r>
            <a:endParaRPr lang="en-US" sz="1500" dirty="0"/>
          </a:p>
        </p:txBody>
      </p:sp>
      <p:sp>
        <p:nvSpPr>
          <p:cNvPr id="12" name="Text 10"/>
          <p:cNvSpPr/>
          <p:nvPr/>
        </p:nvSpPr>
        <p:spPr>
          <a:xfrm>
            <a:off x="6612382" y="3455670"/>
            <a:ext cx="4584065" cy="10922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Finalizada en 2011, publicada en 2012</a:t>
            </a:r>
            <a:endParaRPr lang="en-US" sz="1400" dirty="0"/>
          </a:p>
          <a:p>
            <a:pPr marL="175768" indent="-175768" algn="l">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ACPO es hoy el NPCC (2015); revisada y vigente en 2021</a:t>
            </a:r>
            <a:endParaRPr lang="en-US" sz="1400" dirty="0"/>
          </a:p>
          <a:p>
            <a:pPr marL="175768" indent="-175768" algn="l">
              <a:lnSpc>
                <a:spcPts val="2100"/>
              </a:lnSpc>
              <a:buSzPct val="100000"/>
              <a:buChar char="•"/>
            </a:pPr>
            <a:r>
              <a:rPr lang="en-US" sz="1400" dirty="0">
                <a:solidFill>
                  <a:srgbClr val="44505F"/>
                </a:solidFill>
                <a:latin typeface="IBM Plex Sans" pitchFamily="34" charset="0"/>
                <a:ea typeface="IBM Plex Sans" pitchFamily="34" charset="-122"/>
                <a:cs typeface="IBM Plex Sans" pitchFamily="34" charset="-120"/>
              </a:rPr>
              <a:t>Responde: </a:t>
            </a:r>
            <a:r>
              <a:rPr lang="en-US" sz="1400" b="1" dirty="0">
                <a:solidFill>
                  <a:srgbClr val="44505F"/>
                </a:solidFill>
                <a:latin typeface="IBM Plex Sans" pitchFamily="34" charset="0"/>
                <a:ea typeface="IBM Plex Sans" pitchFamily="34" charset="-122"/>
                <a:cs typeface="IBM Plex Sans" pitchFamily="34" charset="-120"/>
              </a:rPr>
              <a:t>quién actúa y cómo responde</a:t>
            </a:r>
            <a:endParaRPr lang="en-US" sz="14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480"/>
                </a:solidFill>
                <a:latin typeface="IBM Plex Sans" pitchFamily="34" charset="0"/>
                <a:ea typeface="IBM Plex Sans" pitchFamily="34" charset="-122"/>
                <a:cs typeface="IBM Plex Sans" pitchFamily="34" charset="-120"/>
              </a:rPr>
              <a:t>Fuentes: rfc-editor.org (RFC 3227); Knowledge Hub, National Standards (estado de ACPO v5)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Aplicabilidad en Colombia</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220"/>
          <a:ext cx="10553700" cy="2565400"/>
        </p:xfrm>
        <a:graphic>
          <a:graphicData uri="http://schemas.openxmlformats.org/drawingml/2006/table">
            <a:tbl>
              <a:tblPr/>
              <a:tblGrid>
                <a:gridCol w="2955036">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86080">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Necesidad pericial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Lo aporta el marco técnico</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Lo exige la norma colombiana</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63500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Valor probatorio del dato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RFC 3227: evidencia admisible, auténtica, completa, confiable y creíble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Ley 527 de 1999, art. 11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Cadena de custodia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RFC 3227 §4.1; ACPO principio 3</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Ley 906 de 2004, arts. 254-266</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2"/>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Tipificación del hecho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Hallazgos técnicos reproducibles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Ley 1273 de 2009 (arts. 269A a 269J)</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Privacidad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RFC 3227 §2.3</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Ley 1581 de 2012</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Competencia del perito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ACPO principio 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Idoneidad del perito en juicio oral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4503420"/>
            <a:ext cx="981075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Ninguno de los dos marcos es ley en Colombia: su fuerza está en ser práctica reconocida que el juez puede verificar.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Los cuatro principios ACPO</a:t>
            </a:r>
            <a:endParaRPr lang="en-US" sz="3600" dirty="0"/>
          </a:p>
        </p:txBody>
      </p:sp>
      <p:sp>
        <p:nvSpPr>
          <p:cNvPr id="3" name="Shape 1"/>
          <p:cNvSpPr/>
          <p:nvPr/>
        </p:nvSpPr>
        <p:spPr>
          <a:xfrm>
            <a:off x="815975" y="1623696"/>
            <a:ext cx="5175250" cy="1664970"/>
          </a:xfrm>
          <a:prstGeom prst="roundRect">
            <a:avLst>
              <a:gd name="adj" fmla="val 5912"/>
            </a:avLst>
          </a:prstGeom>
          <a:solidFill>
            <a:srgbClr val="FFFFFF"/>
          </a:solidFill>
          <a:ln w="6350">
            <a:solidFill>
              <a:srgbClr val="D9DDE2"/>
            </a:solidFill>
            <a:prstDash val="solid"/>
          </a:ln>
        </p:spPr>
      </p:sp>
      <p:sp>
        <p:nvSpPr>
          <p:cNvPr id="4" name="Text 2"/>
          <p:cNvSpPr/>
          <p:nvPr/>
        </p:nvSpPr>
        <p:spPr>
          <a:xfrm>
            <a:off x="1073150" y="1880871"/>
            <a:ext cx="480072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E8B84"/>
                </a:solidFill>
                <a:latin typeface="IBM Plex Sans" pitchFamily="34" charset="0"/>
                <a:ea typeface="IBM Plex Sans" pitchFamily="34" charset="-122"/>
                <a:cs typeface="IBM Plex Sans" pitchFamily="34" charset="-120"/>
              </a:rPr>
              <a:t>Principio 1 · No alteración</a:t>
            </a:r>
            <a:endParaRPr lang="en-US" sz="1400" dirty="0"/>
          </a:p>
        </p:txBody>
      </p:sp>
      <p:sp>
        <p:nvSpPr>
          <p:cNvPr id="5" name="Text 3"/>
          <p:cNvSpPr/>
          <p:nvPr/>
        </p:nvSpPr>
        <p:spPr>
          <a:xfrm>
            <a:off x="1073150" y="2231389"/>
            <a:ext cx="480072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Ninguna acción debe cambiar datos que luego puedan presentarse ante el tribunal.</a:t>
            </a:r>
            <a:endParaRPr lang="en-US" sz="1500" dirty="0"/>
          </a:p>
        </p:txBody>
      </p:sp>
      <p:sp>
        <p:nvSpPr>
          <p:cNvPr id="6" name="Shape 4"/>
          <p:cNvSpPr/>
          <p:nvPr/>
        </p:nvSpPr>
        <p:spPr>
          <a:xfrm>
            <a:off x="6200775" y="1623696"/>
            <a:ext cx="5175250" cy="1664970"/>
          </a:xfrm>
          <a:prstGeom prst="roundRect">
            <a:avLst>
              <a:gd name="adj" fmla="val 5912"/>
            </a:avLst>
          </a:prstGeom>
          <a:solidFill>
            <a:srgbClr val="FFFFFF"/>
          </a:solidFill>
          <a:ln w="6350">
            <a:solidFill>
              <a:srgbClr val="D9DDE2"/>
            </a:solidFill>
            <a:prstDash val="solid"/>
          </a:ln>
        </p:spPr>
      </p:sp>
      <p:sp>
        <p:nvSpPr>
          <p:cNvPr id="7" name="Text 5"/>
          <p:cNvSpPr/>
          <p:nvPr/>
        </p:nvSpPr>
        <p:spPr>
          <a:xfrm>
            <a:off x="6457950" y="1880871"/>
            <a:ext cx="480072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E8B84"/>
                </a:solidFill>
                <a:latin typeface="IBM Plex Sans" pitchFamily="34" charset="0"/>
                <a:ea typeface="IBM Plex Sans" pitchFamily="34" charset="-122"/>
                <a:cs typeface="IBM Plex Sans" pitchFamily="34" charset="-120"/>
              </a:rPr>
              <a:t>Principio 2 · Competencia</a:t>
            </a:r>
            <a:endParaRPr lang="en-US" sz="1400" dirty="0"/>
          </a:p>
        </p:txBody>
      </p:sp>
      <p:sp>
        <p:nvSpPr>
          <p:cNvPr id="8" name="Text 6"/>
          <p:cNvSpPr/>
          <p:nvPr/>
        </p:nvSpPr>
        <p:spPr>
          <a:xfrm>
            <a:off x="6457950" y="2231389"/>
            <a:ext cx="480072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Si hay que tocar el original, lo hace alguien competente que pueda explicar qué hizo y qué implica.</a:t>
            </a:r>
            <a:endParaRPr lang="en-US" sz="1500" dirty="0"/>
          </a:p>
        </p:txBody>
      </p:sp>
      <p:sp>
        <p:nvSpPr>
          <p:cNvPr id="9" name="Shape 7"/>
          <p:cNvSpPr/>
          <p:nvPr/>
        </p:nvSpPr>
        <p:spPr>
          <a:xfrm>
            <a:off x="815975" y="3498214"/>
            <a:ext cx="5175250" cy="1398270"/>
          </a:xfrm>
          <a:prstGeom prst="roundRect">
            <a:avLst>
              <a:gd name="adj" fmla="val 7039"/>
            </a:avLst>
          </a:prstGeom>
          <a:solidFill>
            <a:srgbClr val="FFFFFF"/>
          </a:solidFill>
          <a:ln w="6350">
            <a:solidFill>
              <a:srgbClr val="D9DDE2"/>
            </a:solidFill>
            <a:prstDash val="solid"/>
          </a:ln>
        </p:spPr>
      </p:sp>
      <p:sp>
        <p:nvSpPr>
          <p:cNvPr id="10" name="Text 8"/>
          <p:cNvSpPr/>
          <p:nvPr/>
        </p:nvSpPr>
        <p:spPr>
          <a:xfrm>
            <a:off x="1073150" y="3755389"/>
            <a:ext cx="480072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E8B84"/>
                </a:solidFill>
                <a:latin typeface="IBM Plex Sans" pitchFamily="34" charset="0"/>
                <a:ea typeface="IBM Plex Sans" pitchFamily="34" charset="-122"/>
                <a:cs typeface="IBM Plex Sans" pitchFamily="34" charset="-120"/>
              </a:rPr>
              <a:t>Principio 3 · Registro auditable</a:t>
            </a:r>
            <a:endParaRPr lang="en-US" sz="1400" dirty="0"/>
          </a:p>
        </p:txBody>
      </p:sp>
      <p:sp>
        <p:nvSpPr>
          <p:cNvPr id="11" name="Text 9"/>
          <p:cNvSpPr/>
          <p:nvPr/>
        </p:nvSpPr>
        <p:spPr>
          <a:xfrm>
            <a:off x="1073150" y="4105911"/>
            <a:ext cx="480072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Todo proceso queda registrado para que un tercero independiente llegue al mismo resultado.</a:t>
            </a:r>
            <a:endParaRPr lang="en-US" sz="1500" dirty="0"/>
          </a:p>
        </p:txBody>
      </p:sp>
      <p:sp>
        <p:nvSpPr>
          <p:cNvPr id="12" name="Shape 10"/>
          <p:cNvSpPr/>
          <p:nvPr/>
        </p:nvSpPr>
        <p:spPr>
          <a:xfrm>
            <a:off x="6200775" y="3498214"/>
            <a:ext cx="5175250" cy="1398270"/>
          </a:xfrm>
          <a:prstGeom prst="roundRect">
            <a:avLst>
              <a:gd name="adj" fmla="val 7039"/>
            </a:avLst>
          </a:prstGeom>
          <a:solidFill>
            <a:srgbClr val="FFFFFF"/>
          </a:solidFill>
          <a:ln w="6350">
            <a:solidFill>
              <a:srgbClr val="D9DDE2"/>
            </a:solidFill>
            <a:prstDash val="solid"/>
          </a:ln>
        </p:spPr>
      </p:sp>
      <p:sp>
        <p:nvSpPr>
          <p:cNvPr id="13" name="Text 11"/>
          <p:cNvSpPr/>
          <p:nvPr/>
        </p:nvSpPr>
        <p:spPr>
          <a:xfrm>
            <a:off x="6457950" y="3755389"/>
            <a:ext cx="480072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E8B84"/>
                </a:solidFill>
                <a:latin typeface="IBM Plex Sans" pitchFamily="34" charset="0"/>
                <a:ea typeface="IBM Plex Sans" pitchFamily="34" charset="-122"/>
                <a:cs typeface="IBM Plex Sans" pitchFamily="34" charset="-120"/>
              </a:rPr>
              <a:t>Principio 4 · Responsabilidad</a:t>
            </a:r>
            <a:endParaRPr lang="en-US" sz="1400" dirty="0"/>
          </a:p>
        </p:txBody>
      </p:sp>
      <p:sp>
        <p:nvSpPr>
          <p:cNvPr id="14" name="Text 12"/>
          <p:cNvSpPr/>
          <p:nvPr/>
        </p:nvSpPr>
        <p:spPr>
          <a:xfrm>
            <a:off x="6457950" y="4105911"/>
            <a:ext cx="480072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Quien dirige la investigación responde por que se cumplan la ley y estos principios.</a:t>
            </a:r>
            <a:endParaRPr lang="en-US" sz="1500" dirty="0"/>
          </a:p>
        </p:txBody>
      </p:sp>
      <p:sp>
        <p:nvSpPr>
          <p:cNvPr id="15" name="Text 13"/>
          <p:cNvSpPr/>
          <p:nvPr/>
        </p:nvSpPr>
        <p:spPr>
          <a:xfrm>
            <a:off x="812800" y="520446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Ciclo de la guía: </a:t>
            </a:r>
            <a:r>
              <a:rPr lang="en-US" sz="1400" b="1" dirty="0">
                <a:solidFill>
                  <a:srgbClr val="44505F"/>
                </a:solidFill>
                <a:latin typeface="IBM Plex Sans" pitchFamily="34" charset="0"/>
                <a:ea typeface="IBM Plex Sans" pitchFamily="34" charset="-122"/>
                <a:cs typeface="IBM Plex Sans" pitchFamily="34" charset="-120"/>
              </a:rPr>
              <a:t>Planear → Capturar → Analizar → Presentar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RFC 3227: qué hacer y qué evitar</a:t>
            </a:r>
            <a:endParaRPr lang="en-US" sz="3600" dirty="0"/>
          </a:p>
        </p:txBody>
      </p:sp>
      <p:sp>
        <p:nvSpPr>
          <p:cNvPr id="3" name="Shape 1"/>
          <p:cNvSpPr/>
          <p:nvPr/>
        </p:nvSpPr>
        <p:spPr>
          <a:xfrm>
            <a:off x="812800" y="1977391"/>
            <a:ext cx="5156200" cy="0"/>
          </a:xfrm>
          <a:prstGeom prst="line">
            <a:avLst/>
          </a:prstGeom>
          <a:noFill/>
          <a:ln w="12700">
            <a:solidFill>
              <a:srgbClr val="2E8B84"/>
            </a:solidFill>
            <a:prstDash val="solid"/>
          </a:ln>
        </p:spPr>
      </p:sp>
      <p:sp>
        <p:nvSpPr>
          <p:cNvPr id="4" name="Text 2"/>
          <p:cNvSpPr/>
          <p:nvPr/>
        </p:nvSpPr>
        <p:spPr>
          <a:xfrm>
            <a:off x="812800" y="1620521"/>
            <a:ext cx="531088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E8B84"/>
                </a:solidFill>
                <a:latin typeface="IBM Plex Sans" pitchFamily="34" charset="0"/>
                <a:ea typeface="IBM Plex Sans" pitchFamily="34" charset="-122"/>
                <a:cs typeface="IBM Plex Sans" pitchFamily="34" charset="-120"/>
              </a:rPr>
              <a:t>Principios guía (§2)</a:t>
            </a:r>
            <a:endParaRPr lang="en-US" sz="1800" dirty="0"/>
          </a:p>
        </p:txBody>
      </p:sp>
      <p:sp>
        <p:nvSpPr>
          <p:cNvPr id="5" name="Text 3"/>
          <p:cNvSpPr/>
          <p:nvPr/>
        </p:nvSpPr>
        <p:spPr>
          <a:xfrm>
            <a:off x="883920" y="2110739"/>
            <a:ext cx="5232146" cy="3445330"/>
          </a:xfrm>
          <a:prstGeom prst="rect">
            <a:avLst/>
          </a:prstGeom>
          <a:noFill/>
          <a:ln/>
        </p:spPr>
        <p:txBody>
          <a:bodyPr wrap="square" lIns="0" tIns="0" rIns="0" bIns="0" rtlCol="0" anchor="t">
            <a:noAutofit/>
          </a:bodyPr>
          <a:lstStyle/>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Respetar la política de seguridad del sitio</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Capturar la imagen más fiel posible del sistema</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Tomar notas detalladas, con hora local y UTC</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Minimizar cambios en los datos</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Recolectar primero, analizar después</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Ir de lo más volátil a lo menos volátil</a:t>
            </a:r>
            <a:endParaRPr lang="en-US" sz="1600" dirty="0"/>
          </a:p>
        </p:txBody>
      </p:sp>
      <p:sp>
        <p:nvSpPr>
          <p:cNvPr id="6" name="Shape 4"/>
          <p:cNvSpPr/>
          <p:nvPr/>
        </p:nvSpPr>
        <p:spPr>
          <a:xfrm>
            <a:off x="6223000" y="1977391"/>
            <a:ext cx="5156200" cy="0"/>
          </a:xfrm>
          <a:prstGeom prst="line">
            <a:avLst/>
          </a:prstGeom>
          <a:noFill/>
          <a:ln w="12700">
            <a:solidFill>
              <a:srgbClr val="B5532E"/>
            </a:solidFill>
            <a:prstDash val="solid"/>
          </a:ln>
        </p:spPr>
      </p:sp>
      <p:sp>
        <p:nvSpPr>
          <p:cNvPr id="7" name="Text 5"/>
          <p:cNvSpPr/>
          <p:nvPr/>
        </p:nvSpPr>
        <p:spPr>
          <a:xfrm>
            <a:off x="6223000" y="1620521"/>
            <a:ext cx="531088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5532E"/>
                </a:solidFill>
                <a:latin typeface="IBM Plex Sans" pitchFamily="34" charset="0"/>
                <a:ea typeface="IBM Plex Sans" pitchFamily="34" charset="-122"/>
                <a:cs typeface="IBM Plex Sans" pitchFamily="34" charset="-120"/>
              </a:rPr>
              <a:t>Acciones a evitar (§2.2)</a:t>
            </a:r>
            <a:endParaRPr lang="en-US" sz="1800" dirty="0"/>
          </a:p>
        </p:txBody>
      </p:sp>
      <p:sp>
        <p:nvSpPr>
          <p:cNvPr id="8" name="Text 6"/>
          <p:cNvSpPr/>
          <p:nvPr/>
        </p:nvSpPr>
        <p:spPr>
          <a:xfrm>
            <a:off x="6294120" y="2110739"/>
            <a:ext cx="5232146" cy="344533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Apagar antes de recolectar lo volátil</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Confiar en los programas del sistema comprometido</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Ejecutar programas que cambien tiempos de acceso</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Desconectar la red sin prever borrados en cadena</a:t>
            </a:r>
            <a:endParaRPr lang="en-US" sz="1600" dirty="0"/>
          </a:p>
          <a:p>
            <a:pPr marL="182880" indent="-182880" algn="l">
              <a:lnSpc>
                <a:spcPts val="2250"/>
              </a:lnSpc>
              <a:buSzPct val="100000"/>
              <a:buChar char="•"/>
            </a:pPr>
            <a:r>
              <a:rPr lang="en-US" sz="1600" dirty="0">
                <a:solidFill>
                  <a:srgbClr val="44505F"/>
                </a:solidFill>
                <a:latin typeface="IBM Plex Sans" pitchFamily="34" charset="0"/>
                <a:ea typeface="IBM Plex Sans" pitchFamily="34" charset="-122"/>
                <a:cs typeface="IBM Plex Sans" pitchFamily="34" charset="-120"/>
              </a:rPr>
              <a:t>Aplicar herramientas que modifiquen la evidencia</a:t>
            </a:r>
            <a:endParaRPr lang="en-US" sz="1600" dirty="0"/>
          </a:p>
        </p:txBody>
      </p:sp>
      <p:sp>
        <p:nvSpPr>
          <p:cNvPr id="9" name="Text 7"/>
          <p:cNvSpPr/>
          <p:nvPr/>
        </p:nvSpPr>
        <p:spPr>
          <a:xfrm>
            <a:off x="812800" y="571500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Complementan: privacidad (§2.3), consideraciones legales (§2.4), recolección (§3), archivo y custodia (§4) y kit de herramientas (§5).</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Source Serif 4" pitchFamily="18" charset="0"/>
                <a:ea typeface="Source Serif 4" pitchFamily="18" charset="-122"/>
                <a:cs typeface="Source Serif 4" pitchFamily="18" charset="-120"/>
              </a:rPr>
              <a:t>Orden de volatilidad: lo que se pierde primero, se recoge primero</a:t>
            </a:r>
            <a:endParaRPr lang="en-US" sz="3600" dirty="0"/>
          </a:p>
        </p:txBody>
      </p:sp>
      <p:sp>
        <p:nvSpPr>
          <p:cNvPr id="3" name="Shape 1"/>
          <p:cNvSpPr/>
          <p:nvPr/>
        </p:nvSpPr>
        <p:spPr>
          <a:xfrm>
            <a:off x="812800" y="2072639"/>
            <a:ext cx="10566400" cy="469900"/>
          </a:xfrm>
          <a:prstGeom prst="roundRect">
            <a:avLst>
              <a:gd name="adj" fmla="val 16216"/>
            </a:avLst>
          </a:prstGeom>
          <a:solidFill>
            <a:srgbClr val="2E8B84"/>
          </a:solidFill>
          <a:ln/>
        </p:spPr>
      </p:sp>
      <p:sp>
        <p:nvSpPr>
          <p:cNvPr id="4" name="Text 2"/>
          <p:cNvSpPr/>
          <p:nvPr/>
        </p:nvSpPr>
        <p:spPr>
          <a:xfrm>
            <a:off x="1016000" y="217423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1</a:t>
            </a:r>
            <a:endParaRPr lang="en-US" sz="1500" dirty="0"/>
          </a:p>
        </p:txBody>
      </p:sp>
      <p:sp>
        <p:nvSpPr>
          <p:cNvPr id="5" name="Text 3"/>
          <p:cNvSpPr/>
          <p:nvPr/>
        </p:nvSpPr>
        <p:spPr>
          <a:xfrm>
            <a:off x="1549400" y="2174239"/>
            <a:ext cx="86440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Registros y caché de CPU</a:t>
            </a:r>
            <a:endParaRPr lang="en-US" sz="1500" dirty="0"/>
          </a:p>
        </p:txBody>
      </p:sp>
      <p:sp>
        <p:nvSpPr>
          <p:cNvPr id="6" name="Text 4"/>
          <p:cNvSpPr/>
          <p:nvPr/>
        </p:nvSpPr>
        <p:spPr>
          <a:xfrm>
            <a:off x="10094066" y="2192021"/>
            <a:ext cx="128513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3F1"/>
                </a:solidFill>
                <a:latin typeface="IBM Plex Sans" pitchFamily="34" charset="0"/>
                <a:ea typeface="IBM Plex Sans" pitchFamily="34" charset="-122"/>
                <a:cs typeface="IBM Plex Sans" pitchFamily="34" charset="-120"/>
              </a:rPr>
              <a:t>nanosegundos</a:t>
            </a:r>
            <a:endParaRPr lang="en-US" sz="1300" dirty="0"/>
          </a:p>
        </p:txBody>
      </p:sp>
      <p:sp>
        <p:nvSpPr>
          <p:cNvPr id="7" name="Shape 5"/>
          <p:cNvSpPr/>
          <p:nvPr/>
        </p:nvSpPr>
        <p:spPr>
          <a:xfrm>
            <a:off x="812800" y="2618739"/>
            <a:ext cx="9906000" cy="469900"/>
          </a:xfrm>
          <a:prstGeom prst="roundRect">
            <a:avLst>
              <a:gd name="adj" fmla="val 16216"/>
            </a:avLst>
          </a:prstGeom>
          <a:solidFill>
            <a:srgbClr val="2A7B76"/>
          </a:solidFill>
          <a:ln/>
        </p:spPr>
      </p:sp>
      <p:sp>
        <p:nvSpPr>
          <p:cNvPr id="8" name="Text 6"/>
          <p:cNvSpPr/>
          <p:nvPr/>
        </p:nvSpPr>
        <p:spPr>
          <a:xfrm>
            <a:off x="1016000" y="272033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2</a:t>
            </a:r>
            <a:endParaRPr lang="en-US" sz="1500" dirty="0"/>
          </a:p>
        </p:txBody>
      </p:sp>
      <p:sp>
        <p:nvSpPr>
          <p:cNvPr id="9" name="Text 7"/>
          <p:cNvSpPr/>
          <p:nvPr/>
        </p:nvSpPr>
        <p:spPr>
          <a:xfrm>
            <a:off x="1549400" y="2720339"/>
            <a:ext cx="834306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RAM, procesos, rutas, ARP, estadísticas del kernel</a:t>
            </a:r>
            <a:endParaRPr lang="en-US" sz="1500" dirty="0"/>
          </a:p>
        </p:txBody>
      </p:sp>
      <p:sp>
        <p:nvSpPr>
          <p:cNvPr id="10" name="Text 8"/>
          <p:cNvSpPr/>
          <p:nvPr/>
        </p:nvSpPr>
        <p:spPr>
          <a:xfrm>
            <a:off x="9801860" y="2738121"/>
            <a:ext cx="85648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3F1"/>
                </a:solidFill>
                <a:latin typeface="IBM Plex Sans" pitchFamily="34" charset="0"/>
                <a:ea typeface="IBM Plex Sans" pitchFamily="34" charset="-122"/>
                <a:cs typeface="IBM Plex Sans" pitchFamily="34" charset="-120"/>
              </a:rPr>
              <a:t>segundos</a:t>
            </a:r>
            <a:endParaRPr lang="en-US" sz="1300" dirty="0"/>
          </a:p>
        </p:txBody>
      </p:sp>
      <p:sp>
        <p:nvSpPr>
          <p:cNvPr id="11" name="Shape 9"/>
          <p:cNvSpPr/>
          <p:nvPr/>
        </p:nvSpPr>
        <p:spPr>
          <a:xfrm>
            <a:off x="812800" y="3164839"/>
            <a:ext cx="9245600" cy="469900"/>
          </a:xfrm>
          <a:prstGeom prst="roundRect">
            <a:avLst>
              <a:gd name="adj" fmla="val 16216"/>
            </a:avLst>
          </a:prstGeom>
          <a:solidFill>
            <a:srgbClr val="276B69"/>
          </a:solidFill>
          <a:ln/>
        </p:spPr>
      </p:sp>
      <p:sp>
        <p:nvSpPr>
          <p:cNvPr id="12" name="Text 10"/>
          <p:cNvSpPr/>
          <p:nvPr/>
        </p:nvSpPr>
        <p:spPr>
          <a:xfrm>
            <a:off x="1016000" y="326643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3</a:t>
            </a:r>
            <a:endParaRPr lang="en-US" sz="1500" dirty="0"/>
          </a:p>
        </p:txBody>
      </p:sp>
      <p:sp>
        <p:nvSpPr>
          <p:cNvPr id="13" name="Text 11"/>
          <p:cNvSpPr/>
          <p:nvPr/>
        </p:nvSpPr>
        <p:spPr>
          <a:xfrm>
            <a:off x="1549400" y="3266439"/>
            <a:ext cx="777676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Sistemas de archivos temporales</a:t>
            </a:r>
            <a:endParaRPr lang="en-US" sz="1500" dirty="0"/>
          </a:p>
        </p:txBody>
      </p:sp>
      <p:sp>
        <p:nvSpPr>
          <p:cNvPr id="14" name="Text 12"/>
          <p:cNvSpPr/>
          <p:nvPr/>
        </p:nvSpPr>
        <p:spPr>
          <a:xfrm>
            <a:off x="9252055" y="3284221"/>
            <a:ext cx="72377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3F1"/>
                </a:solidFill>
                <a:latin typeface="IBM Plex Sans" pitchFamily="34" charset="0"/>
                <a:ea typeface="IBM Plex Sans" pitchFamily="34" charset="-122"/>
                <a:cs typeface="IBM Plex Sans" pitchFamily="34" charset="-120"/>
              </a:rPr>
              <a:t>minutos</a:t>
            </a:r>
            <a:endParaRPr lang="en-US" sz="1300" dirty="0"/>
          </a:p>
        </p:txBody>
      </p:sp>
      <p:sp>
        <p:nvSpPr>
          <p:cNvPr id="15" name="Shape 13"/>
          <p:cNvSpPr/>
          <p:nvPr/>
        </p:nvSpPr>
        <p:spPr>
          <a:xfrm>
            <a:off x="812800" y="3710939"/>
            <a:ext cx="8585200" cy="469900"/>
          </a:xfrm>
          <a:prstGeom prst="roundRect">
            <a:avLst>
              <a:gd name="adj" fmla="val 16216"/>
            </a:avLst>
          </a:prstGeom>
          <a:solidFill>
            <a:srgbClr val="255B5C"/>
          </a:solidFill>
          <a:ln/>
        </p:spPr>
      </p:sp>
      <p:sp>
        <p:nvSpPr>
          <p:cNvPr id="16" name="Text 14"/>
          <p:cNvSpPr/>
          <p:nvPr/>
        </p:nvSpPr>
        <p:spPr>
          <a:xfrm>
            <a:off x="1016000" y="381253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4</a:t>
            </a:r>
            <a:endParaRPr lang="en-US" sz="1500" dirty="0"/>
          </a:p>
        </p:txBody>
      </p:sp>
      <p:sp>
        <p:nvSpPr>
          <p:cNvPr id="17" name="Text 15"/>
          <p:cNvSpPr/>
          <p:nvPr/>
        </p:nvSpPr>
        <p:spPr>
          <a:xfrm>
            <a:off x="1549400" y="3812539"/>
            <a:ext cx="74029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Disco</a:t>
            </a:r>
            <a:endParaRPr lang="en-US" sz="1500" dirty="0"/>
          </a:p>
        </p:txBody>
      </p:sp>
      <p:sp>
        <p:nvSpPr>
          <p:cNvPr id="18" name="Text 16"/>
          <p:cNvSpPr/>
          <p:nvPr/>
        </p:nvSpPr>
        <p:spPr>
          <a:xfrm>
            <a:off x="8889154" y="3830321"/>
            <a:ext cx="36677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3F1"/>
                </a:solidFill>
                <a:latin typeface="IBM Plex Sans" pitchFamily="34" charset="0"/>
                <a:ea typeface="IBM Plex Sans" pitchFamily="34" charset="-122"/>
                <a:cs typeface="IBM Plex Sans" pitchFamily="34" charset="-120"/>
              </a:rPr>
              <a:t>días</a:t>
            </a:r>
            <a:endParaRPr lang="en-US" sz="1300" dirty="0"/>
          </a:p>
        </p:txBody>
      </p:sp>
      <p:sp>
        <p:nvSpPr>
          <p:cNvPr id="19" name="Shape 17"/>
          <p:cNvSpPr/>
          <p:nvPr/>
        </p:nvSpPr>
        <p:spPr>
          <a:xfrm>
            <a:off x="812800" y="4257039"/>
            <a:ext cx="7924800" cy="469900"/>
          </a:xfrm>
          <a:prstGeom prst="roundRect">
            <a:avLst>
              <a:gd name="adj" fmla="val 16216"/>
            </a:avLst>
          </a:prstGeom>
          <a:solidFill>
            <a:srgbClr val="244B50"/>
          </a:solidFill>
          <a:ln/>
        </p:spPr>
      </p:sp>
      <p:sp>
        <p:nvSpPr>
          <p:cNvPr id="20" name="Text 18"/>
          <p:cNvSpPr/>
          <p:nvPr/>
        </p:nvSpPr>
        <p:spPr>
          <a:xfrm>
            <a:off x="1016000" y="435863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5</a:t>
            </a:r>
            <a:endParaRPr lang="en-US" sz="1500" dirty="0"/>
          </a:p>
        </p:txBody>
      </p:sp>
      <p:sp>
        <p:nvSpPr>
          <p:cNvPr id="21" name="Text 19"/>
          <p:cNvSpPr/>
          <p:nvPr/>
        </p:nvSpPr>
        <p:spPr>
          <a:xfrm>
            <a:off x="1549400" y="4358639"/>
            <a:ext cx="58153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Registro remoto y monitoreo</a:t>
            </a:r>
            <a:endParaRPr lang="en-US" sz="1500" dirty="0"/>
          </a:p>
        </p:txBody>
      </p:sp>
      <p:sp>
        <p:nvSpPr>
          <p:cNvPr id="22" name="Text 20"/>
          <p:cNvSpPr/>
          <p:nvPr/>
        </p:nvSpPr>
        <p:spPr>
          <a:xfrm>
            <a:off x="7347796" y="4376421"/>
            <a:ext cx="138980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3F1"/>
                </a:solidFill>
                <a:latin typeface="IBM Plex Sans" pitchFamily="34" charset="0"/>
                <a:ea typeface="IBM Plex Sans" pitchFamily="34" charset="-122"/>
                <a:cs typeface="IBM Plex Sans" pitchFamily="34" charset="-120"/>
              </a:rPr>
              <a:t>según retención</a:t>
            </a:r>
            <a:endParaRPr lang="en-US" sz="1300" dirty="0"/>
          </a:p>
        </p:txBody>
      </p:sp>
      <p:sp>
        <p:nvSpPr>
          <p:cNvPr id="23" name="Shape 21"/>
          <p:cNvSpPr/>
          <p:nvPr/>
        </p:nvSpPr>
        <p:spPr>
          <a:xfrm>
            <a:off x="812800" y="4803139"/>
            <a:ext cx="7264400" cy="469900"/>
          </a:xfrm>
          <a:prstGeom prst="roundRect">
            <a:avLst>
              <a:gd name="adj" fmla="val 16216"/>
            </a:avLst>
          </a:prstGeom>
          <a:solidFill>
            <a:srgbClr val="233D45"/>
          </a:solidFill>
          <a:ln/>
        </p:spPr>
      </p:sp>
      <p:sp>
        <p:nvSpPr>
          <p:cNvPr id="24" name="Text 22"/>
          <p:cNvSpPr/>
          <p:nvPr/>
        </p:nvSpPr>
        <p:spPr>
          <a:xfrm>
            <a:off x="1016000" y="490473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6</a:t>
            </a:r>
            <a:endParaRPr lang="en-US" sz="1500" dirty="0"/>
          </a:p>
        </p:txBody>
      </p:sp>
      <p:sp>
        <p:nvSpPr>
          <p:cNvPr id="25" name="Text 23"/>
          <p:cNvSpPr/>
          <p:nvPr/>
        </p:nvSpPr>
        <p:spPr>
          <a:xfrm>
            <a:off x="1549400" y="4904739"/>
            <a:ext cx="585658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Configuración física y topología</a:t>
            </a:r>
            <a:endParaRPr lang="en-US" sz="1500" dirty="0"/>
          </a:p>
        </p:txBody>
      </p:sp>
      <p:sp>
        <p:nvSpPr>
          <p:cNvPr id="26" name="Text 24"/>
          <p:cNvSpPr/>
          <p:nvPr/>
        </p:nvSpPr>
        <p:spPr>
          <a:xfrm>
            <a:off x="7387802" y="4922521"/>
            <a:ext cx="58343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3F1"/>
                </a:solidFill>
                <a:latin typeface="IBM Plex Sans" pitchFamily="34" charset="0"/>
                <a:ea typeface="IBM Plex Sans" pitchFamily="34" charset="-122"/>
                <a:cs typeface="IBM Plex Sans" pitchFamily="34" charset="-120"/>
              </a:rPr>
              <a:t>meses</a:t>
            </a:r>
            <a:endParaRPr lang="en-US" sz="1300" dirty="0"/>
          </a:p>
        </p:txBody>
      </p:sp>
      <p:sp>
        <p:nvSpPr>
          <p:cNvPr id="27" name="Shape 25"/>
          <p:cNvSpPr/>
          <p:nvPr/>
        </p:nvSpPr>
        <p:spPr>
          <a:xfrm>
            <a:off x="815975" y="5352414"/>
            <a:ext cx="6597650" cy="476250"/>
          </a:xfrm>
          <a:prstGeom prst="roundRect">
            <a:avLst>
              <a:gd name="adj" fmla="val 15333"/>
            </a:avLst>
          </a:prstGeom>
          <a:solidFill>
            <a:srgbClr val="22303B"/>
          </a:solidFill>
          <a:ln w="6350">
            <a:solidFill>
              <a:srgbClr val="3A4E63"/>
            </a:solidFill>
            <a:prstDash val="solid"/>
          </a:ln>
        </p:spPr>
      </p:sp>
      <p:sp>
        <p:nvSpPr>
          <p:cNvPr id="28" name="Text 26"/>
          <p:cNvSpPr/>
          <p:nvPr/>
        </p:nvSpPr>
        <p:spPr>
          <a:xfrm>
            <a:off x="1022350" y="5457189"/>
            <a:ext cx="431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4EF"/>
                </a:solidFill>
                <a:latin typeface="IBM Plex Sans" pitchFamily="34" charset="0"/>
                <a:ea typeface="IBM Plex Sans" pitchFamily="34" charset="-122"/>
                <a:cs typeface="IBM Plex Sans" pitchFamily="34" charset="-120"/>
              </a:rPr>
              <a:t>7</a:t>
            </a:r>
            <a:endParaRPr lang="en-US" sz="1500" dirty="0"/>
          </a:p>
        </p:txBody>
      </p:sp>
      <p:sp>
        <p:nvSpPr>
          <p:cNvPr id="29" name="Text 27"/>
          <p:cNvSpPr/>
          <p:nvPr/>
        </p:nvSpPr>
        <p:spPr>
          <a:xfrm>
            <a:off x="1555750" y="5457189"/>
            <a:ext cx="529856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Medios de archivo</a:t>
            </a:r>
            <a:endParaRPr lang="en-US" sz="1500" dirty="0"/>
          </a:p>
        </p:txBody>
      </p:sp>
      <p:sp>
        <p:nvSpPr>
          <p:cNvPr id="30" name="Text 28"/>
          <p:cNvSpPr/>
          <p:nvPr/>
        </p:nvSpPr>
        <p:spPr>
          <a:xfrm>
            <a:off x="6852391" y="5474971"/>
            <a:ext cx="42583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DE"/>
                </a:solidFill>
                <a:latin typeface="IBM Plex Sans" pitchFamily="34" charset="0"/>
                <a:ea typeface="IBM Plex Sans" pitchFamily="34" charset="-122"/>
                <a:cs typeface="IBM Plex Sans" pitchFamily="34" charset="-120"/>
              </a:rPr>
              <a:t>años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Ciclo de la evidencia bajo ambos marcos</a:t>
            </a:r>
            <a:endParaRPr lang="en-US" sz="3600" dirty="0"/>
          </a:p>
        </p:txBody>
      </p:sp>
      <p:sp>
        <p:nvSpPr>
          <p:cNvPr id="3" name="Shape 1"/>
          <p:cNvSpPr/>
          <p:nvPr/>
        </p:nvSpPr>
        <p:spPr>
          <a:xfrm>
            <a:off x="815975" y="1623696"/>
            <a:ext cx="2025650" cy="2160270"/>
          </a:xfrm>
          <a:prstGeom prst="roundRect">
            <a:avLst>
              <a:gd name="adj" fmla="val 3605"/>
            </a:avLst>
          </a:prstGeom>
          <a:solidFill>
            <a:srgbClr val="FFFFFF"/>
          </a:solidFill>
          <a:ln w="6350">
            <a:solidFill>
              <a:srgbClr val="D9DDE2"/>
            </a:solidFill>
            <a:prstDash val="solid"/>
          </a:ln>
        </p:spPr>
      </p:sp>
      <p:sp>
        <p:nvSpPr>
          <p:cNvPr id="4" name="Text 2"/>
          <p:cNvSpPr/>
          <p:nvPr/>
        </p:nvSpPr>
        <p:spPr>
          <a:xfrm>
            <a:off x="996950" y="1804671"/>
            <a:ext cx="17145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Identificar</a:t>
            </a:r>
            <a:endParaRPr lang="en-US" sz="1600" dirty="0"/>
          </a:p>
        </p:txBody>
      </p:sp>
      <p:sp>
        <p:nvSpPr>
          <p:cNvPr id="5" name="Text 3"/>
          <p:cNvSpPr/>
          <p:nvPr/>
        </p:nvSpPr>
        <p:spPr>
          <a:xfrm>
            <a:off x="996950" y="2150111"/>
            <a:ext cx="1714500"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Mandato, alcance, escena aislada y fotografiada, desfase del reloj</a:t>
            </a:r>
            <a:endParaRPr lang="en-US" sz="1300" dirty="0"/>
          </a:p>
        </p:txBody>
      </p:sp>
      <p:sp>
        <p:nvSpPr>
          <p:cNvPr id="6" name="Text 4"/>
          <p:cNvSpPr/>
          <p:nvPr/>
        </p:nvSpPr>
        <p:spPr>
          <a:xfrm>
            <a:off x="996950" y="3176271"/>
            <a:ext cx="17145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ACPO Planear</a:t>
            </a:r>
            <a:endParaRPr lang="en-US" sz="1200" dirty="0"/>
          </a:p>
        </p:txBody>
      </p:sp>
      <p:sp>
        <p:nvSpPr>
          <p:cNvPr id="7" name="Shape 5"/>
          <p:cNvSpPr/>
          <p:nvPr/>
        </p:nvSpPr>
        <p:spPr>
          <a:xfrm>
            <a:off x="2949575" y="1623696"/>
            <a:ext cx="2025650" cy="2160270"/>
          </a:xfrm>
          <a:prstGeom prst="roundRect">
            <a:avLst>
              <a:gd name="adj" fmla="val 3605"/>
            </a:avLst>
          </a:prstGeom>
          <a:solidFill>
            <a:srgbClr val="FFFFFF"/>
          </a:solidFill>
          <a:ln w="6350">
            <a:solidFill>
              <a:srgbClr val="D9DDE2"/>
            </a:solidFill>
            <a:prstDash val="solid"/>
          </a:ln>
        </p:spPr>
      </p:sp>
      <p:sp>
        <p:nvSpPr>
          <p:cNvPr id="8" name="Text 6"/>
          <p:cNvSpPr/>
          <p:nvPr/>
        </p:nvSpPr>
        <p:spPr>
          <a:xfrm>
            <a:off x="3130550" y="1804671"/>
            <a:ext cx="17145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Recolectar</a:t>
            </a:r>
            <a:endParaRPr lang="en-US" sz="1600" dirty="0"/>
          </a:p>
        </p:txBody>
      </p:sp>
      <p:sp>
        <p:nvSpPr>
          <p:cNvPr id="9" name="Text 7"/>
          <p:cNvSpPr/>
          <p:nvPr/>
        </p:nvSpPr>
        <p:spPr>
          <a:xfrm>
            <a:off x="3130550" y="2150111"/>
            <a:ext cx="1714500"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Volátil primero con kit confiable; luego imagen bit a bit con bloqueador</a:t>
            </a:r>
            <a:endParaRPr lang="en-US" sz="1300" dirty="0"/>
          </a:p>
        </p:txBody>
      </p:sp>
      <p:sp>
        <p:nvSpPr>
          <p:cNvPr id="10" name="Text 8"/>
          <p:cNvSpPr/>
          <p:nvPr/>
        </p:nvSpPr>
        <p:spPr>
          <a:xfrm>
            <a:off x="3130550" y="3176271"/>
            <a:ext cx="1714500"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RFC §2.1, §3 · ACPO Capturar</a:t>
            </a:r>
            <a:endParaRPr lang="en-US" sz="1200" dirty="0"/>
          </a:p>
        </p:txBody>
      </p:sp>
      <p:sp>
        <p:nvSpPr>
          <p:cNvPr id="11" name="Shape 9"/>
          <p:cNvSpPr/>
          <p:nvPr/>
        </p:nvSpPr>
        <p:spPr>
          <a:xfrm>
            <a:off x="5083175" y="1623696"/>
            <a:ext cx="2025650" cy="2160270"/>
          </a:xfrm>
          <a:prstGeom prst="roundRect">
            <a:avLst>
              <a:gd name="adj" fmla="val 3605"/>
            </a:avLst>
          </a:prstGeom>
          <a:solidFill>
            <a:srgbClr val="FFFFFF"/>
          </a:solidFill>
          <a:ln w="6350">
            <a:solidFill>
              <a:srgbClr val="D9DDE2"/>
            </a:solidFill>
            <a:prstDash val="solid"/>
          </a:ln>
        </p:spPr>
      </p:sp>
      <p:sp>
        <p:nvSpPr>
          <p:cNvPr id="12" name="Text 10"/>
          <p:cNvSpPr/>
          <p:nvPr/>
        </p:nvSpPr>
        <p:spPr>
          <a:xfrm>
            <a:off x="5264150" y="1804671"/>
            <a:ext cx="17145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Preservar</a:t>
            </a:r>
            <a:endParaRPr lang="en-US" sz="1600" dirty="0"/>
          </a:p>
        </p:txBody>
      </p:sp>
      <p:sp>
        <p:nvSpPr>
          <p:cNvPr id="13" name="Text 11"/>
          <p:cNvSpPr/>
          <p:nvPr/>
        </p:nvSpPr>
        <p:spPr>
          <a:xfrm>
            <a:off x="5264150" y="2150111"/>
            <a:ext cx="171450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Hash dual, rotulado, sellado, custodia y copias de trabajo</a:t>
            </a:r>
            <a:endParaRPr lang="en-US" sz="1300" dirty="0"/>
          </a:p>
        </p:txBody>
      </p:sp>
      <p:sp>
        <p:nvSpPr>
          <p:cNvPr id="14" name="Text 12"/>
          <p:cNvSpPr/>
          <p:nvPr/>
        </p:nvSpPr>
        <p:spPr>
          <a:xfrm>
            <a:off x="5264150" y="2945129"/>
            <a:ext cx="17145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RFC §4 · ACPO P1</a:t>
            </a:r>
            <a:endParaRPr lang="en-US" sz="1200" dirty="0"/>
          </a:p>
        </p:txBody>
      </p:sp>
      <p:sp>
        <p:nvSpPr>
          <p:cNvPr id="15" name="Shape 13"/>
          <p:cNvSpPr/>
          <p:nvPr/>
        </p:nvSpPr>
        <p:spPr>
          <a:xfrm>
            <a:off x="7216775" y="1623696"/>
            <a:ext cx="2025650" cy="2160270"/>
          </a:xfrm>
          <a:prstGeom prst="roundRect">
            <a:avLst>
              <a:gd name="adj" fmla="val 3605"/>
            </a:avLst>
          </a:prstGeom>
          <a:solidFill>
            <a:srgbClr val="FFFFFF"/>
          </a:solidFill>
          <a:ln w="6350">
            <a:solidFill>
              <a:srgbClr val="D9DDE2"/>
            </a:solidFill>
            <a:prstDash val="solid"/>
          </a:ln>
        </p:spPr>
      </p:sp>
      <p:sp>
        <p:nvSpPr>
          <p:cNvPr id="16" name="Text 14"/>
          <p:cNvSpPr/>
          <p:nvPr/>
        </p:nvSpPr>
        <p:spPr>
          <a:xfrm>
            <a:off x="7397750" y="1804671"/>
            <a:ext cx="17145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Analizar</a:t>
            </a:r>
            <a:endParaRPr lang="en-US" sz="1600" dirty="0"/>
          </a:p>
        </p:txBody>
      </p:sp>
      <p:sp>
        <p:nvSpPr>
          <p:cNvPr id="17" name="Text 15"/>
          <p:cNvSpPr/>
          <p:nvPr/>
        </p:nvSpPr>
        <p:spPr>
          <a:xfrm>
            <a:off x="7397750" y="2150111"/>
            <a:ext cx="171450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Solo sobre copias; cada paso registrado y repetible</a:t>
            </a:r>
            <a:endParaRPr lang="en-US" sz="1300" dirty="0"/>
          </a:p>
        </p:txBody>
      </p:sp>
      <p:sp>
        <p:nvSpPr>
          <p:cNvPr id="18" name="Text 16"/>
          <p:cNvSpPr/>
          <p:nvPr/>
        </p:nvSpPr>
        <p:spPr>
          <a:xfrm>
            <a:off x="7397750" y="2945129"/>
            <a:ext cx="17145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ACPO Analizar, P3</a:t>
            </a:r>
            <a:endParaRPr lang="en-US" sz="1200" dirty="0"/>
          </a:p>
        </p:txBody>
      </p:sp>
      <p:sp>
        <p:nvSpPr>
          <p:cNvPr id="19" name="Shape 17"/>
          <p:cNvSpPr/>
          <p:nvPr/>
        </p:nvSpPr>
        <p:spPr>
          <a:xfrm>
            <a:off x="9350375" y="1623696"/>
            <a:ext cx="2025650" cy="2160270"/>
          </a:xfrm>
          <a:prstGeom prst="roundRect">
            <a:avLst>
              <a:gd name="adj" fmla="val 3605"/>
            </a:avLst>
          </a:prstGeom>
          <a:solidFill>
            <a:srgbClr val="FFFFFF"/>
          </a:solidFill>
          <a:ln w="6350">
            <a:solidFill>
              <a:srgbClr val="D9DDE2"/>
            </a:solidFill>
            <a:prstDash val="solid"/>
          </a:ln>
        </p:spPr>
      </p:sp>
      <p:sp>
        <p:nvSpPr>
          <p:cNvPr id="20" name="Text 18"/>
          <p:cNvSpPr/>
          <p:nvPr/>
        </p:nvSpPr>
        <p:spPr>
          <a:xfrm>
            <a:off x="9531350" y="1804671"/>
            <a:ext cx="17145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Presentar</a:t>
            </a:r>
            <a:endParaRPr lang="en-US" sz="1600" dirty="0"/>
          </a:p>
        </p:txBody>
      </p:sp>
      <p:sp>
        <p:nvSpPr>
          <p:cNvPr id="21" name="Text 19"/>
          <p:cNvSpPr/>
          <p:nvPr/>
        </p:nvSpPr>
        <p:spPr>
          <a:xfrm>
            <a:off x="9531350" y="2150111"/>
            <a:ext cx="171450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Dictamen con hechos, método, límites; perito que sustenta</a:t>
            </a:r>
            <a:endParaRPr lang="en-US" sz="1300" dirty="0"/>
          </a:p>
        </p:txBody>
      </p:sp>
      <p:sp>
        <p:nvSpPr>
          <p:cNvPr id="22" name="Text 20"/>
          <p:cNvSpPr/>
          <p:nvPr/>
        </p:nvSpPr>
        <p:spPr>
          <a:xfrm>
            <a:off x="9531350" y="2945129"/>
            <a:ext cx="18415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ACPO Presentar, P2, P4</a:t>
            </a:r>
            <a:endParaRPr lang="en-US" sz="1200" dirty="0"/>
          </a:p>
        </p:txBody>
      </p:sp>
      <p:sp>
        <p:nvSpPr>
          <p:cNvPr id="23" name="Text 21"/>
          <p:cNvSpPr/>
          <p:nvPr/>
        </p:nvSpPr>
        <p:spPr>
          <a:xfrm>
            <a:off x="812800" y="4091942"/>
            <a:ext cx="10566400" cy="853440"/>
          </a:xfrm>
          <a:prstGeom prst="roundRect">
            <a:avLst>
              <a:gd name="adj" fmla="val 8929"/>
            </a:avLst>
          </a:prstGeom>
          <a:solidFill>
            <a:srgbClr val="E3EFED"/>
          </a:solidFill>
          <a:ln/>
        </p:spPr>
        <p:txBody>
          <a:bodyPr wrap="square" lIns="206282" tIns="155482" rIns="0" bIns="130082"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Punto de decisión clave:</a:t>
            </a:r>
            <a:r>
              <a:rPr lang="en-US" sz="1400" dirty="0">
                <a:solidFill>
                  <a:srgbClr val="13233A"/>
                </a:solidFill>
                <a:latin typeface="IBM Plex Sans" pitchFamily="34" charset="0"/>
                <a:ea typeface="IBM Plex Sans" pitchFamily="34" charset="-122"/>
                <a:cs typeface="IBM Plex Sans" pitchFamily="34" charset="-120"/>
              </a:rPr>
              <a:t> ¿equipo encendido? Si está apagado, no se enciende. Si está encendido y hay datos solo en memoria o cifrado activo, adquisición en vivo justificada por escrito.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Defensa de la prueba: integridad demostrable</a:t>
            </a:r>
            <a:endParaRPr lang="en-US" sz="3600" dirty="0"/>
          </a:p>
        </p:txBody>
      </p:sp>
      <p:sp>
        <p:nvSpPr>
          <p:cNvPr id="3" name="Text 1"/>
          <p:cNvSpPr/>
          <p:nvPr/>
        </p:nvSpPr>
        <p:spPr>
          <a:xfrm>
            <a:off x="812800" y="1620521"/>
            <a:ext cx="528472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E8B84"/>
                </a:solidFill>
                <a:latin typeface="IBM Plex Sans" pitchFamily="34" charset="0"/>
                <a:ea typeface="IBM Plex Sans" pitchFamily="34" charset="-122"/>
                <a:cs typeface="IBM Plex Sans" pitchFamily="34" charset="-120"/>
              </a:rPr>
              <a:t>Hash dual</a:t>
            </a:r>
            <a:endParaRPr lang="en-US" sz="1800" dirty="0"/>
          </a:p>
        </p:txBody>
      </p:sp>
      <p:sp>
        <p:nvSpPr>
          <p:cNvPr id="4" name="Text 2"/>
          <p:cNvSpPr/>
          <p:nvPr/>
        </p:nvSpPr>
        <p:spPr>
          <a:xfrm>
            <a:off x="812800" y="2047242"/>
            <a:ext cx="528472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05F"/>
                </a:solidFill>
                <a:latin typeface="IBM Plex Sans" pitchFamily="34" charset="0"/>
                <a:ea typeface="IBM Plex Sans" pitchFamily="34" charset="-122"/>
                <a:cs typeface="IBM Plex Sans" pitchFamily="34" charset="-120"/>
              </a:rPr>
              <a:t>SHA-256 y SHA3-256 sobre el original, la imagen y cada artefacto volátil. Dos familias distintas: una colisión simultánea es inviable en la práctica.</a:t>
            </a:r>
            <a:endParaRPr lang="en-US" sz="1500" dirty="0"/>
          </a:p>
        </p:txBody>
      </p:sp>
      <p:sp>
        <p:nvSpPr>
          <p:cNvPr id="5" name="Text 3"/>
          <p:cNvSpPr/>
          <p:nvPr/>
        </p:nvSpPr>
        <p:spPr>
          <a:xfrm>
            <a:off x="812800" y="2999742"/>
            <a:ext cx="5130800" cy="1036320"/>
          </a:xfrm>
          <a:prstGeom prst="roundRect">
            <a:avLst>
              <a:gd name="adj" fmla="val 7353"/>
            </a:avLst>
          </a:prstGeom>
          <a:solidFill>
            <a:srgbClr val="13233A"/>
          </a:solidFill>
          <a:ln/>
        </p:spPr>
        <p:txBody>
          <a:bodyPr wrap="square" lIns="155482" tIns="130082" rIns="12226" bIns="104682" rtlCol="0" anchor="t">
            <a:normAutofit/>
          </a:bodyPr>
          <a:lstStyle/>
          <a:p>
            <a:pPr marL="0" indent="0" algn="l">
              <a:lnSpc>
                <a:spcPts val="1920"/>
              </a:lnSpc>
              <a:buNone/>
            </a:pPr>
            <a:r>
              <a:rPr lang="en-US" sz="1200" dirty="0">
                <a:solidFill>
                  <a:srgbClr val="C9D3DE"/>
                </a:solidFill>
                <a:latin typeface="Courier New" pitchFamily="49" charset="0"/>
                <a:ea typeface="Courier New" pitchFamily="49" charset="-122"/>
                <a:cs typeface="Courier New" pitchFamily="49" charset="-120"/>
              </a:rPr>
              <a:t>sha256sum /dev/sdb</a:t>
            </a:r>
            <a:endParaRPr lang="en-US" sz="1200" dirty="0"/>
          </a:p>
          <a:p>
            <a:pPr marL="0" indent="0" algn="l">
              <a:lnSpc>
                <a:spcPts val="1920"/>
              </a:lnSpc>
              <a:buNone/>
            </a:pPr>
            <a:r>
              <a:rPr lang="en-US" sz="1200" dirty="0">
                <a:solidFill>
                  <a:srgbClr val="C9D3DE"/>
                </a:solidFill>
                <a:latin typeface="Courier New" pitchFamily="49" charset="0"/>
                <a:ea typeface="Courier New" pitchFamily="49" charset="-122"/>
                <a:cs typeface="Courier New" pitchFamily="49" charset="-120"/>
              </a:rPr>
              <a:t>openssl dgst -sha3-256 /dev/sdb</a:t>
            </a:r>
            <a:endParaRPr lang="en-US" sz="1200" dirty="0"/>
          </a:p>
          <a:p>
            <a:pPr marL="0" indent="0" algn="l">
              <a:lnSpc>
                <a:spcPts val="1920"/>
              </a:lnSpc>
              <a:buNone/>
            </a:pPr>
            <a:r>
              <a:rPr lang="en-US" sz="1200" dirty="0">
                <a:solidFill>
                  <a:srgbClr val="C9D3DE"/>
                </a:solidFill>
                <a:latin typeface="Courier New" pitchFamily="49" charset="0"/>
                <a:ea typeface="Courier New" pitchFamily="49" charset="-122"/>
                <a:cs typeface="Courier New" pitchFamily="49" charset="-120"/>
              </a:rPr>
              <a:t>sha256sum evid01.dd</a:t>
            </a:r>
            <a:endParaRPr lang="en-US" sz="1200" dirty="0"/>
          </a:p>
        </p:txBody>
      </p:sp>
      <p:sp>
        <p:nvSpPr>
          <p:cNvPr id="6" name="Text 4"/>
          <p:cNvSpPr/>
          <p:nvPr/>
        </p:nvSpPr>
        <p:spPr>
          <a:xfrm>
            <a:off x="812800" y="4188458"/>
            <a:ext cx="528472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Ninguno de los dos marcos fija algoritmo; la Guía Lite lo exige.</a:t>
            </a:r>
            <a:endParaRPr lang="en-US" sz="1300" dirty="0"/>
          </a:p>
        </p:txBody>
      </p:sp>
      <p:sp>
        <p:nvSpPr>
          <p:cNvPr id="7" name="Text 5"/>
          <p:cNvSpPr/>
          <p:nvPr/>
        </p:nvSpPr>
        <p:spPr>
          <a:xfrm>
            <a:off x="6248400" y="1620521"/>
            <a:ext cx="528472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E8B84"/>
                </a:solidFill>
                <a:latin typeface="IBM Plex Sans" pitchFamily="34" charset="0"/>
                <a:ea typeface="IBM Plex Sans" pitchFamily="34" charset="-122"/>
                <a:cs typeface="IBM Plex Sans" pitchFamily="34" charset="-120"/>
              </a:rPr>
              <a:t>Cadena de custodia</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1100" y="2059942"/>
          <a:ext cx="5118100" cy="2028190"/>
        </p:xfrm>
        <a:graphic>
          <a:graphicData uri="http://schemas.openxmlformats.org/drawingml/2006/table">
            <a:tbl>
              <a:tblPr/>
              <a:tblGrid>
                <a:gridCol w="1740154">
                  <a:extLst>
                    <a:ext uri="{9D8B030D-6E8A-4147-A177-3AD203B41FA5}">
                      <a16:colId xmlns:a16="http://schemas.microsoft.com/office/drawing/2014/main" val="20000"/>
                    </a:ext>
                  </a:extLst>
                </a:gridCol>
                <a:gridCol w="3377946">
                  <a:extLst>
                    <a:ext uri="{9D8B030D-6E8A-4147-A177-3AD203B41FA5}">
                      <a16:colId xmlns:a16="http://schemas.microsoft.com/office/drawing/2014/main" val="20001"/>
                    </a:ext>
                  </a:extLst>
                </a:gridCol>
              </a:tblGrid>
              <a:tr h="359410">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Campo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Contenido mínimo</a:t>
                      </a:r>
                      <a:endParaRPr lang="en-US" sz="1300" dirty="0">
                        <a:latin typeface="IBM Plex Sans" charset="0"/>
                        <a:ea typeface="IBM Plex Sans" charset="0"/>
                        <a:cs typeface="IBM Plex Sans" charset="0"/>
                      </a:endParaRPr>
                    </a:p>
                  </a:txBody>
                  <a:tcPr marL="57785" marR="57785" marT="57785" marB="57785">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Identificación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Caso, EMP, serial, ubicación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Integridad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Ambos hashes, herramienta, sello</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2"/>
                  </a:ext>
                </a:extLst>
              </a:tr>
              <a:tr h="59055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Continuidad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Fecha, hora, quién entrega y recibe, motivo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Condiciones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Embalaje, almacenamiento, novedades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bl>
          </a:graphicData>
        </a:graphic>
      </p:graphicFrame>
      <p:sp>
        <p:nvSpPr>
          <p:cNvPr id="9" name="Text 6"/>
          <p:cNvSpPr/>
          <p:nvPr/>
        </p:nvSpPr>
        <p:spPr>
          <a:xfrm>
            <a:off x="6248400" y="4240529"/>
            <a:ext cx="528472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RFC 3227 §4.1 · Ley 906 de 2004, arts. 254-266</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Repetibilidad: otro perito, el mismo resultado</a:t>
            </a:r>
            <a:endParaRPr lang="en-US" sz="3600" dirty="0"/>
          </a:p>
        </p:txBody>
      </p:sp>
      <p:sp>
        <p:nvSpPr>
          <p:cNvPr id="3" name="Shape 1"/>
          <p:cNvSpPr/>
          <p:nvPr/>
        </p:nvSpPr>
        <p:spPr>
          <a:xfrm>
            <a:off x="815975" y="1623696"/>
            <a:ext cx="1985010" cy="1398270"/>
          </a:xfrm>
          <a:prstGeom prst="roundRect">
            <a:avLst>
              <a:gd name="adj" fmla="val 5223"/>
            </a:avLst>
          </a:prstGeom>
          <a:solidFill>
            <a:srgbClr val="FFFFFF"/>
          </a:solidFill>
          <a:ln w="6350">
            <a:solidFill>
              <a:srgbClr val="D9DDE2"/>
            </a:solidFill>
            <a:prstDash val="solid"/>
          </a:ln>
        </p:spPr>
      </p:sp>
      <p:sp>
        <p:nvSpPr>
          <p:cNvPr id="4" name="Text 2"/>
          <p:cNvSpPr/>
          <p:nvPr/>
        </p:nvSpPr>
        <p:spPr>
          <a:xfrm>
            <a:off x="996950" y="1804671"/>
            <a:ext cx="16738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E8B84"/>
                </a:solidFill>
                <a:latin typeface="IBM Plex Sans" pitchFamily="34" charset="0"/>
                <a:ea typeface="IBM Plex Sans" pitchFamily="34" charset="-122"/>
                <a:cs typeface="IBM Plex Sans" pitchFamily="34" charset="-120"/>
              </a:rPr>
              <a:t>Admisible</a:t>
            </a:r>
            <a:endParaRPr lang="en-US" sz="1500" dirty="0"/>
          </a:p>
        </p:txBody>
      </p:sp>
      <p:sp>
        <p:nvSpPr>
          <p:cNvPr id="5" name="Text 3"/>
          <p:cNvSpPr/>
          <p:nvPr/>
        </p:nvSpPr>
        <p:spPr>
          <a:xfrm>
            <a:off x="996950" y="2147571"/>
            <a:ext cx="167386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Obtenida conforme a la ley y al mandato</a:t>
            </a:r>
            <a:endParaRPr lang="en-US" sz="1300" dirty="0"/>
          </a:p>
        </p:txBody>
      </p:sp>
      <p:sp>
        <p:nvSpPr>
          <p:cNvPr id="6" name="Shape 4"/>
          <p:cNvSpPr/>
          <p:nvPr/>
        </p:nvSpPr>
        <p:spPr>
          <a:xfrm>
            <a:off x="2959735" y="1623696"/>
            <a:ext cx="1985010" cy="1398270"/>
          </a:xfrm>
          <a:prstGeom prst="roundRect">
            <a:avLst>
              <a:gd name="adj" fmla="val 5223"/>
            </a:avLst>
          </a:prstGeom>
          <a:solidFill>
            <a:srgbClr val="FFFFFF"/>
          </a:solidFill>
          <a:ln w="6350">
            <a:solidFill>
              <a:srgbClr val="D9DDE2"/>
            </a:solidFill>
            <a:prstDash val="solid"/>
          </a:ln>
        </p:spPr>
      </p:sp>
      <p:sp>
        <p:nvSpPr>
          <p:cNvPr id="7" name="Text 5"/>
          <p:cNvSpPr/>
          <p:nvPr/>
        </p:nvSpPr>
        <p:spPr>
          <a:xfrm>
            <a:off x="3140710" y="1804671"/>
            <a:ext cx="16738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E8B84"/>
                </a:solidFill>
                <a:latin typeface="IBM Plex Sans" pitchFamily="34" charset="0"/>
                <a:ea typeface="IBM Plex Sans" pitchFamily="34" charset="-122"/>
                <a:cs typeface="IBM Plex Sans" pitchFamily="34" charset="-120"/>
              </a:rPr>
              <a:t>Auténtica</a:t>
            </a:r>
            <a:endParaRPr lang="en-US" sz="1500" dirty="0"/>
          </a:p>
        </p:txBody>
      </p:sp>
      <p:sp>
        <p:nvSpPr>
          <p:cNvPr id="8" name="Text 6"/>
          <p:cNvSpPr/>
          <p:nvPr/>
        </p:nvSpPr>
        <p:spPr>
          <a:xfrm>
            <a:off x="3140710" y="2147571"/>
            <a:ext cx="167386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Vinculada al incidente y a su origen</a:t>
            </a:r>
            <a:endParaRPr lang="en-US" sz="1300" dirty="0"/>
          </a:p>
        </p:txBody>
      </p:sp>
      <p:sp>
        <p:nvSpPr>
          <p:cNvPr id="9" name="Shape 7"/>
          <p:cNvSpPr/>
          <p:nvPr/>
        </p:nvSpPr>
        <p:spPr>
          <a:xfrm>
            <a:off x="5103495" y="1623696"/>
            <a:ext cx="1985010" cy="1398270"/>
          </a:xfrm>
          <a:prstGeom prst="roundRect">
            <a:avLst>
              <a:gd name="adj" fmla="val 5223"/>
            </a:avLst>
          </a:prstGeom>
          <a:solidFill>
            <a:srgbClr val="FFFFFF"/>
          </a:solidFill>
          <a:ln w="6350">
            <a:solidFill>
              <a:srgbClr val="D9DDE2"/>
            </a:solidFill>
            <a:prstDash val="solid"/>
          </a:ln>
        </p:spPr>
      </p:sp>
      <p:sp>
        <p:nvSpPr>
          <p:cNvPr id="10" name="Text 8"/>
          <p:cNvSpPr/>
          <p:nvPr/>
        </p:nvSpPr>
        <p:spPr>
          <a:xfrm>
            <a:off x="5284470" y="1804671"/>
            <a:ext cx="16738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E8B84"/>
                </a:solidFill>
                <a:latin typeface="IBM Plex Sans" pitchFamily="34" charset="0"/>
                <a:ea typeface="IBM Plex Sans" pitchFamily="34" charset="-122"/>
                <a:cs typeface="IBM Plex Sans" pitchFamily="34" charset="-120"/>
              </a:rPr>
              <a:t>Completa</a:t>
            </a:r>
            <a:endParaRPr lang="en-US" sz="1500" dirty="0"/>
          </a:p>
        </p:txBody>
      </p:sp>
      <p:sp>
        <p:nvSpPr>
          <p:cNvPr id="11" name="Text 9"/>
          <p:cNvSpPr/>
          <p:nvPr/>
        </p:nvSpPr>
        <p:spPr>
          <a:xfrm>
            <a:off x="5284470" y="2147571"/>
            <a:ext cx="167386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Cuenta toda la historia, no una parte</a:t>
            </a:r>
            <a:endParaRPr lang="en-US" sz="1300" dirty="0"/>
          </a:p>
        </p:txBody>
      </p:sp>
      <p:sp>
        <p:nvSpPr>
          <p:cNvPr id="12" name="Shape 10"/>
          <p:cNvSpPr/>
          <p:nvPr/>
        </p:nvSpPr>
        <p:spPr>
          <a:xfrm>
            <a:off x="7247255" y="1623696"/>
            <a:ext cx="1985010" cy="1398270"/>
          </a:xfrm>
          <a:prstGeom prst="roundRect">
            <a:avLst>
              <a:gd name="adj" fmla="val 5223"/>
            </a:avLst>
          </a:prstGeom>
          <a:solidFill>
            <a:srgbClr val="FFFFFF"/>
          </a:solidFill>
          <a:ln w="6350">
            <a:solidFill>
              <a:srgbClr val="D9DDE2"/>
            </a:solidFill>
            <a:prstDash val="solid"/>
          </a:ln>
        </p:spPr>
      </p:sp>
      <p:sp>
        <p:nvSpPr>
          <p:cNvPr id="13" name="Text 11"/>
          <p:cNvSpPr/>
          <p:nvPr/>
        </p:nvSpPr>
        <p:spPr>
          <a:xfrm>
            <a:off x="7428230" y="1804671"/>
            <a:ext cx="16738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E8B84"/>
                </a:solidFill>
                <a:latin typeface="IBM Plex Sans" pitchFamily="34" charset="0"/>
                <a:ea typeface="IBM Plex Sans" pitchFamily="34" charset="-122"/>
                <a:cs typeface="IBM Plex Sans" pitchFamily="34" charset="-120"/>
              </a:rPr>
              <a:t>Confiable</a:t>
            </a:r>
            <a:endParaRPr lang="en-US" sz="1500" dirty="0"/>
          </a:p>
        </p:txBody>
      </p:sp>
      <p:sp>
        <p:nvSpPr>
          <p:cNvPr id="14" name="Text 12"/>
          <p:cNvSpPr/>
          <p:nvPr/>
        </p:nvSpPr>
        <p:spPr>
          <a:xfrm>
            <a:off x="7428230" y="2147571"/>
            <a:ext cx="167386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Sin dudas sobre cómo se obtuvo</a:t>
            </a:r>
            <a:endParaRPr lang="en-US" sz="1300" dirty="0"/>
          </a:p>
        </p:txBody>
      </p:sp>
      <p:sp>
        <p:nvSpPr>
          <p:cNvPr id="15" name="Shape 13"/>
          <p:cNvSpPr/>
          <p:nvPr/>
        </p:nvSpPr>
        <p:spPr>
          <a:xfrm>
            <a:off x="9391015" y="1623696"/>
            <a:ext cx="1985010" cy="1398270"/>
          </a:xfrm>
          <a:prstGeom prst="roundRect">
            <a:avLst>
              <a:gd name="adj" fmla="val 5223"/>
            </a:avLst>
          </a:prstGeom>
          <a:solidFill>
            <a:srgbClr val="FFFFFF"/>
          </a:solidFill>
          <a:ln w="6350">
            <a:solidFill>
              <a:srgbClr val="D9DDE2"/>
            </a:solidFill>
            <a:prstDash val="solid"/>
          </a:ln>
        </p:spPr>
      </p:sp>
      <p:sp>
        <p:nvSpPr>
          <p:cNvPr id="16" name="Text 14"/>
          <p:cNvSpPr/>
          <p:nvPr/>
        </p:nvSpPr>
        <p:spPr>
          <a:xfrm>
            <a:off x="9571990" y="1804671"/>
            <a:ext cx="16738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E8B84"/>
                </a:solidFill>
                <a:latin typeface="IBM Plex Sans" pitchFamily="34" charset="0"/>
                <a:ea typeface="IBM Plex Sans" pitchFamily="34" charset="-122"/>
                <a:cs typeface="IBM Plex Sans" pitchFamily="34" charset="-120"/>
              </a:rPr>
              <a:t>Creíble</a:t>
            </a:r>
            <a:endParaRPr lang="en-US" sz="1500" dirty="0"/>
          </a:p>
        </p:txBody>
      </p:sp>
      <p:sp>
        <p:nvSpPr>
          <p:cNvPr id="17" name="Text 15"/>
          <p:cNvSpPr/>
          <p:nvPr/>
        </p:nvSpPr>
        <p:spPr>
          <a:xfrm>
            <a:off x="9571990" y="2147571"/>
            <a:ext cx="167386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F"/>
                </a:solidFill>
                <a:latin typeface="IBM Plex Sans" pitchFamily="34" charset="0"/>
                <a:ea typeface="IBM Plex Sans" pitchFamily="34" charset="-122"/>
                <a:cs typeface="IBM Plex Sans" pitchFamily="34" charset="-120"/>
              </a:rPr>
              <a:t>Comprensible para el juez</a:t>
            </a:r>
            <a:endParaRPr lang="en-US" sz="1300" dirty="0"/>
          </a:p>
        </p:txBody>
      </p:sp>
      <p:sp>
        <p:nvSpPr>
          <p:cNvPr id="18" name="Text 16"/>
          <p:cNvSpPr/>
          <p:nvPr/>
        </p:nvSpPr>
        <p:spPr>
          <a:xfrm>
            <a:off x="812800" y="3329942"/>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A7480"/>
                </a:solidFill>
                <a:latin typeface="IBM Plex Sans" pitchFamily="34" charset="0"/>
                <a:ea typeface="IBM Plex Sans" pitchFamily="34" charset="-122"/>
                <a:cs typeface="IBM Plex Sans" pitchFamily="34" charset="-120"/>
              </a:rPr>
              <a:t>Criterios de evidencia según RFC 3227 §2.4</a:t>
            </a:r>
            <a:endParaRPr lang="en-US" sz="1300" dirty="0"/>
          </a:p>
        </p:txBody>
      </p:sp>
      <p:sp>
        <p:nvSpPr>
          <p:cNvPr id="19" name="Shape 17"/>
          <p:cNvSpPr/>
          <p:nvPr/>
        </p:nvSpPr>
        <p:spPr>
          <a:xfrm>
            <a:off x="831850" y="3865879"/>
            <a:ext cx="0" cy="1021080"/>
          </a:xfrm>
          <a:prstGeom prst="line">
            <a:avLst/>
          </a:prstGeom>
          <a:noFill/>
          <a:ln w="38100">
            <a:solidFill>
              <a:srgbClr val="13233A"/>
            </a:solidFill>
            <a:prstDash val="solid"/>
          </a:ln>
        </p:spPr>
      </p:sp>
      <p:sp>
        <p:nvSpPr>
          <p:cNvPr id="20" name="Text 18"/>
          <p:cNvSpPr/>
          <p:nvPr/>
        </p:nvSpPr>
        <p:spPr>
          <a:xfrm>
            <a:off x="1054100" y="3916679"/>
            <a:ext cx="1063485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33A"/>
                </a:solidFill>
                <a:latin typeface="IBM Plex Sans" pitchFamily="34" charset="0"/>
                <a:ea typeface="IBM Plex Sans" pitchFamily="34" charset="-122"/>
                <a:cs typeface="IBM Plex Sans" pitchFamily="34" charset="-120"/>
              </a:rPr>
              <a:t>Para que un tercero repita el trabajo, la bitácora registra en cada paso: </a:t>
            </a:r>
            <a:r>
              <a:rPr lang="en-US" sz="1600" b="1" dirty="0">
                <a:solidFill>
                  <a:srgbClr val="13233A"/>
                </a:solidFill>
                <a:latin typeface="IBM Plex Sans" pitchFamily="34" charset="0"/>
                <a:ea typeface="IBM Plex Sans" pitchFamily="34" charset="-122"/>
                <a:cs typeface="IBM Plex Sans" pitchFamily="34" charset="-120"/>
              </a:rPr>
              <a:t>herramienta y versión, parámetros, hora, operador, hash antes y después</a:t>
            </a:r>
            <a:r>
              <a:rPr lang="en-US" sz="1600" dirty="0">
                <a:solidFill>
                  <a:srgbClr val="13233A"/>
                </a:solidFill>
                <a:latin typeface="IBM Plex Sans" pitchFamily="34" charset="0"/>
                <a:ea typeface="IBM Plex Sans" pitchFamily="34" charset="-122"/>
                <a:cs typeface="IBM Plex Sans" pitchFamily="34" charset="-120"/>
              </a:rPr>
              <a:t>.</a:t>
            </a:r>
            <a:endParaRPr lang="en-US" sz="1600" dirty="0"/>
          </a:p>
        </p:txBody>
      </p:sp>
      <p:sp>
        <p:nvSpPr>
          <p:cNvPr id="21" name="Text 19"/>
          <p:cNvSpPr/>
          <p:nvPr/>
        </p:nvSpPr>
        <p:spPr>
          <a:xfrm>
            <a:off x="1054100" y="4587242"/>
            <a:ext cx="1063485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Es el principio 3 de ACPO convertido en formato: sin registro, no hay repetibilidad; sin repetibilidad, la prueba se discute.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E3B55B"/>
                </a:solidFill>
                <a:latin typeface="IBM Plex Sans" pitchFamily="34" charset="0"/>
                <a:ea typeface="IBM Plex Sans" pitchFamily="34" charset="-122"/>
                <a:cs typeface="IBM Plex Sans" pitchFamily="34" charset="-120"/>
              </a:rPr>
              <a:t>CASO DF-2026-017 · SIMULADO DE ALTA FIDELIDAD</a:t>
            </a:r>
            <a:endParaRPr lang="en-US" sz="1300" dirty="0"/>
          </a:p>
        </p:txBody>
      </p:sp>
      <p:sp>
        <p:nvSpPr>
          <p:cNvPr id="3" name="Text 1"/>
          <p:cNvSpPr>
            <a:spLocks noGrp="1"/>
          </p:cNvSpPr>
          <p:nvPr>
            <p:ph type="title"/>
          </p:nvPr>
        </p:nvSpPr>
        <p:spPr>
          <a:xfrm>
            <a:off x="812800" y="1297942"/>
            <a:ext cx="10883392"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EF"/>
                </a:solidFill>
                <a:latin typeface="Source Serif 4" pitchFamily="18" charset="0"/>
                <a:ea typeface="Source Serif 4" pitchFamily="18" charset="-122"/>
                <a:cs typeface="Source Serif 4" pitchFamily="18" charset="-120"/>
              </a:rPr>
              <a:t>Una cuenta de servicio olvidada, 4,7 GB exfiltrados y un cifrador que vivía solo en memoria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99358"/>
          <a:ext cx="10553700" cy="2515870"/>
        </p:xfrm>
        <a:graphic>
          <a:graphicData uri="http://schemas.openxmlformats.org/drawingml/2006/table">
            <a:tbl>
              <a:tblPr/>
              <a:tblGrid>
                <a:gridCol w="2110740">
                  <a:extLst>
                    <a:ext uri="{9D8B030D-6E8A-4147-A177-3AD203B41FA5}">
                      <a16:colId xmlns:a16="http://schemas.microsoft.com/office/drawing/2014/main" val="20000"/>
                    </a:ext>
                  </a:extLst>
                </a:gridCol>
                <a:gridCol w="8442960">
                  <a:extLst>
                    <a:ext uri="{9D8B030D-6E8A-4147-A177-3AD203B41FA5}">
                      <a16:colId xmlns:a16="http://schemas.microsoft.com/office/drawing/2014/main" val="20001"/>
                    </a:ext>
                  </a:extLst>
                </a:gridCol>
              </a:tblGrid>
              <a:tr h="359410">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Hora (UTC-5)</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5BA39D"/>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5BA39D"/>
                      </a:solidFill>
                      <a:prstDash val="solid"/>
                      <a:round/>
                      <a:headEnd type="none" w="med" len="med"/>
                      <a:tailEnd type="none" w="med" len="med"/>
                    </a:lnB>
                    <a:solidFill>
                      <a:srgbClr val="2E8B84"/>
                    </a:solidFill>
                  </a:tcPr>
                </a:tc>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Hecho</a:t>
                      </a:r>
                      <a:endParaRPr lang="en-US" sz="1300" dirty="0">
                        <a:latin typeface="IBM Plex Sans" charset="0"/>
                        <a:ea typeface="IBM Plex Sans" charset="0"/>
                        <a:cs typeface="IBM Plex Sans" charset="0"/>
                      </a:endParaRPr>
                    </a:p>
                  </a:txBody>
                  <a:tcPr marL="57785" marR="57785" marT="57785" marB="57785">
                    <a:lnL w="12700" cap="flat" cmpd="sng" algn="ctr">
                      <a:solidFill>
                        <a:srgbClr val="5BA39D"/>
                      </a:solidFill>
                      <a:prstDash val="solid"/>
                      <a:round/>
                      <a:headEnd type="none" w="med" len="med"/>
                      <a:tailEnd type="none" w="med" len="med"/>
                    </a:lnL>
                    <a:lnR w="12700" cap="flat" cmpd="sng" algn="ctr">
                      <a:solidFill>
                        <a:srgbClr val="5BA39D"/>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5BA39D"/>
                      </a:solidFill>
                      <a:prstDash val="solid"/>
                      <a:round/>
                      <a:headEnd type="none" w="med" len="med"/>
                      <a:tailEnd type="none" w="med" len="med"/>
                    </a:lnB>
                    <a:solidFill>
                      <a:srgbClr val="2E8B84"/>
                    </a:solidFill>
                  </a:tcPr>
                </a:tc>
                <a:extLst>
                  <a:ext uri="{0D108BD9-81ED-4DB2-BD59-A6C34878D82A}">
                    <a16:rowId xmlns:a16="http://schemas.microsoft.com/office/drawing/2014/main" val="10000"/>
                  </a:ext>
                </a:extLst>
              </a:tr>
              <a:tr h="359410">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12-sep 23:41</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65263"/>
                      </a:solidFill>
                      <a:prstDash val="solid"/>
                      <a:round/>
                      <a:headEnd type="none" w="med" len="med"/>
                      <a:tailEnd type="none" w="med" len="med"/>
                    </a:lnR>
                    <a:lnT w="12700" cap="flat" cmpd="sng" algn="ctr">
                      <a:solidFill>
                        <a:srgbClr val="5BA39D"/>
                      </a:solidFill>
                      <a:prstDash val="solid"/>
                      <a:round/>
                      <a:headEnd type="none" w="med" len="med"/>
                      <a:tailEnd type="none" w="med" len="med"/>
                    </a:lnT>
                    <a:lnB w="12700" cap="flat" cmpd="sng" algn="ctr">
                      <a:solidFill>
                        <a:srgbClr val="465263"/>
                      </a:solidFill>
                      <a:prstDash val="solid"/>
                      <a:round/>
                      <a:headEnd type="none" w="med" len="med"/>
                      <a:tailEnd type="none" w="med" len="med"/>
                    </a:lnB>
                  </a:tcPr>
                </a:tc>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VPN con svc_backup, cuenta no deshabilitada al retiro del exadministrador</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65263"/>
                      </a:solidFill>
                      <a:prstDash val="solid"/>
                      <a:round/>
                      <a:headEnd type="none" w="med" len="med"/>
                      <a:tailEnd type="none" w="med" len="med"/>
                    </a:lnR>
                    <a:lnT w="12700" cap="flat" cmpd="sng" algn="ctr">
                      <a:solidFill>
                        <a:srgbClr val="5BA39D"/>
                      </a:solidFill>
                      <a:prstDash val="solid"/>
                      <a:round/>
                      <a:headEnd type="none" w="med" len="med"/>
                      <a:tailEnd type="none" w="med" len="med"/>
                    </a:lnT>
                    <a:lnB w="12700" cap="flat" cmpd="sng" algn="ctr">
                      <a:solidFill>
                        <a:srgbClr val="465263"/>
                      </a:solidFill>
                      <a:prstDash val="solid"/>
                      <a:round/>
                      <a:headEnd type="none" w="med" len="med"/>
                      <a:tailEnd type="none" w="med" len="med"/>
                    </a:lnB>
                  </a:tcPr>
                </a:tc>
                <a:extLst>
                  <a:ext uri="{0D108BD9-81ED-4DB2-BD59-A6C34878D82A}">
                    <a16:rowId xmlns:a16="http://schemas.microsoft.com/office/drawing/2014/main" val="10001"/>
                  </a:ext>
                </a:extLst>
              </a:tr>
              <a:tr h="359410">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13-sep 00:20</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D5D74"/>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4D5D74"/>
                      </a:solidFill>
                      <a:prstDash val="solid"/>
                      <a:round/>
                      <a:headEnd type="none" w="med" len="med"/>
                      <a:tailEnd type="none" w="med" len="med"/>
                    </a:lnB>
                    <a:solidFill>
                      <a:srgbClr val="1C3150"/>
                    </a:solidFill>
                  </a:tcPr>
                </a:tc>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RDP a SRV-FS01 y salida de 4,7 GB hacia la nube durante 75 minutos</a:t>
                      </a:r>
                      <a:endParaRPr lang="en-US" sz="1300" dirty="0">
                        <a:latin typeface="IBM Plex Sans" charset="0"/>
                        <a:ea typeface="IBM Plex Sans" charset="0"/>
                        <a:cs typeface="IBM Plex Sans" charset="0"/>
                      </a:endParaRPr>
                    </a:p>
                  </a:txBody>
                  <a:tcPr marL="57785" marR="57785" marT="57785" marB="57785">
                    <a:lnL w="12700" cap="flat" cmpd="sng" algn="ctr">
                      <a:solidFill>
                        <a:srgbClr val="4D5D74"/>
                      </a:solidFill>
                      <a:prstDash val="solid"/>
                      <a:round/>
                      <a:headEnd type="none" w="med" len="med"/>
                      <a:tailEnd type="none" w="med" len="med"/>
                    </a:lnL>
                    <a:lnR w="12700" cap="flat" cmpd="sng" algn="ctr">
                      <a:solidFill>
                        <a:srgbClr val="4D5D74"/>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4D5D74"/>
                      </a:solidFill>
                      <a:prstDash val="solid"/>
                      <a:round/>
                      <a:headEnd type="none" w="med" len="med"/>
                      <a:tailEnd type="none" w="med" len="med"/>
                    </a:lnB>
                    <a:solidFill>
                      <a:srgbClr val="1C3150"/>
                    </a:solidFill>
                  </a:tcPr>
                </a:tc>
                <a:extLst>
                  <a:ext uri="{0D108BD9-81ED-4DB2-BD59-A6C34878D82A}">
                    <a16:rowId xmlns:a16="http://schemas.microsoft.com/office/drawing/2014/main" val="10002"/>
                  </a:ext>
                </a:extLst>
              </a:tr>
              <a:tr h="359410">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13-sep 01:52</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65263"/>
                      </a:solidFill>
                      <a:prstDash val="solid"/>
                      <a:round/>
                      <a:headEnd type="none" w="med" len="med"/>
                      <a:tailEnd type="none" w="med" len="med"/>
                    </a:lnR>
                    <a:lnT w="12700" cap="flat" cmpd="sng" algn="ctr">
                      <a:solidFill>
                        <a:srgbClr val="4D5D74"/>
                      </a:solidFill>
                      <a:prstDash val="solid"/>
                      <a:round/>
                      <a:headEnd type="none" w="med" len="med"/>
                      <a:tailEnd type="none" w="med" len="med"/>
                    </a:lnT>
                    <a:lnB w="12700" cap="flat" cmpd="sng" algn="ctr">
                      <a:solidFill>
                        <a:srgbClr val="465263"/>
                      </a:solidFill>
                      <a:prstDash val="solid"/>
                      <a:round/>
                      <a:headEnd type="none" w="med" len="med"/>
                      <a:tailEnd type="none" w="med" len="med"/>
                    </a:lnB>
                  </a:tcPr>
                </a:tc>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PowerShell codificado inyecta un cifrador en memoria</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65263"/>
                      </a:solidFill>
                      <a:prstDash val="solid"/>
                      <a:round/>
                      <a:headEnd type="none" w="med" len="med"/>
                      <a:tailEnd type="none" w="med" len="med"/>
                    </a:lnR>
                    <a:lnT w="12700" cap="flat" cmpd="sng" algn="ctr">
                      <a:solidFill>
                        <a:srgbClr val="4D5D74"/>
                      </a:solidFill>
                      <a:prstDash val="solid"/>
                      <a:round/>
                      <a:headEnd type="none" w="med" len="med"/>
                      <a:tailEnd type="none" w="med" len="med"/>
                    </a:lnT>
                    <a:lnB w="12700" cap="flat" cmpd="sng" algn="ctr">
                      <a:solidFill>
                        <a:srgbClr val="465263"/>
                      </a:solidFill>
                      <a:prstDash val="solid"/>
                      <a:round/>
                      <a:headEnd type="none" w="med" len="med"/>
                      <a:tailEnd type="none" w="med" len="med"/>
                    </a:lnB>
                  </a:tcPr>
                </a:tc>
                <a:extLst>
                  <a:ext uri="{0D108BD9-81ED-4DB2-BD59-A6C34878D82A}">
                    <a16:rowId xmlns:a16="http://schemas.microsoft.com/office/drawing/2014/main" val="10003"/>
                  </a:ext>
                </a:extLst>
              </a:tr>
              <a:tr h="359410">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13-sep 02:05</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D5D74"/>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4D5D74"/>
                      </a:solidFill>
                      <a:prstDash val="solid"/>
                      <a:round/>
                      <a:headEnd type="none" w="med" len="med"/>
                      <a:tailEnd type="none" w="med" len="med"/>
                    </a:lnB>
                    <a:solidFill>
                      <a:srgbClr val="1C3150"/>
                    </a:solidFill>
                  </a:tcPr>
                </a:tc>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Borrado del registro de seguridad local (evento 1102)</a:t>
                      </a:r>
                      <a:endParaRPr lang="en-US" sz="1300" dirty="0">
                        <a:latin typeface="IBM Plex Sans" charset="0"/>
                        <a:ea typeface="IBM Plex Sans" charset="0"/>
                        <a:cs typeface="IBM Plex Sans" charset="0"/>
                      </a:endParaRPr>
                    </a:p>
                  </a:txBody>
                  <a:tcPr marL="57785" marR="57785" marT="57785" marB="57785">
                    <a:lnL w="12700" cap="flat" cmpd="sng" algn="ctr">
                      <a:solidFill>
                        <a:srgbClr val="4D5D74"/>
                      </a:solidFill>
                      <a:prstDash val="solid"/>
                      <a:round/>
                      <a:headEnd type="none" w="med" len="med"/>
                      <a:tailEnd type="none" w="med" len="med"/>
                    </a:lnL>
                    <a:lnR w="12700" cap="flat" cmpd="sng" algn="ctr">
                      <a:solidFill>
                        <a:srgbClr val="4D5D74"/>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4D5D74"/>
                      </a:solidFill>
                      <a:prstDash val="solid"/>
                      <a:round/>
                      <a:headEnd type="none" w="med" len="med"/>
                      <a:tailEnd type="none" w="med" len="med"/>
                    </a:lnB>
                    <a:solidFill>
                      <a:srgbClr val="1C3150"/>
                    </a:solidFill>
                  </a:tcPr>
                </a:tc>
                <a:extLst>
                  <a:ext uri="{0D108BD9-81ED-4DB2-BD59-A6C34878D82A}">
                    <a16:rowId xmlns:a16="http://schemas.microsoft.com/office/drawing/2014/main" val="10004"/>
                  </a:ext>
                </a:extLst>
              </a:tr>
              <a:tr h="359410">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13-sep 07:40</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65263"/>
                      </a:solidFill>
                      <a:prstDash val="solid"/>
                      <a:round/>
                      <a:headEnd type="none" w="med" len="med"/>
                      <a:tailEnd type="none" w="med" len="med"/>
                    </a:lnR>
                    <a:lnT w="12700" cap="flat" cmpd="sng" algn="ctr">
                      <a:solidFill>
                        <a:srgbClr val="4D5D74"/>
                      </a:solidFill>
                      <a:prstDash val="solid"/>
                      <a:round/>
                      <a:headEnd type="none" w="med" len="med"/>
                      <a:tailEnd type="none" w="med" len="med"/>
                    </a:lnT>
                    <a:lnB w="12700" cap="flat" cmpd="sng" algn="ctr">
                      <a:solidFill>
                        <a:srgbClr val="465263"/>
                      </a:solidFill>
                      <a:prstDash val="solid"/>
                      <a:round/>
                      <a:headEnd type="none" w="med" len="med"/>
                      <a:tailEnd type="none" w="med" len="med"/>
                    </a:lnB>
                  </a:tcPr>
                </a:tc>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Técnico interno apaga SRV-FS02 para frenar el cifrado</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65263"/>
                      </a:solidFill>
                      <a:prstDash val="solid"/>
                      <a:round/>
                      <a:headEnd type="none" w="med" len="med"/>
                      <a:tailEnd type="none" w="med" len="med"/>
                    </a:lnR>
                    <a:lnT w="12700" cap="flat" cmpd="sng" algn="ctr">
                      <a:solidFill>
                        <a:srgbClr val="4D5D74"/>
                      </a:solidFill>
                      <a:prstDash val="solid"/>
                      <a:round/>
                      <a:headEnd type="none" w="med" len="med"/>
                      <a:tailEnd type="none" w="med" len="med"/>
                    </a:lnT>
                    <a:lnB w="12700" cap="flat" cmpd="sng" algn="ctr">
                      <a:solidFill>
                        <a:srgbClr val="465263"/>
                      </a:solidFill>
                      <a:prstDash val="solid"/>
                      <a:round/>
                      <a:headEnd type="none" w="med" len="med"/>
                      <a:tailEnd type="none" w="med" len="med"/>
                    </a:lnB>
                  </a:tcPr>
                </a:tc>
                <a:extLst>
                  <a:ext uri="{0D108BD9-81ED-4DB2-BD59-A6C34878D82A}">
                    <a16:rowId xmlns:a16="http://schemas.microsoft.com/office/drawing/2014/main" val="10005"/>
                  </a:ext>
                </a:extLst>
              </a:tr>
              <a:tr h="359410">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13-sep 11:30</a:t>
                      </a:r>
                      <a:endParaRPr lang="en-US" sz="1300" dirty="0">
                        <a:latin typeface="IBM Plex Sans" charset="0"/>
                        <a:ea typeface="IBM Plex Sans" charset="0"/>
                        <a:cs typeface="IBM Plex Sans" charset="0"/>
                      </a:endParaRPr>
                    </a:p>
                  </a:txBody>
                  <a:tcPr marL="57785" marR="57785" marT="57785" marB="57785">
                    <a:lnL w="12700" cap="flat" cmpd="sng" algn="ctr">
                      <a:solidFill>
                        <a:srgbClr val="465263"/>
                      </a:solidFill>
                      <a:prstDash val="solid"/>
                      <a:round/>
                      <a:headEnd type="none" w="med" len="med"/>
                      <a:tailEnd type="none" w="med" len="med"/>
                    </a:lnL>
                    <a:lnR w="12700" cap="flat" cmpd="sng" algn="ctr">
                      <a:solidFill>
                        <a:srgbClr val="4D5D74"/>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4D5D74"/>
                      </a:solidFill>
                      <a:prstDash val="solid"/>
                      <a:round/>
                      <a:headEnd type="none" w="med" len="med"/>
                      <a:tailEnd type="none" w="med" len="med"/>
                    </a:lnB>
                    <a:solidFill>
                      <a:srgbClr val="1C3150"/>
                    </a:solidFill>
                  </a:tcPr>
                </a:tc>
                <a:tc>
                  <a:txBody>
                    <a:bodyPr/>
                    <a:lstStyle/>
                    <a:p>
                      <a:pPr marL="0" indent="0">
                        <a:lnSpc>
                          <a:spcPts val="1820"/>
                        </a:lnSpc>
                        <a:buNone/>
                      </a:pPr>
                      <a:r>
                        <a:rPr lang="en-US" sz="1300" dirty="0">
                          <a:solidFill>
                            <a:srgbClr val="F6F4EF"/>
                          </a:solidFill>
                          <a:latin typeface="IBM Plex Sans" pitchFamily="34" charset="0"/>
                          <a:ea typeface="IBM Plex Sans" pitchFamily="34" charset="-122"/>
                          <a:cs typeface="IBM Plex Sans" pitchFamily="34" charset="-120"/>
                        </a:rPr>
                        <a:t>Llega el equipo pericial y aplica la Guía Lite</a:t>
                      </a:r>
                      <a:endParaRPr lang="en-US" sz="1300" dirty="0">
                        <a:latin typeface="IBM Plex Sans" charset="0"/>
                        <a:ea typeface="IBM Plex Sans" charset="0"/>
                        <a:cs typeface="IBM Plex Sans" charset="0"/>
                      </a:endParaRPr>
                    </a:p>
                  </a:txBody>
                  <a:tcPr marL="57785" marR="57785" marT="57785" marB="57785">
                    <a:lnL w="12700" cap="flat" cmpd="sng" algn="ctr">
                      <a:solidFill>
                        <a:srgbClr val="4D5D74"/>
                      </a:solidFill>
                      <a:prstDash val="solid"/>
                      <a:round/>
                      <a:headEnd type="none" w="med" len="med"/>
                      <a:tailEnd type="none" w="med" len="med"/>
                    </a:lnL>
                    <a:lnR w="12700" cap="flat" cmpd="sng" algn="ctr">
                      <a:solidFill>
                        <a:srgbClr val="4D5D74"/>
                      </a:solidFill>
                      <a:prstDash val="solid"/>
                      <a:round/>
                      <a:headEnd type="none" w="med" len="med"/>
                      <a:tailEnd type="none" w="med" len="med"/>
                    </a:lnR>
                    <a:lnT w="12700" cap="flat" cmpd="sng" algn="ctr">
                      <a:solidFill>
                        <a:srgbClr val="465263"/>
                      </a:solidFill>
                      <a:prstDash val="solid"/>
                      <a:round/>
                      <a:headEnd type="none" w="med" len="med"/>
                      <a:tailEnd type="none" w="med" len="med"/>
                    </a:lnT>
                    <a:lnB w="12700" cap="flat" cmpd="sng" algn="ctr">
                      <a:solidFill>
                        <a:srgbClr val="4D5D74"/>
                      </a:solidFill>
                      <a:prstDash val="solid"/>
                      <a:round/>
                      <a:headEnd type="none" w="med" len="med"/>
                      <a:tailEnd type="none" w="med" len="med"/>
                    </a:lnB>
                    <a:solidFill>
                      <a:srgbClr val="1C3150"/>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3"/>
                </a:solidFill>
                <a:latin typeface="IBM Plex Sans" pitchFamily="34" charset="0"/>
                <a:ea typeface="IBM Plex Sans" pitchFamily="34" charset="-122"/>
                <a:cs typeface="IBM Plex Sans" pitchFamily="34" charset="-120"/>
              </a:rPr>
              <a:t>Empresa, personas, IP y hashes ficticios · detalle completo en el documento del caso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Tres dilemas, tres decisiones justificadas</a:t>
            </a:r>
            <a:endParaRPr lang="en-US" sz="3600" dirty="0"/>
          </a:p>
        </p:txBody>
      </p:sp>
      <p:sp>
        <p:nvSpPr>
          <p:cNvPr id="3" name="Shape 1"/>
          <p:cNvSpPr/>
          <p:nvPr/>
        </p:nvSpPr>
        <p:spPr>
          <a:xfrm>
            <a:off x="815975" y="1623696"/>
            <a:ext cx="3380317" cy="2857500"/>
          </a:xfrm>
          <a:prstGeom prst="roundRect">
            <a:avLst>
              <a:gd name="adj" fmla="val 3444"/>
            </a:avLst>
          </a:prstGeom>
          <a:solidFill>
            <a:srgbClr val="FFFFFF"/>
          </a:solidFill>
          <a:ln w="6350">
            <a:solidFill>
              <a:srgbClr val="D9DDE2"/>
            </a:solidFill>
            <a:prstDash val="solid"/>
          </a:ln>
        </p:spPr>
      </p:sp>
      <p:sp>
        <p:nvSpPr>
          <p:cNvPr id="4" name="Text 2"/>
          <p:cNvSpPr/>
          <p:nvPr/>
        </p:nvSpPr>
        <p:spPr>
          <a:xfrm>
            <a:off x="1073150" y="1880871"/>
            <a:ext cx="2951946"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B5532E"/>
                </a:solidFill>
                <a:latin typeface="IBM Plex Sans" pitchFamily="34" charset="0"/>
                <a:ea typeface="IBM Plex Sans" pitchFamily="34" charset="-122"/>
                <a:cs typeface="IBM Plex Sans" pitchFamily="34" charset="-120"/>
              </a:rPr>
              <a:t>VOLATILIDAD EXTREMA</a:t>
            </a:r>
            <a:endParaRPr lang="en-US" sz="1200" dirty="0"/>
          </a:p>
        </p:txBody>
      </p:sp>
      <p:sp>
        <p:nvSpPr>
          <p:cNvPr id="5" name="Text 3"/>
          <p:cNvSpPr/>
          <p:nvPr/>
        </p:nvSpPr>
        <p:spPr>
          <a:xfrm>
            <a:off x="1073150" y="2221229"/>
            <a:ext cx="3119967"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3233A"/>
                </a:solidFill>
                <a:latin typeface="IBM Plex Sans" pitchFamily="34" charset="0"/>
                <a:ea typeface="IBM Plex Sans" pitchFamily="34" charset="-122"/>
                <a:cs typeface="IBM Plex Sans" pitchFamily="34" charset="-120"/>
              </a:rPr>
              <a:t>Cifrador y clave solo en RAM</a:t>
            </a:r>
            <a:endParaRPr lang="en-US" sz="1700" dirty="0"/>
          </a:p>
        </p:txBody>
      </p:sp>
      <p:sp>
        <p:nvSpPr>
          <p:cNvPr id="6" name="Text 4"/>
          <p:cNvSpPr/>
          <p:nvPr/>
        </p:nvSpPr>
        <p:spPr>
          <a:xfrm>
            <a:off x="1073150" y="2618104"/>
            <a:ext cx="2951946"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Captura en vivo con WinPmem desde kit de solo lectura; luego estado de red y procesos. Clave AES recuperada.</a:t>
            </a:r>
            <a:endParaRPr lang="en-US" sz="1400" dirty="0"/>
          </a:p>
        </p:txBody>
      </p:sp>
      <p:sp>
        <p:nvSpPr>
          <p:cNvPr id="7" name="Text 5"/>
          <p:cNvSpPr/>
          <p:nvPr/>
        </p:nvSpPr>
        <p:spPr>
          <a:xfrm>
            <a:off x="1073150" y="3740783"/>
            <a:ext cx="295194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RFC §2.1 · ACPO P2</a:t>
            </a:r>
            <a:endParaRPr lang="en-US" sz="1200" dirty="0"/>
          </a:p>
        </p:txBody>
      </p:sp>
      <p:sp>
        <p:nvSpPr>
          <p:cNvPr id="8" name="Shape 6"/>
          <p:cNvSpPr/>
          <p:nvPr/>
        </p:nvSpPr>
        <p:spPr>
          <a:xfrm>
            <a:off x="4405842" y="1623696"/>
            <a:ext cx="3380317" cy="2857500"/>
          </a:xfrm>
          <a:prstGeom prst="roundRect">
            <a:avLst>
              <a:gd name="adj" fmla="val 3444"/>
            </a:avLst>
          </a:prstGeom>
          <a:solidFill>
            <a:srgbClr val="FFFFFF"/>
          </a:solidFill>
          <a:ln w="6350">
            <a:solidFill>
              <a:srgbClr val="D9DDE2"/>
            </a:solidFill>
            <a:prstDash val="solid"/>
          </a:ln>
        </p:spPr>
      </p:sp>
      <p:sp>
        <p:nvSpPr>
          <p:cNvPr id="9" name="Text 7"/>
          <p:cNvSpPr/>
          <p:nvPr/>
        </p:nvSpPr>
        <p:spPr>
          <a:xfrm>
            <a:off x="4663017" y="1880871"/>
            <a:ext cx="2951946"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B5532E"/>
                </a:solidFill>
                <a:latin typeface="IBM Plex Sans" pitchFamily="34" charset="0"/>
                <a:ea typeface="IBM Plex Sans" pitchFamily="34" charset="-122"/>
                <a:cs typeface="IBM Plex Sans" pitchFamily="34" charset="-120"/>
              </a:rPr>
              <a:t>ANTIFORENSE</a:t>
            </a:r>
            <a:endParaRPr lang="en-US" sz="1200" dirty="0"/>
          </a:p>
        </p:txBody>
      </p:sp>
      <p:sp>
        <p:nvSpPr>
          <p:cNvPr id="10" name="Text 8"/>
          <p:cNvSpPr/>
          <p:nvPr/>
        </p:nvSpPr>
        <p:spPr>
          <a:xfrm>
            <a:off x="4663017" y="2221229"/>
            <a:ext cx="2951946" cy="565150"/>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3233A"/>
                </a:solidFill>
                <a:latin typeface="IBM Plex Sans" pitchFamily="34" charset="0"/>
                <a:ea typeface="IBM Plex Sans" pitchFamily="34" charset="-122"/>
                <a:cs typeface="IBM Plex Sans" pitchFamily="34" charset="-120"/>
              </a:rPr>
              <a:t>Logs borrados y fechas alteradas</a:t>
            </a:r>
            <a:endParaRPr lang="en-US" sz="1700" dirty="0"/>
          </a:p>
        </p:txBody>
      </p:sp>
      <p:sp>
        <p:nvSpPr>
          <p:cNvPr id="11" name="Text 9"/>
          <p:cNvSpPr/>
          <p:nvPr/>
        </p:nvSpPr>
        <p:spPr>
          <a:xfrm>
            <a:off x="4663017" y="2887979"/>
            <a:ext cx="295194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Se usó el SIEM remoto que el atacante no alcanzó; tiempos de la MFT contrastados con NetFlow.</a:t>
            </a:r>
            <a:endParaRPr lang="en-US" sz="1400" dirty="0"/>
          </a:p>
        </p:txBody>
      </p:sp>
      <p:sp>
        <p:nvSpPr>
          <p:cNvPr id="12" name="Text 10"/>
          <p:cNvSpPr/>
          <p:nvPr/>
        </p:nvSpPr>
        <p:spPr>
          <a:xfrm>
            <a:off x="4663017" y="3761742"/>
            <a:ext cx="295194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RFC §2.1, nivel 5</a:t>
            </a:r>
            <a:endParaRPr lang="en-US" sz="1200" dirty="0"/>
          </a:p>
        </p:txBody>
      </p:sp>
      <p:sp>
        <p:nvSpPr>
          <p:cNvPr id="13" name="Shape 11"/>
          <p:cNvSpPr/>
          <p:nvPr/>
        </p:nvSpPr>
        <p:spPr>
          <a:xfrm>
            <a:off x="7995708" y="1623696"/>
            <a:ext cx="3380317" cy="2857500"/>
          </a:xfrm>
          <a:prstGeom prst="roundRect">
            <a:avLst>
              <a:gd name="adj" fmla="val 3444"/>
            </a:avLst>
          </a:prstGeom>
          <a:solidFill>
            <a:srgbClr val="FFFFFF"/>
          </a:solidFill>
          <a:ln w="6350">
            <a:solidFill>
              <a:srgbClr val="D9DDE2"/>
            </a:solidFill>
            <a:prstDash val="solid"/>
          </a:ln>
        </p:spPr>
      </p:sp>
      <p:sp>
        <p:nvSpPr>
          <p:cNvPr id="14" name="Text 12"/>
          <p:cNvSpPr/>
          <p:nvPr/>
        </p:nvSpPr>
        <p:spPr>
          <a:xfrm>
            <a:off x="8252883" y="1880871"/>
            <a:ext cx="2951946"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B5532E"/>
                </a:solidFill>
                <a:latin typeface="IBM Plex Sans" pitchFamily="34" charset="0"/>
                <a:ea typeface="IBM Plex Sans" pitchFamily="34" charset="-122"/>
                <a:cs typeface="IBM Plex Sans" pitchFamily="34" charset="-120"/>
              </a:rPr>
              <a:t>EVIDENCIA DAÑADA</a:t>
            </a:r>
            <a:endParaRPr lang="en-US" sz="1200" dirty="0"/>
          </a:p>
        </p:txBody>
      </p:sp>
      <p:sp>
        <p:nvSpPr>
          <p:cNvPr id="15" name="Text 13"/>
          <p:cNvSpPr/>
          <p:nvPr/>
        </p:nvSpPr>
        <p:spPr>
          <a:xfrm>
            <a:off x="8252883" y="2221229"/>
            <a:ext cx="2951946" cy="565150"/>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3233A"/>
                </a:solidFill>
                <a:latin typeface="IBM Plex Sans" pitchFamily="34" charset="0"/>
                <a:ea typeface="IBM Plex Sans" pitchFamily="34" charset="-122"/>
                <a:cs typeface="IBM Plex Sans" pitchFamily="34" charset="-120"/>
              </a:rPr>
              <a:t>SSD apagado y USB manipulada</a:t>
            </a:r>
            <a:endParaRPr lang="en-US" sz="1700" dirty="0"/>
          </a:p>
        </p:txBody>
      </p:sp>
      <p:sp>
        <p:nvSpPr>
          <p:cNvPr id="16" name="Text 14"/>
          <p:cNvSpPr/>
          <p:nvPr/>
        </p:nvSpPr>
        <p:spPr>
          <a:xfrm>
            <a:off x="8252883" y="2887979"/>
            <a:ext cx="2951946"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No se reencendió el SSD; se declaró la pérdida por TRIM. La USB se adquirió tal cual y quedó como indicio de apoyo.</a:t>
            </a:r>
            <a:endParaRPr lang="en-US" sz="1400" dirty="0"/>
          </a:p>
        </p:txBody>
      </p:sp>
      <p:sp>
        <p:nvSpPr>
          <p:cNvPr id="17" name="Text 15"/>
          <p:cNvSpPr/>
          <p:nvPr/>
        </p:nvSpPr>
        <p:spPr>
          <a:xfrm>
            <a:off x="8252883" y="4010658"/>
            <a:ext cx="295194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8B84"/>
                </a:solidFill>
                <a:latin typeface="IBM Plex Sans" pitchFamily="34" charset="0"/>
                <a:ea typeface="IBM Plex Sans" pitchFamily="34" charset="-122"/>
                <a:cs typeface="IBM Plex Sans" pitchFamily="34" charset="-120"/>
              </a:rPr>
              <a:t>ACPO P1, P3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Dictamen: cuatro pruebas sólidas, una con reserva, una de apoyo</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85342"/>
          <a:ext cx="10553700" cy="2515870"/>
        </p:xfrm>
        <a:graphic>
          <a:graphicData uri="http://schemas.openxmlformats.org/drawingml/2006/table">
            <a:tbl>
              <a:tblPr/>
              <a:tblGrid>
                <a:gridCol w="2955036">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59410">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Evidencia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Dictamen</a:t>
                      </a:r>
                      <a:endParaRPr lang="en-US" sz="1300" dirty="0">
                        <a:latin typeface="IBM Plex Sans" charset="0"/>
                        <a:ea typeface="IBM Plex Sans" charset="0"/>
                        <a:cs typeface="IBM Plex Sans" charset="0"/>
                      </a:endParaRPr>
                    </a:p>
                  </a:txBody>
                  <a:tcPr marL="57785" marR="57785" marT="57785" marB="57785">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820"/>
                        </a:lnSpc>
                        <a:buNone/>
                      </a:pPr>
                      <a:r>
                        <a:rPr lang="en-US" sz="1300" b="1" dirty="0">
                          <a:solidFill>
                            <a:srgbClr val="F6F4EF"/>
                          </a:solidFill>
                          <a:latin typeface="IBM Plex Sans" pitchFamily="34" charset="0"/>
                          <a:ea typeface="IBM Plex Sans" pitchFamily="34" charset="-122"/>
                          <a:cs typeface="IBM Plex Sans" pitchFamily="34" charset="-120"/>
                        </a:rPr>
                        <a:t>Fundamento</a:t>
                      </a:r>
                      <a:endParaRPr lang="en-US" sz="1300" dirty="0">
                        <a:latin typeface="IBM Plex Sans" charset="0"/>
                        <a:ea typeface="IBM Plex Sans" charset="0"/>
                        <a:cs typeface="IBM Plex Sans" charset="0"/>
                      </a:endParaRPr>
                    </a:p>
                  </a:txBody>
                  <a:tcPr marL="57785" marR="57785" marT="57785" marB="57785">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EV-01 RAM SRV-FS01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F6F5C"/>
                          </a:solidFill>
                          <a:latin typeface="IBM Plex Sans" pitchFamily="34" charset="0"/>
                          <a:ea typeface="IBM Plex Sans" pitchFamily="34" charset="-122"/>
                          <a:cs typeface="IBM Plex Sans" pitchFamily="34" charset="-120"/>
                        </a:rPr>
                        <a:t>Sólida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Captura en vivo justificada, hash verificado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EV-02 Imagen RAID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6F5C"/>
                          </a:solidFill>
                          <a:latin typeface="IBM Plex Sans" pitchFamily="34" charset="0"/>
                          <a:ea typeface="IBM Plex Sans" pitchFamily="34" charset="-122"/>
                          <a:cs typeface="IBM Plex Sans" pitchFamily="34" charset="-120"/>
                        </a:rPr>
                        <a:t>Sólida</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Bloqueador y hashes coincidentes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2"/>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EV-04 SIEM, NetFlow, VPN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F6F5C"/>
                          </a:solidFill>
                          <a:latin typeface="IBM Plex Sans" pitchFamily="34" charset="0"/>
                          <a:ea typeface="IBM Plex Sans" pitchFamily="34" charset="-122"/>
                          <a:cs typeface="IBM Plex Sans" pitchFamily="34" charset="-120"/>
                        </a:rPr>
                        <a:t>Sólida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Fuente independiente del sistema atacado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EV-03 Imagen SSD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F6F5C"/>
                          </a:solidFill>
                          <a:latin typeface="IBM Plex Sans" pitchFamily="34" charset="0"/>
                          <a:ea typeface="IBM Plex Sans" pitchFamily="34" charset="-122"/>
                          <a:cs typeface="IBM Plex Sans" pitchFamily="34" charset="-120"/>
                        </a:rPr>
                        <a:t>Sólida, parcial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Espacio no asignado perdido por TRIM; límite declarado</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EV-05 Portátil</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9A6512"/>
                          </a:solidFill>
                          <a:latin typeface="IBM Plex Sans" pitchFamily="34" charset="0"/>
                          <a:ea typeface="IBM Plex Sans" pitchFamily="34" charset="-122"/>
                          <a:cs typeface="IBM Plex Sans" pitchFamily="34" charset="-120"/>
                        </a:rPr>
                        <a:t>Con reserva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Vacío de 6 h en custodia; sello intacto y hash coincidente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359410">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EV-06 USB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A33F1F"/>
                          </a:solidFill>
                          <a:latin typeface="IBM Plex Sans" pitchFamily="34" charset="0"/>
                          <a:ea typeface="IBM Plex Sans" pitchFamily="34" charset="-122"/>
                          <a:cs typeface="IBM Plex Sans" pitchFamily="34" charset="-120"/>
                        </a:rPr>
                        <a:t>Solo apoyo</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dirty="0">
                          <a:solidFill>
                            <a:srgbClr val="13233A"/>
                          </a:solidFill>
                          <a:latin typeface="IBM Plex Sans" pitchFamily="34" charset="0"/>
                          <a:ea typeface="IBM Plex Sans" pitchFamily="34" charset="-122"/>
                          <a:cs typeface="IBM Plex Sans" pitchFamily="34" charset="-120"/>
                        </a:rPr>
                        <a:t>Abierta sin bloqueador antes de la entrega</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6"/>
                  </a:ext>
                </a:extLst>
              </a:tr>
            </a:tbl>
          </a:graphicData>
        </a:graphic>
      </p:graphicFrame>
      <p:sp>
        <p:nvSpPr>
          <p:cNvPr id="4" name="Text 1"/>
          <p:cNvSpPr/>
          <p:nvPr/>
        </p:nvSpPr>
        <p:spPr>
          <a:xfrm>
            <a:off x="812800" y="4855208"/>
            <a:ext cx="10464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Ninguna conclusión principal depende de EV-06: la exfiltración y el cifrado se acreditan con cuatro fuentes independientes.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Alcance y limitaciones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221"/>
          <a:ext cx="10553700" cy="2814320"/>
        </p:xfrm>
        <a:graphic>
          <a:graphicData uri="http://schemas.openxmlformats.org/drawingml/2006/table">
            <a:tbl>
              <a:tblPr/>
              <a:tblGrid>
                <a:gridCol w="4854702">
                  <a:extLst>
                    <a:ext uri="{9D8B030D-6E8A-4147-A177-3AD203B41FA5}">
                      <a16:colId xmlns:a16="http://schemas.microsoft.com/office/drawing/2014/main" val="20000"/>
                    </a:ext>
                  </a:extLst>
                </a:gridCol>
                <a:gridCol w="5698998">
                  <a:extLst>
                    <a:ext uri="{9D8B030D-6E8A-4147-A177-3AD203B41FA5}">
                      <a16:colId xmlns:a16="http://schemas.microsoft.com/office/drawing/2014/main" val="20001"/>
                    </a:ext>
                  </a:extLst>
                </a:gridCol>
              </a:tblGrid>
              <a:tr h="386080">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Lo que los marcos no cubren bien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Cómo lo resuelve la Guía Lite</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63500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Nube y SaaS: el RFC asume acceso físico al equipo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ISO/IEC 27037, logs del proveedor y solicitud formal de preservación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63500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Móviles e IoT con cifrado por hardware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Aislamiento Faraday y herramientas especializadas, documentando el tipo de extracción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2"/>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SSD, TRIM y cifrado de disco completo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Captura en vivo cuando es posible y límite declarado en el dictamen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Algoritmo hash no definido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SHA-256 + SHA3-256 obligatorios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r h="38608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Jurisdicción: ACPO responde al derecho británico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Validación con CPP, Ley 527 y Ley 1273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33A"/>
                </a:solidFill>
                <a:latin typeface="Source Serif 4" pitchFamily="18" charset="0"/>
                <a:ea typeface="Source Serif 4" pitchFamily="18" charset="-122"/>
                <a:cs typeface="Source Serif 4" pitchFamily="18" charset="-120"/>
              </a:rPr>
              <a:t>Valor estratégico de adoptarlos en la empresa</a:t>
            </a:r>
            <a:endParaRPr lang="en-US" sz="3600" dirty="0"/>
          </a:p>
        </p:txBody>
      </p:sp>
      <p:sp>
        <p:nvSpPr>
          <p:cNvPr id="3" name="Shape 1"/>
          <p:cNvSpPr/>
          <p:nvPr/>
        </p:nvSpPr>
        <p:spPr>
          <a:xfrm>
            <a:off x="812800" y="1633221"/>
            <a:ext cx="5181600" cy="0"/>
          </a:xfrm>
          <a:prstGeom prst="line">
            <a:avLst/>
          </a:prstGeom>
          <a:noFill/>
          <a:ln w="25400">
            <a:solidFill>
              <a:srgbClr val="2E8B84"/>
            </a:solidFill>
            <a:prstDash val="solid"/>
          </a:ln>
        </p:spPr>
      </p:sp>
      <p:sp>
        <p:nvSpPr>
          <p:cNvPr id="4" name="Text 2"/>
          <p:cNvSpPr/>
          <p:nvPr/>
        </p:nvSpPr>
        <p:spPr>
          <a:xfrm>
            <a:off x="812800" y="1798321"/>
            <a:ext cx="53370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Pruebas que resisten el juicio</a:t>
            </a:r>
            <a:endParaRPr lang="en-US" sz="1800" dirty="0"/>
          </a:p>
        </p:txBody>
      </p:sp>
      <p:sp>
        <p:nvSpPr>
          <p:cNvPr id="5" name="Text 3"/>
          <p:cNvSpPr/>
          <p:nvPr/>
        </p:nvSpPr>
        <p:spPr>
          <a:xfrm>
            <a:off x="812800" y="2148842"/>
            <a:ext cx="53370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Evidencia admisible para denunciar, despedir con justa causa o reclamar a una aseguradora.</a:t>
            </a:r>
            <a:endParaRPr lang="en-US" sz="1400" dirty="0"/>
          </a:p>
        </p:txBody>
      </p:sp>
      <p:sp>
        <p:nvSpPr>
          <p:cNvPr id="6" name="Shape 4"/>
          <p:cNvSpPr/>
          <p:nvPr/>
        </p:nvSpPr>
        <p:spPr>
          <a:xfrm>
            <a:off x="6197600" y="1633221"/>
            <a:ext cx="5181600" cy="0"/>
          </a:xfrm>
          <a:prstGeom prst="line">
            <a:avLst/>
          </a:prstGeom>
          <a:noFill/>
          <a:ln w="25400">
            <a:solidFill>
              <a:srgbClr val="2E8B84"/>
            </a:solidFill>
            <a:prstDash val="solid"/>
          </a:ln>
        </p:spPr>
      </p:sp>
      <p:sp>
        <p:nvSpPr>
          <p:cNvPr id="7" name="Text 5"/>
          <p:cNvSpPr/>
          <p:nvPr/>
        </p:nvSpPr>
        <p:spPr>
          <a:xfrm>
            <a:off x="6197600" y="1798321"/>
            <a:ext cx="53370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Primera respuesta sin daños</a:t>
            </a:r>
            <a:endParaRPr lang="en-US" sz="1800" dirty="0"/>
          </a:p>
        </p:txBody>
      </p:sp>
      <p:sp>
        <p:nvSpPr>
          <p:cNvPr id="8" name="Text 6"/>
          <p:cNvSpPr/>
          <p:nvPr/>
        </p:nvSpPr>
        <p:spPr>
          <a:xfrm>
            <a:off x="6197600" y="2148842"/>
            <a:ext cx="53370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Un protocolo de una página para TI evita el error más caro: apagar o tocar lo que no se debe.</a:t>
            </a:r>
            <a:endParaRPr lang="en-US" sz="1400" dirty="0"/>
          </a:p>
        </p:txBody>
      </p:sp>
      <p:sp>
        <p:nvSpPr>
          <p:cNvPr id="9" name="Shape 7"/>
          <p:cNvSpPr/>
          <p:nvPr/>
        </p:nvSpPr>
        <p:spPr>
          <a:xfrm>
            <a:off x="812800" y="2862579"/>
            <a:ext cx="5181600" cy="0"/>
          </a:xfrm>
          <a:prstGeom prst="line">
            <a:avLst/>
          </a:prstGeom>
          <a:noFill/>
          <a:ln w="25400">
            <a:solidFill>
              <a:srgbClr val="2E8B84"/>
            </a:solidFill>
            <a:prstDash val="solid"/>
          </a:ln>
        </p:spPr>
      </p:sp>
      <p:sp>
        <p:nvSpPr>
          <p:cNvPr id="10" name="Text 8"/>
          <p:cNvSpPr/>
          <p:nvPr/>
        </p:nvSpPr>
        <p:spPr>
          <a:xfrm>
            <a:off x="812800" y="3027679"/>
            <a:ext cx="53370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Responsables claros</a:t>
            </a:r>
            <a:endParaRPr lang="en-US" sz="1800" dirty="0"/>
          </a:p>
        </p:txBody>
      </p:sp>
      <p:sp>
        <p:nvSpPr>
          <p:cNvPr id="11" name="Text 9"/>
          <p:cNvSpPr/>
          <p:nvPr/>
        </p:nvSpPr>
        <p:spPr>
          <a:xfrm>
            <a:off x="812800" y="3378200"/>
            <a:ext cx="53370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ACPO P4 asigna un líder; la junta sabe quién responde por el proceso.</a:t>
            </a:r>
            <a:endParaRPr lang="en-US" sz="1400" dirty="0"/>
          </a:p>
        </p:txBody>
      </p:sp>
      <p:sp>
        <p:nvSpPr>
          <p:cNvPr id="12" name="Shape 10"/>
          <p:cNvSpPr/>
          <p:nvPr/>
        </p:nvSpPr>
        <p:spPr>
          <a:xfrm>
            <a:off x="6197600" y="2862579"/>
            <a:ext cx="5181600" cy="0"/>
          </a:xfrm>
          <a:prstGeom prst="line">
            <a:avLst/>
          </a:prstGeom>
          <a:noFill/>
          <a:ln w="25400">
            <a:solidFill>
              <a:srgbClr val="2E8B84"/>
            </a:solidFill>
            <a:prstDash val="solid"/>
          </a:ln>
        </p:spPr>
      </p:sp>
      <p:sp>
        <p:nvSpPr>
          <p:cNvPr id="13" name="Text 11"/>
          <p:cNvSpPr/>
          <p:nvPr/>
        </p:nvSpPr>
        <p:spPr>
          <a:xfrm>
            <a:off x="6197600" y="3027679"/>
            <a:ext cx="53370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Bajo costo, alto retorno</a:t>
            </a:r>
            <a:endParaRPr lang="en-US" sz="1800" dirty="0"/>
          </a:p>
        </p:txBody>
      </p:sp>
      <p:sp>
        <p:nvSpPr>
          <p:cNvPr id="14" name="Text 12"/>
          <p:cNvSpPr/>
          <p:nvPr/>
        </p:nvSpPr>
        <p:spPr>
          <a:xfrm>
            <a:off x="6197600" y="3378200"/>
            <a:ext cx="53370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Kit preparado, retención de logs y formación de dos funcionarios cuestan menos que perder una prueba.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E8B84"/>
          </a:solidFill>
          <a:ln/>
        </p:spPr>
      </p:sp>
      <p:sp>
        <p:nvSpPr>
          <p:cNvPr id="3" name="Text 1"/>
          <p:cNvSpPr>
            <a:spLocks noGrp="1"/>
          </p:cNvSpPr>
          <p:nvPr>
            <p:ph type="title"/>
          </p:nvPr>
        </p:nvSpPr>
        <p:spPr>
          <a:xfrm>
            <a:off x="812800" y="2042158"/>
            <a:ext cx="9810750"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4EF"/>
                </a:solidFill>
                <a:latin typeface="Source Serif 4" pitchFamily="18" charset="0"/>
                <a:ea typeface="Source Serif 4" pitchFamily="18" charset="-122"/>
                <a:cs typeface="Source Serif 4" pitchFamily="18" charset="-120"/>
              </a:rPr>
              <a:t>Una evidencia vale lo que vale su método.</a:t>
            </a:r>
            <a:endParaRPr lang="en-US" sz="4800" dirty="0"/>
          </a:p>
        </p:txBody>
      </p:sp>
      <p:sp>
        <p:nvSpPr>
          <p:cNvPr id="4" name="Text 2"/>
          <p:cNvSpPr/>
          <p:nvPr/>
        </p:nvSpPr>
        <p:spPr>
          <a:xfrm>
            <a:off x="812800" y="3637285"/>
            <a:ext cx="91567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3DE"/>
                </a:solidFill>
                <a:latin typeface="IBM Plex Sans" pitchFamily="34" charset="0"/>
                <a:ea typeface="IBM Plex Sans" pitchFamily="34" charset="-122"/>
                <a:cs typeface="IBM Plex Sans" pitchFamily="34" charset="-120"/>
              </a:rPr>
              <a:t>RFC 3227 dice qué recoger y en qué orden. ACPO dice quién lo hace y cómo responde. Juntos convierten un dato en prueba.</a:t>
            </a:r>
            <a:endParaRPr lang="en-US" sz="1800" dirty="0"/>
          </a:p>
        </p:txBody>
      </p:sp>
      <p:sp>
        <p:nvSpPr>
          <p:cNvPr id="5" name="Text 3"/>
          <p:cNvSpPr/>
          <p:nvPr/>
        </p:nvSpPr>
        <p:spPr>
          <a:xfrm>
            <a:off x="812800" y="4531358"/>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7FC4BD"/>
                </a:solidFill>
                <a:latin typeface="IBM Plex Sans" pitchFamily="34" charset="0"/>
                <a:ea typeface="IBM Plex Sans" pitchFamily="34" charset="-122"/>
                <a:cs typeface="IBM Plex Sans" pitchFamily="34" charset="-120"/>
              </a:rPr>
              <a:t>Preguntas del jurado</a:t>
            </a:r>
            <a:endParaRPr lang="en-US" sz="1600" dirty="0"/>
          </a:p>
        </p:txBody>
      </p:sp>
    </p:spTree>
  </p:cSld>
  <p:clrMapOvr>
    <a:masterClrMapping/>
  </p:clrMapOvr>
</p:sld>
</file>

<file path=ppt/theme/theme1.xml><?xml version="1.0" encoding="utf-8"?>
<a:theme xmlns:a="http://schemas.openxmlformats.org/drawingml/2006/main" name="RFC 3227 y Guía ACPO – Sustentación Grupo 2">
  <a:themeElements>
    <a:clrScheme name="RFC 3227 y Guía ACPO – Sustentación Grupo 2">
      <a:dk1>
        <a:srgbClr val="13233A"/>
      </a:dk1>
      <a:lt1>
        <a:srgbClr val="F6F4EF"/>
      </a:lt1>
      <a:dk2>
        <a:srgbClr val="4C5767"/>
      </a:dk2>
      <a:lt2>
        <a:srgbClr val="DFDFDD"/>
      </a:lt2>
      <a:accent1>
        <a:srgbClr val="2E8B84"/>
      </a:accent1>
      <a:accent2>
        <a:srgbClr val="B5532E"/>
      </a:accent2>
      <a:accent3>
        <a:srgbClr val="7FC4BD"/>
      </a:accent3>
      <a:accent4>
        <a:srgbClr val="2A7B76"/>
      </a:accent4>
      <a:accent5>
        <a:srgbClr val="276B69"/>
      </a:accent5>
      <a:accent6>
        <a:srgbClr val="255B5C"/>
      </a:accent6>
      <a:hlink>
        <a:srgbClr val="0563C1"/>
      </a:hlink>
      <a:folHlink>
        <a:srgbClr val="954F72"/>
      </a:folHlink>
    </a:clrScheme>
    <a:fontScheme name="RFC 3227 y Guía ACPO – Sustentación Grupo 2">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6556</Words>
  <Application>Microsoft Office PowerPoint</Application>
  <PresentationFormat>Panorámica</PresentationFormat>
  <Paragraphs>266</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Courier New</vt:lpstr>
      <vt:lpstr>IBM Plex Sans</vt:lpstr>
      <vt:lpstr>Source Serif 4</vt:lpstr>
      <vt:lpstr>RFC 3227 y Guía ACPO – Sustentación Grupo 2</vt:lpstr>
      <vt:lpstr>RFC 3227 y Guía ACPO</vt:lpstr>
      <vt:lpstr>Ruta de la sustentación</vt:lpstr>
      <vt:lpstr>Dos marcos, dos preguntas distintas</vt:lpstr>
      <vt:lpstr>Aplicabilidad en Colombia</vt:lpstr>
      <vt:lpstr>Los cuatro principios ACPO</vt:lpstr>
      <vt:lpstr>RFC 3227: qué hacer y qué evitar</vt:lpstr>
      <vt:lpstr>Orden de volatilidad: lo que se pierde primero, se recoge primero</vt:lpstr>
      <vt:lpstr>Ciclo de la evidencia bajo ambos marcos</vt:lpstr>
      <vt:lpstr>Defensa de la prueba: integridad demostrable</vt:lpstr>
      <vt:lpstr>Repetibilidad: otro perito, el mismo resultado</vt:lpstr>
      <vt:lpstr>Una cuenta de servicio olvidada, 4,7 GB exfiltrados y un cifrador que vivía solo en memoria</vt:lpstr>
      <vt:lpstr>Tres dilemas, tres decisiones justificadas</vt:lpstr>
      <vt:lpstr>Dictamen: cuatro pruebas sólidas, una con reserva, una de apoyo</vt:lpstr>
      <vt:lpstr>Alcance y limitaciones</vt:lpstr>
      <vt:lpstr>Valor estratégico de adoptarlos en la empresa</vt:lpstr>
      <vt:lpstr>Una evidencia vale lo que vale su método.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RFC 3227 y Guía ACPO – Sustentación Grupo 2</dc:title>
  <dc:subject/>
  <dc:creator/>
  <cp:lastModifiedBy>TE. Laura Angelica Gutierrez Torres</cp:lastModifiedBy>
  <cp:revision>2</cp:revision>
  <dcterms:created xsi:type="dcterms:W3CDTF">2026-10-26T21:19:22Z</dcterms:created>
  <dcterms:modified xsi:type="dcterms:W3CDTF">2026-10-26T21:35:44Z</dcterms:modified>
</cp:coreProperties>
</file>